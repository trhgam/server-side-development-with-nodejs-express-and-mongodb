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7" r:id="rId7"/>
    <p:sldId id="278" r:id="rId8"/>
    <p:sldId id="261" r:id="rId9"/>
    <p:sldId id="262" r:id="rId10"/>
    <p:sldId id="263" r:id="rId11"/>
    <p:sldId id="266" r:id="rId12"/>
    <p:sldId id="279" r:id="rId13"/>
    <p:sldId id="264" r:id="rId14"/>
    <p:sldId id="265" r:id="rId15"/>
    <p:sldId id="275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g5gNxO4+MrIMjPTZnEXchEOzGl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14A3C8-6BF6-4122-9E1E-04A97338F4A1}">
  <a:tblStyle styleId="{5114A3C8-6BF6-4122-9E1E-04A97338F4A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B679147-E3D7-4689-87FF-D608DEDCD21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3"/>
  </p:normalViewPr>
  <p:slideViewPr>
    <p:cSldViewPr snapToGrid="0">
      <p:cViewPr varScale="1">
        <p:scale>
          <a:sx n="107" d="100"/>
          <a:sy n="107" d="100"/>
        </p:scale>
        <p:origin x="9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990DA424-08D0-6FFC-01C6-3881AC0FA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8:notes">
            <a:extLst>
              <a:ext uri="{FF2B5EF4-FFF2-40B4-BE49-F238E27FC236}">
                <a16:creationId xmlns:a16="http://schemas.microsoft.com/office/drawing/2014/main" id="{F8BC53AD-D457-359E-FDD1-1F098B73A8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8:notes">
            <a:extLst>
              <a:ext uri="{FF2B5EF4-FFF2-40B4-BE49-F238E27FC236}">
                <a16:creationId xmlns:a16="http://schemas.microsoft.com/office/drawing/2014/main" id="{AE07E1D9-D25E-9718-F16B-239DBD4396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2748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ACCD275-A781-C392-3017-0AE8A4D1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9:notes">
            <a:extLst>
              <a:ext uri="{FF2B5EF4-FFF2-40B4-BE49-F238E27FC236}">
                <a16:creationId xmlns:a16="http://schemas.microsoft.com/office/drawing/2014/main" id="{CEAF5A8F-9AF8-39F6-800E-7A21D6292E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9:notes">
            <a:extLst>
              <a:ext uri="{FF2B5EF4-FFF2-40B4-BE49-F238E27FC236}">
                <a16:creationId xmlns:a16="http://schemas.microsoft.com/office/drawing/2014/main" id="{1806338E-903E-7EC8-0637-7812CB80B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6810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34F4BCC6-6AC1-5B4F-C94B-9B7B6B2F8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4:notes">
            <a:extLst>
              <a:ext uri="{FF2B5EF4-FFF2-40B4-BE49-F238E27FC236}">
                <a16:creationId xmlns:a16="http://schemas.microsoft.com/office/drawing/2014/main" id="{194C109F-9EBC-07B2-42B5-16E567E3F8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4:notes">
            <a:extLst>
              <a:ext uri="{FF2B5EF4-FFF2-40B4-BE49-F238E27FC236}">
                <a16:creationId xmlns:a16="http://schemas.microsoft.com/office/drawing/2014/main" id="{EC4970AD-6248-3A82-B1D6-829E03355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24061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5" name="Google Shape;235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5"/>
          <p:cNvSpPr txBox="1">
            <a:spLocks noGrp="1"/>
          </p:cNvSpPr>
          <p:nvPr>
            <p:ph type="ctrTitle"/>
          </p:nvPr>
        </p:nvSpPr>
        <p:spPr>
          <a:xfrm>
            <a:off x="1524000" y="1988598"/>
            <a:ext cx="9144000" cy="15213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227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5"/>
          <p:cNvSpPr txBox="1"/>
          <p:nvPr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3292" y="23662"/>
            <a:ext cx="932284" cy="512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6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6"/>
          <p:cNvSpPr txBox="1"/>
          <p:nvPr/>
        </p:nvSpPr>
        <p:spPr>
          <a:xfrm>
            <a:off x="0" y="6461294"/>
            <a:ext cx="12192000" cy="36929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76"/>
          <p:cNvSpPr txBox="1">
            <a:spLocks noGrp="1"/>
          </p:cNvSpPr>
          <p:nvPr>
            <p:ph type="body" idx="1"/>
          </p:nvPr>
        </p:nvSpPr>
        <p:spPr>
          <a:xfrm>
            <a:off x="838200" y="153581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0020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6"/>
          <p:cNvSpPr txBox="1">
            <a:spLocks noGrp="1"/>
          </p:cNvSpPr>
          <p:nvPr>
            <p:ph type="dt" idx="10"/>
          </p:nvPr>
        </p:nvSpPr>
        <p:spPr>
          <a:xfrm>
            <a:off x="838200" y="648069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6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76"/>
          <p:cNvSpPr txBox="1"/>
          <p:nvPr/>
        </p:nvSpPr>
        <p:spPr>
          <a:xfrm>
            <a:off x="670250" y="620209"/>
            <a:ext cx="167950" cy="57543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7619"/>
            <a:ext cx="932284" cy="512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76" descr="Node.jsで開発環境を切り替え - Libra Studio Lo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0840" y="27415"/>
            <a:ext cx="492960" cy="49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600" b="1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7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8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7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1161393" y="2241458"/>
            <a:ext cx="9869214" cy="1774360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Embedded Javascript (EJS)</a:t>
            </a:r>
            <a:endParaRPr sz="4400" b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 descr="MongoDB with Node.js, CRUD Operation - DEV Community"/>
          <p:cNvPicPr preferRelativeResize="0"/>
          <p:nvPr/>
        </p:nvPicPr>
        <p:blipFill rotWithShape="1">
          <a:blip r:embed="rId3">
            <a:alphaModFix/>
          </a:blip>
          <a:srcRect t="32619" b="25606"/>
          <a:stretch/>
        </p:blipFill>
        <p:spPr>
          <a:xfrm>
            <a:off x="1161393" y="570270"/>
            <a:ext cx="9869214" cy="167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714703" y="1424123"/>
            <a:ext cx="11066792" cy="4933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/>
              <a:t>Introduction to EJS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/>
              <a:t>Understand What Ejs Does And How To Use It With Node And Express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/>
              <a:t>Templating With EJS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/>
              <a:t>Compare between EJS and JSX</a:t>
            </a:r>
            <a:endParaRPr/>
          </a:p>
        </p:txBody>
      </p:sp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838200" y="611076"/>
            <a:ext cx="10379025" cy="7480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/>
              <a:t>Objectives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6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What is EJS</a:t>
            </a:r>
            <a:endParaRPr dirty="0"/>
          </a:p>
        </p:txBody>
      </p:sp>
      <p:sp>
        <p:nvSpPr>
          <p:cNvPr id="106" name="Google Shape;106;p86"/>
          <p:cNvSpPr txBox="1"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GB" b="1" dirty="0">
                <a:solidFill>
                  <a:schemeClr val="tx1"/>
                </a:solidFill>
              </a:rPr>
              <a:t>EJS (Embedded JavaScript)</a:t>
            </a:r>
            <a:r>
              <a:rPr lang="en-GB" dirty="0">
                <a:solidFill>
                  <a:schemeClr val="tx1"/>
                </a:solidFill>
              </a:rPr>
              <a:t> is a template engine that lets you write HTML with JavaScript to display dynamic data.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GB" dirty="0">
                <a:solidFill>
                  <a:schemeClr val="tx1"/>
                </a:solidFill>
              </a:rPr>
              <a:t>In Express, the server combines an EJS template with data to generate HTML, then sends that HTML to the browser.</a:t>
            </a:r>
          </a:p>
        </p:txBody>
      </p:sp>
      <p:sp>
        <p:nvSpPr>
          <p:cNvPr id="107" name="Google Shape;107;p86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7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Features of EJS</a:t>
            </a:r>
            <a:endParaRPr/>
          </a:p>
        </p:txBody>
      </p:sp>
      <p:sp>
        <p:nvSpPr>
          <p:cNvPr id="113" name="Google Shape;113;p87"/>
          <p:cNvSpPr txBox="1"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>
                <a:solidFill>
                  <a:schemeClr val="tx1"/>
                </a:solidFill>
              </a:rPr>
              <a:t>Use plain JS</a:t>
            </a: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>
                <a:solidFill>
                  <a:schemeClr val="tx1"/>
                </a:solidFill>
              </a:rPr>
              <a:t>Fast Speed execution</a:t>
            </a: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>
                <a:solidFill>
                  <a:schemeClr val="tx1"/>
                </a:solidFill>
              </a:rPr>
              <a:t>Fast development time</a:t>
            </a: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>
                <a:solidFill>
                  <a:schemeClr val="tx1"/>
                </a:solidFill>
              </a:rPr>
              <a:t>Easy debugging</a:t>
            </a: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>
                <a:solidFill>
                  <a:schemeClr val="tx1"/>
                </a:solidFill>
              </a:rPr>
              <a:t>Simple syntax</a:t>
            </a: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>
                <a:solidFill>
                  <a:schemeClr val="tx1"/>
                </a:solidFill>
              </a:rPr>
              <a:t>Active development</a:t>
            </a:r>
            <a:endParaRPr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114" name="Google Shape;114;p87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8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Templating with EJS</a:t>
            </a:r>
            <a:endParaRPr/>
          </a:p>
        </p:txBody>
      </p:sp>
      <p:sp>
        <p:nvSpPr>
          <p:cNvPr id="120" name="Google Shape;120;p88"/>
          <p:cNvSpPr txBox="1">
            <a:spLocks noGrp="1"/>
          </p:cNvSpPr>
          <p:nvPr>
            <p:ph type="body" idx="1"/>
          </p:nvPr>
        </p:nvSpPr>
        <p:spPr>
          <a:xfrm>
            <a:off x="838200" y="1253331"/>
            <a:ext cx="1059106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</a:rPr>
              <a:t>A </a:t>
            </a:r>
            <a:r>
              <a:rPr lang="en-GB" b="1" dirty="0">
                <a:solidFill>
                  <a:schemeClr val="tx1"/>
                </a:solidFill>
              </a:rPr>
              <a:t>template engine</a:t>
            </a:r>
            <a:r>
              <a:rPr lang="en-GB" dirty="0">
                <a:solidFill>
                  <a:schemeClr val="tx1"/>
                </a:solidFill>
              </a:rPr>
              <a:t> combines data with an HTML template </a:t>
            </a:r>
            <a:r>
              <a:rPr lang="en-GB" b="1" dirty="0">
                <a:solidFill>
                  <a:schemeClr val="tx1"/>
                </a:solidFill>
              </a:rPr>
              <a:t>on the server side</a:t>
            </a:r>
            <a:r>
              <a:rPr lang="en-GB" dirty="0">
                <a:solidFill>
                  <a:schemeClr val="tx1"/>
                </a:solidFill>
              </a:rPr>
              <a:t> to generate HTML, which is then sent to the client’s browser.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</a:rPr>
              <a:t>The diagram illustrates the </a:t>
            </a:r>
            <a:r>
              <a:rPr lang="en-GB" b="1" dirty="0">
                <a:solidFill>
                  <a:schemeClr val="tx1"/>
                </a:solidFill>
              </a:rPr>
              <a:t>template rendering process</a:t>
            </a:r>
            <a:r>
              <a:rPr lang="en-GB" dirty="0">
                <a:solidFill>
                  <a:schemeClr val="tx1"/>
                </a:solidFill>
              </a:rPr>
              <a:t>: </a:t>
            </a:r>
            <a:r>
              <a:rPr lang="en-GB" b="1" dirty="0">
                <a:solidFill>
                  <a:schemeClr val="tx1"/>
                </a:solidFill>
              </a:rPr>
              <a:t>Template + Data → Generated HTML → Browser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21" name="Google Shape;121;p88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E4EB3D73-ECC9-5587-4D64-4BD3A9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8">
            <a:extLst>
              <a:ext uri="{FF2B5EF4-FFF2-40B4-BE49-F238E27FC236}">
                <a16:creationId xmlns:a16="http://schemas.microsoft.com/office/drawing/2014/main" id="{1945E95A-CA3B-1C6B-77F0-C70BA86A98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6" name="Picture 5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7DDD134B-42BF-B593-7C72-4F35FA995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938" y="154378"/>
            <a:ext cx="8026979" cy="621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2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86C456A5-6626-F09D-99F1-C9434622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9">
            <a:extLst>
              <a:ext uri="{FF2B5EF4-FFF2-40B4-BE49-F238E27FC236}">
                <a16:creationId xmlns:a16="http://schemas.microsoft.com/office/drawing/2014/main" id="{1B9EB858-E0F7-7065-F62C-CBD28AB506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Using EJS</a:t>
            </a:r>
            <a:endParaRPr dirty="0"/>
          </a:p>
        </p:txBody>
      </p:sp>
      <p:sp>
        <p:nvSpPr>
          <p:cNvPr id="128" name="Google Shape;128;p89">
            <a:extLst>
              <a:ext uri="{FF2B5EF4-FFF2-40B4-BE49-F238E27FC236}">
                <a16:creationId xmlns:a16="http://schemas.microsoft.com/office/drawing/2014/main" id="{4D19AB5E-64C5-B835-5969-AF4BC1565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19494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>
                <a:solidFill>
                  <a:schemeClr val="tx1"/>
                </a:solidFill>
              </a:rPr>
              <a:t>Install EJS with NPM: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US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 install </a:t>
            </a:r>
            <a:r>
              <a:rPr lang="en-US" dirty="0" err="1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ejs</a:t>
            </a: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>
                <a:solidFill>
                  <a:schemeClr val="tx1"/>
                </a:solidFill>
              </a:rPr>
              <a:t>Configure Express to Use EJS</a:t>
            </a:r>
          </a:p>
          <a:p>
            <a:pPr marL="914400" lvl="1" indent="-3429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chemeClr val="tx1"/>
                </a:solidFill>
              </a:rPr>
              <a:t>Set up EJS as template engine</a:t>
            </a:r>
          </a:p>
          <a:p>
            <a:pPr marL="914400" lvl="1" indent="-3429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chemeClr val="tx1"/>
                </a:solidFill>
              </a:rPr>
              <a:t>Set up the directory containing EJS files</a:t>
            </a:r>
          </a:p>
        </p:txBody>
      </p:sp>
      <p:sp>
        <p:nvSpPr>
          <p:cNvPr id="129" name="Google Shape;129;p89">
            <a:extLst>
              <a:ext uri="{FF2B5EF4-FFF2-40B4-BE49-F238E27FC236}">
                <a16:creationId xmlns:a16="http://schemas.microsoft.com/office/drawing/2014/main" id="{28C022BD-D1BC-024F-5829-37F33D125B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" name="Google Shape;130;p89">
            <a:extLst>
              <a:ext uri="{FF2B5EF4-FFF2-40B4-BE49-F238E27FC236}">
                <a16:creationId xmlns:a16="http://schemas.microsoft.com/office/drawing/2014/main" id="{4FE956CA-B798-05D3-E924-42154C4BAA68}"/>
              </a:ext>
            </a:extLst>
          </p:cNvPr>
          <p:cNvSpPr txBox="1"/>
          <p:nvPr/>
        </p:nvSpPr>
        <p:spPr>
          <a:xfrm>
            <a:off x="6443601" y="3555751"/>
            <a:ext cx="5257799" cy="33855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600" b="0" i="0" u="none" strike="noStrike" cap="none" dirty="0" err="1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6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'view engine'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6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600" b="0" i="0" u="none" strike="noStrike" cap="none" dirty="0" err="1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ejs</a:t>
            </a:r>
            <a:r>
              <a:rPr lang="en-US" sz="16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dirty="0"/>
          </a:p>
        </p:txBody>
      </p:sp>
      <p:sp>
        <p:nvSpPr>
          <p:cNvPr id="3" name="Google Shape;131;p89">
            <a:extLst>
              <a:ext uri="{FF2B5EF4-FFF2-40B4-BE49-F238E27FC236}">
                <a16:creationId xmlns:a16="http://schemas.microsoft.com/office/drawing/2014/main" id="{164BFA88-B37A-293D-8FD6-6E52B7FF7FB6}"/>
              </a:ext>
            </a:extLst>
          </p:cNvPr>
          <p:cNvSpPr txBox="1"/>
          <p:nvPr/>
        </p:nvSpPr>
        <p:spPr>
          <a:xfrm>
            <a:off x="6443602" y="4643585"/>
            <a:ext cx="5257799" cy="33855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600" b="0" i="0" u="none" strike="noStrike" cap="none" dirty="0" err="1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6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'views'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6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'./templates'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316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9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Using EJS</a:t>
            </a:r>
            <a:endParaRPr dirty="0"/>
          </a:p>
        </p:txBody>
      </p:sp>
      <p:sp>
        <p:nvSpPr>
          <p:cNvPr id="128" name="Google Shape;128;p89"/>
          <p:cNvSpPr txBox="1">
            <a:spLocks noGrp="1"/>
          </p:cNvSpPr>
          <p:nvPr>
            <p:ph type="body" idx="1"/>
          </p:nvPr>
        </p:nvSpPr>
        <p:spPr>
          <a:xfrm>
            <a:off x="838200" y="119494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solidFill>
                  <a:schemeClr val="tx1"/>
                </a:solidFill>
              </a:rPr>
              <a:t>Create an EJS template file in the directory</a:t>
            </a:r>
          </a:p>
          <a:p>
            <a:pPr marL="914400" lvl="1" indent="-3429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dirty="0">
                <a:solidFill>
                  <a:schemeClr val="tx1"/>
                </a:solidFill>
              </a:rPr>
              <a:t>Create a file named </a:t>
            </a:r>
            <a:r>
              <a:rPr lang="en-US" dirty="0" err="1">
                <a:solidFill>
                  <a:schemeClr val="tx1"/>
                </a:solidFill>
              </a:rPr>
              <a:t>index.ejs</a:t>
            </a:r>
            <a:r>
              <a:rPr lang="en-US" dirty="0">
                <a:solidFill>
                  <a:schemeClr val="tx1"/>
                </a:solidFill>
              </a:rPr>
              <a:t> with the following content:</a:t>
            </a:r>
          </a:p>
          <a:p>
            <a:pPr marL="4572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129" name="Google Shape;129;p89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32" name="Google Shape;132;p89"/>
          <p:cNvSpPr txBox="1"/>
          <p:nvPr/>
        </p:nvSpPr>
        <p:spPr>
          <a:xfrm>
            <a:off x="3467101" y="2985399"/>
            <a:ext cx="5257798" cy="267765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&lt;!</a:t>
            </a:r>
            <a:r>
              <a:rPr lang="en-US" sz="14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DOCTYPE</a:t>
            </a: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 dirty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 b="0" i="0" u="none" strike="noStrike" cap="none" dirty="0" err="1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-US" sz="14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 dirty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 dirty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charset</a:t>
            </a: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400" b="0" i="0" u="none" strike="noStrike" cap="none" dirty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"viewport"</a:t>
            </a: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"width=device-width, initial-scale=1.0"</a:t>
            </a: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400" b="0" i="0" u="none" strike="noStrike" cap="none" dirty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Home Page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 dirty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 dirty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 dirty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Hello, </a:t>
            </a:r>
            <a:r>
              <a:rPr lang="en-US" sz="1400" b="0" i="0" u="none" strike="noStrike" cap="none" dirty="0">
                <a:solidFill>
                  <a:srgbClr val="F4474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%= name %&gt;!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 dirty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 dirty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4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400" b="0" i="0" u="none" strike="noStrike" cap="none" dirty="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 b="0" i="0" u="none" strike="noStrike" cap="none" dirty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0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Using EJS – 2</a:t>
            </a:r>
            <a:endParaRPr/>
          </a:p>
        </p:txBody>
      </p:sp>
      <p:sp>
        <p:nvSpPr>
          <p:cNvPr id="138" name="Google Shape;138;p90"/>
          <p:cNvSpPr txBox="1"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solidFill>
                  <a:schemeClr val="tx1"/>
                </a:solidFill>
              </a:rPr>
              <a:t>Using Template in Route Handler</a:t>
            </a:r>
            <a:endParaRPr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>
              <a:solidFill>
                <a:schemeClr val="tx1"/>
              </a:solidFill>
            </a:endParaRPr>
          </a:p>
          <a:p>
            <a:pPr marL="1143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solidFill>
                  <a:schemeClr val="tx1"/>
                </a:solidFill>
              </a:rPr>
              <a:t>When accessing the path /, the browser displays "Hello, World!".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9" name="Google Shape;139;p90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40" name="Google Shape;140;p90"/>
          <p:cNvSpPr txBox="1"/>
          <p:nvPr/>
        </p:nvSpPr>
        <p:spPr>
          <a:xfrm>
            <a:off x="1006000" y="2093743"/>
            <a:ext cx="6096000" cy="83099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600" b="0" i="0" u="none" strike="noStrike" cap="none" dirty="0" err="1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6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'/'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lang="en-US" sz="16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req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6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16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</a:t>
            </a:r>
            <a:r>
              <a:rPr lang="en-US" sz="16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</a:t>
            </a:r>
            <a:r>
              <a:rPr lang="en-US" sz="1600" b="0" i="0" u="none" strike="noStrike" cap="none" dirty="0" err="1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6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6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'index'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{ </a:t>
            </a:r>
            <a:r>
              <a:rPr lang="en-US" sz="16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name: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'World'</a:t>
            </a: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});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dirty="0"/>
          </a:p>
        </p:txBody>
      </p:sp>
      <p:pic>
        <p:nvPicPr>
          <p:cNvPr id="141" name="Google Shape;141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6000" y="3765152"/>
            <a:ext cx="3096057" cy="1200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1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Using EJS – 3</a:t>
            </a:r>
            <a:endParaRPr/>
          </a:p>
        </p:txBody>
      </p:sp>
      <p:sp>
        <p:nvSpPr>
          <p:cNvPr id="147" name="Google Shape;147;p91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48" name="Google Shape;148;p91"/>
          <p:cNvSpPr txBox="1"/>
          <p:nvPr/>
        </p:nvSpPr>
        <p:spPr>
          <a:xfrm>
            <a:off x="838200" y="1550428"/>
            <a:ext cx="6096000" cy="375487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app.js</a:t>
            </a:r>
            <a:endParaRPr sz="1400" b="0" i="0" u="none" strike="noStrike" cap="none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express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'express'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express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 cap="non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Set up EJS as template engine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'view engine'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'ejs'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 cap="non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Set up the directory containing EJS files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'views'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'./templates'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'/'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req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res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render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'index'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{ 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name: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'World'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});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Start the server</a:t>
            </a:r>
            <a:endParaRPr sz="1400" b="0" i="0" u="none" strike="noStrike" cap="non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0" i="0" u="none" strike="noStrike" cap="non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3000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listen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 () 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</a:t>
            </a:r>
            <a:r>
              <a:rPr lang="en-US" sz="1400" b="0" i="0" u="none" strike="noStrike" cap="non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400" b="0" i="0" u="none" strike="noStrike" cap="non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`Server running on port 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en-US" sz="1400" b="0" i="0" u="none" strike="noStrike" cap="none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port</a:t>
            </a:r>
            <a:r>
              <a:rPr lang="en-US" sz="1400" b="0" i="0" u="none" strike="noStrike" cap="non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sz="1400" b="0" i="0" u="none" strike="noStrike" cap="non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</p:txBody>
      </p:sp>
      <p:pic>
        <p:nvPicPr>
          <p:cNvPr id="149" name="Google Shape;149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2031" y="1550428"/>
            <a:ext cx="3241995" cy="2259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4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Tags of EJS</a:t>
            </a:r>
            <a:endParaRPr dirty="0"/>
          </a:p>
        </p:txBody>
      </p:sp>
      <p:sp>
        <p:nvSpPr>
          <p:cNvPr id="169" name="Google Shape;169;p94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aphicFrame>
        <p:nvGraphicFramePr>
          <p:cNvPr id="170" name="Google Shape;170;p94"/>
          <p:cNvGraphicFramePr/>
          <p:nvPr>
            <p:extLst>
              <p:ext uri="{D42A27DB-BD31-4B8C-83A1-F6EECF244321}">
                <p14:modId xmlns:p14="http://schemas.microsoft.com/office/powerpoint/2010/main" val="2103476162"/>
              </p:ext>
            </p:extLst>
          </p:nvPr>
        </p:nvGraphicFramePr>
        <p:xfrm>
          <a:off x="838200" y="1195642"/>
          <a:ext cx="10746625" cy="4801175"/>
        </p:xfrm>
        <a:graphic>
          <a:graphicData uri="http://schemas.openxmlformats.org/drawingml/2006/table">
            <a:tbl>
              <a:tblPr firstRow="1" firstCol="1" bandRow="1">
                <a:noFill/>
                <a:tableStyleId>{5114A3C8-6BF6-4122-9E1E-04A97338F4A1}</a:tableStyleId>
              </a:tblPr>
              <a:tblGrid>
                <a:gridCol w="121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&lt;%</a:t>
                      </a:r>
                      <a:endParaRPr sz="28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u="none" strike="noStrike" cap="none" dirty="0"/>
                        <a:t>'</a:t>
                      </a:r>
                      <a:r>
                        <a:rPr lang="en-US" sz="2800" b="0" u="none" strike="noStrike" cap="none" dirty="0" err="1"/>
                        <a:t>Scriptlet</a:t>
                      </a:r>
                      <a:r>
                        <a:rPr lang="en-US" sz="2800" b="0" u="none" strike="noStrike" cap="none" dirty="0"/>
                        <a:t>' tag, for control-flow, no output</a:t>
                      </a:r>
                      <a:endParaRPr sz="28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&lt;%_</a:t>
                      </a:r>
                      <a:endParaRPr sz="28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‘Whitespace Slurping’ </a:t>
                      </a:r>
                      <a:r>
                        <a:rPr lang="en-US" sz="2800" u="none" strike="noStrike" cap="none" dirty="0" err="1"/>
                        <a:t>Scriptlet</a:t>
                      </a:r>
                      <a:r>
                        <a:rPr lang="en-US" sz="2800" u="none" strike="noStrike" cap="none" dirty="0"/>
                        <a:t> tag, strips all whitespace before it</a:t>
                      </a:r>
                      <a:endParaRPr sz="2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&lt;%=</a:t>
                      </a:r>
                      <a:endParaRPr sz="2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Outputs the value into the template (HTML escaped)</a:t>
                      </a:r>
                      <a:endParaRPr sz="2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&lt;%-</a:t>
                      </a:r>
                      <a:endParaRPr sz="2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Outputs the unescaped value into the template</a:t>
                      </a:r>
                      <a:endParaRPr sz="28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&lt;%#</a:t>
                      </a:r>
                      <a:endParaRPr sz="2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Comment tag, no execution, no output</a:t>
                      </a:r>
                      <a:endParaRPr sz="2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&lt;%%</a:t>
                      </a:r>
                      <a:endParaRPr sz="2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Outputs a literal '&lt;%'</a:t>
                      </a:r>
                      <a:endParaRPr sz="2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%&gt;</a:t>
                      </a:r>
                      <a:endParaRPr sz="2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Plain ending tag</a:t>
                      </a:r>
                      <a:endParaRPr sz="2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-%&gt;</a:t>
                      </a:r>
                      <a:endParaRPr sz="2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Trim-mode ('newline slurp') tag, trims following newline</a:t>
                      </a:r>
                      <a:endParaRPr sz="2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_%&gt;</a:t>
                      </a:r>
                      <a:endParaRPr sz="2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‘Whitespace Slurping’ ending tag, removes all whitespace after it</a:t>
                      </a:r>
                      <a:endParaRPr sz="2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036DD5A-C371-D2CB-6146-2B14572E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4">
            <a:extLst>
              <a:ext uri="{FF2B5EF4-FFF2-40B4-BE49-F238E27FC236}">
                <a16:creationId xmlns:a16="http://schemas.microsoft.com/office/drawing/2014/main" id="{C081F339-C9F9-29F5-2AA6-F84FA78E04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Important tags</a:t>
            </a:r>
            <a:endParaRPr dirty="0"/>
          </a:p>
        </p:txBody>
      </p:sp>
      <p:sp>
        <p:nvSpPr>
          <p:cNvPr id="169" name="Google Shape;169;p94">
            <a:extLst>
              <a:ext uri="{FF2B5EF4-FFF2-40B4-BE49-F238E27FC236}">
                <a16:creationId xmlns:a16="http://schemas.microsoft.com/office/drawing/2014/main" id="{CFEDD84B-7B1D-E3E9-6E6B-474D4D9D9D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aphicFrame>
        <p:nvGraphicFramePr>
          <p:cNvPr id="170" name="Google Shape;170;p94">
            <a:extLst>
              <a:ext uri="{FF2B5EF4-FFF2-40B4-BE49-F238E27FC236}">
                <a16:creationId xmlns:a16="http://schemas.microsoft.com/office/drawing/2014/main" id="{2F6B72E5-BAC4-200C-5A6D-A547266D80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6782410"/>
              </p:ext>
            </p:extLst>
          </p:nvPr>
        </p:nvGraphicFramePr>
        <p:xfrm>
          <a:off x="838200" y="1397522"/>
          <a:ext cx="10746625" cy="2284476"/>
        </p:xfrm>
        <a:graphic>
          <a:graphicData uri="http://schemas.openxmlformats.org/drawingml/2006/table">
            <a:tbl>
              <a:tblPr firstRow="1" firstCol="1" bandRow="1">
                <a:noFill/>
                <a:tableStyleId>{5114A3C8-6BF6-4122-9E1E-04A97338F4A1}</a:tableStyleId>
              </a:tblPr>
              <a:tblGrid>
                <a:gridCol w="121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&lt;%</a:t>
                      </a:r>
                      <a:endParaRPr sz="28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u="none" strike="noStrike" cap="none" dirty="0"/>
                        <a:t>'</a:t>
                      </a:r>
                      <a:r>
                        <a:rPr lang="en-US" sz="2800" b="0" u="none" strike="noStrike" cap="none" dirty="0" err="1"/>
                        <a:t>Scriptlet</a:t>
                      </a:r>
                      <a:r>
                        <a:rPr lang="en-US" sz="2800" b="0" u="none" strike="noStrike" cap="none" dirty="0"/>
                        <a:t>' tag, for control-flow, no output</a:t>
                      </a:r>
                      <a:endParaRPr sz="2800" b="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&lt;%=</a:t>
                      </a:r>
                      <a:endParaRPr sz="2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Outputs the value into the template (HTML escaped)</a:t>
                      </a:r>
                      <a:endParaRPr sz="2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&lt;%-</a:t>
                      </a:r>
                      <a:endParaRPr sz="28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Outputs the unescaped value into the template</a:t>
                      </a:r>
                      <a:endParaRPr sz="28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&lt;%#</a:t>
                      </a:r>
                      <a:endParaRPr sz="2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/>
                        <a:t>Comment tag, no execution, no output</a:t>
                      </a:r>
                      <a:endParaRPr sz="2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30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2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Options of EJS</a:t>
            </a:r>
            <a:endParaRPr/>
          </a:p>
        </p:txBody>
      </p:sp>
      <p:sp>
        <p:nvSpPr>
          <p:cNvPr id="155" name="Google Shape;155;p92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aphicFrame>
        <p:nvGraphicFramePr>
          <p:cNvPr id="156" name="Google Shape;156;p92"/>
          <p:cNvGraphicFramePr/>
          <p:nvPr>
            <p:extLst>
              <p:ext uri="{D42A27DB-BD31-4B8C-83A1-F6EECF244321}">
                <p14:modId xmlns:p14="http://schemas.microsoft.com/office/powerpoint/2010/main" val="1208929072"/>
              </p:ext>
            </p:extLst>
          </p:nvPr>
        </p:nvGraphicFramePr>
        <p:xfrm>
          <a:off x="838200" y="1195642"/>
          <a:ext cx="10874825" cy="4890711"/>
        </p:xfrm>
        <a:graphic>
          <a:graphicData uri="http://schemas.openxmlformats.org/drawingml/2006/table">
            <a:tbl>
              <a:tblPr firstRow="1" firstCol="1" bandRow="1">
                <a:noFill/>
                <a:tableStyleId>{5114A3C8-6BF6-4122-9E1E-04A97338F4A1}</a:tableStyleId>
              </a:tblPr>
              <a:tblGrid>
                <a:gridCol w="276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cache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/>
                        <a:t>Compiled functions are cached, requires filename</a:t>
                      </a:r>
                      <a:endParaRPr sz="24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filename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Used by cache to key caches, and for includes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root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Set project root for includes with an absolute path (e.g, /file.ejs). Can be array to try to resolve include from multiple directories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views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An array of paths to use when resolving includes with relative paths.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context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Function execution context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compileDebug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When false no debug instrumentation is compiled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client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Returns standalone compiled function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delimiter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Character to use for inner delimiter, by default '%'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openDelimiter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Character to use for opening delimiter, by default '&lt;'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closeDelimiter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/>
                        <a:t>Character to use for closing delimiter, by default '&gt;'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3"/>
          <p:cNvSpPr txBox="1">
            <a:spLocks noGrp="1"/>
          </p:cNvSpPr>
          <p:nvPr>
            <p:ph type="title"/>
          </p:nvPr>
        </p:nvSpPr>
        <p:spPr>
          <a:xfrm>
            <a:off x="838200" y="620209"/>
            <a:ext cx="9219460" cy="5754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Options of EJS – cont’d</a:t>
            </a:r>
            <a:endParaRPr/>
          </a:p>
        </p:txBody>
      </p:sp>
      <p:sp>
        <p:nvSpPr>
          <p:cNvPr id="162" name="Google Shape;162;p93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aphicFrame>
        <p:nvGraphicFramePr>
          <p:cNvPr id="163" name="Google Shape;163;p93"/>
          <p:cNvGraphicFramePr/>
          <p:nvPr/>
        </p:nvGraphicFramePr>
        <p:xfrm>
          <a:off x="838200" y="1159130"/>
          <a:ext cx="11173700" cy="5237920"/>
        </p:xfrm>
        <a:graphic>
          <a:graphicData uri="http://schemas.openxmlformats.org/drawingml/2006/table">
            <a:tbl>
              <a:tblPr firstRow="1" firstCol="1" bandRow="1">
                <a:noFill/>
                <a:tableStyleId>{5114A3C8-6BF6-4122-9E1E-04A97338F4A1}</a:tableStyleId>
              </a:tblPr>
              <a:tblGrid>
                <a:gridCol w="199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5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debug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u="none" strike="noStrike" cap="none"/>
                        <a:t>Outputs generated function body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5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strict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When set to `true`, generated function is in strict mode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_with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Whether or not to use with() {} constructs. If false then the locals will be stored in the locals object. (Implies `--strict`)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localsName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Name to use for the object storing local variables when not using with Defaults to locals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805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rmWhitespace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Remove all safe-to-remove whitespace, including leading and trailing whitespace. It also enables a safer version of -%&gt; line slurping for all </a:t>
                      </a:r>
                      <a:r>
                        <a:rPr lang="en-US" sz="2000" u="none" strike="noStrike" cap="none" dirty="0" err="1"/>
                        <a:t>scriptlet</a:t>
                      </a:r>
                      <a:r>
                        <a:rPr lang="en-US" sz="2000" u="none" strike="noStrike" cap="none" dirty="0"/>
                        <a:t> tags (it does not strip new lines of tags in the middle of a line).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962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escape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The escaping function used with &lt;%= construct. It is used in rendering and is .</a:t>
                      </a:r>
                      <a:r>
                        <a:rPr lang="en-US" sz="2000" u="none" strike="noStrike" cap="none" dirty="0" err="1"/>
                        <a:t>toString</a:t>
                      </a:r>
                      <a:r>
                        <a:rPr lang="en-US" sz="2000" u="none" strike="noStrike" cap="none" dirty="0"/>
                        <a:t>()ed in the generation of client functions. (By default escapes XML).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8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outputFunctionName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Set to a string (e.g., 'echo' or 'print') for a function to print output inside </a:t>
                      </a:r>
                      <a:r>
                        <a:rPr lang="en-US" sz="2000" u="none" strike="noStrike" cap="none" dirty="0" err="1"/>
                        <a:t>scriptlet</a:t>
                      </a:r>
                      <a:r>
                        <a:rPr lang="en-US" sz="2000" u="none" strike="noStrike" cap="none" dirty="0"/>
                        <a:t> tags.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59475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async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When true, EJS will use an async function for rendering. (Depends on async/await support in the JS runtime.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7575" marR="6757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3"/>
          <p:cNvSpPr txBox="1">
            <a:spLocks noGrp="1"/>
          </p:cNvSpPr>
          <p:nvPr>
            <p:ph type="ctrTitle"/>
          </p:nvPr>
        </p:nvSpPr>
        <p:spPr>
          <a:xfrm>
            <a:off x="1161393" y="2241458"/>
            <a:ext cx="9869214" cy="1774360"/>
          </a:xfrm>
          <a:prstGeom prst="rect">
            <a:avLst/>
          </a:prstGeom>
          <a:gradFill>
            <a:gsLst>
              <a:gs pos="0">
                <a:srgbClr val="F6F9FC"/>
              </a:gs>
              <a:gs pos="74000">
                <a:srgbClr val="B3D1EC"/>
              </a:gs>
              <a:gs pos="83000">
                <a:srgbClr val="B3D1EC"/>
              </a:gs>
              <a:gs pos="100000">
                <a:srgbClr val="CCE0F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Exercise: How To Use EJS to Template Your Node Application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3"/>
          <p:cNvSpPr txBox="1">
            <a:spLocks noGrp="1"/>
          </p:cNvSpPr>
          <p:nvPr>
            <p:ph type="title"/>
          </p:nvPr>
        </p:nvSpPr>
        <p:spPr>
          <a:xfrm>
            <a:off x="1008993" y="679111"/>
            <a:ext cx="9850820" cy="59264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/>
              <a:t>Summary</a:t>
            </a:r>
            <a:endParaRPr/>
          </a:p>
        </p:txBody>
      </p:sp>
      <p:sp>
        <p:nvSpPr>
          <p:cNvPr id="238" name="Google Shape;238;p73"/>
          <p:cNvSpPr txBox="1">
            <a:spLocks noGrp="1"/>
          </p:cNvSpPr>
          <p:nvPr>
            <p:ph type="body" idx="1"/>
          </p:nvPr>
        </p:nvSpPr>
        <p:spPr>
          <a:xfrm>
            <a:off x="762739" y="1149006"/>
            <a:ext cx="11538305" cy="5331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500"/>
              <a:buFont typeface="Noto Sans Symbols"/>
              <a:buChar char="◆"/>
            </a:pPr>
            <a:r>
              <a:rPr lang="en-US" sz="3000"/>
              <a:t>Concepts were introduced: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/>
              <a:t>Introduction to EJS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/>
              <a:t>Understand What EJS Does And How To Use It With Node And Express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/>
              <a:t>Templating With EJS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400"/>
              <a:buFont typeface="Noto Sans Symbols"/>
              <a:buChar char="◆"/>
            </a:pPr>
            <a:r>
              <a:rPr lang="en-US"/>
              <a:t>Compare between EJS and JSX</a:t>
            </a:r>
            <a:endParaRPr/>
          </a:p>
          <a:p>
            <a:pPr marL="800100" lvl="1" indent="-2667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73735"/>
              </a:buClr>
              <a:buSzPts val="1200"/>
              <a:buFont typeface="Noto Sans Symbols"/>
              <a:buNone/>
            </a:pPr>
            <a:endParaRPr/>
          </a:p>
        </p:txBody>
      </p:sp>
      <p:sp>
        <p:nvSpPr>
          <p:cNvPr id="239" name="Google Shape;239;p73"/>
          <p:cNvSpPr txBox="1">
            <a:spLocks noGrp="1"/>
          </p:cNvSpPr>
          <p:nvPr>
            <p:ph type="sldNum" idx="12"/>
          </p:nvPr>
        </p:nvSpPr>
        <p:spPr>
          <a:xfrm>
            <a:off x="8686060" y="64807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939</Words>
  <Application>Microsoft Macintosh PowerPoint</Application>
  <PresentationFormat>Widescreen</PresentationFormat>
  <Paragraphs>153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Consolas</vt:lpstr>
      <vt:lpstr>Courier New</vt:lpstr>
      <vt:lpstr>Noto Sans Symbols</vt:lpstr>
      <vt:lpstr>Office Theme</vt:lpstr>
      <vt:lpstr>Embedded Javascript (EJS)</vt:lpstr>
      <vt:lpstr>Objectives </vt:lpstr>
      <vt:lpstr>What is EJS</vt:lpstr>
      <vt:lpstr>Features of EJS</vt:lpstr>
      <vt:lpstr>Templating with EJS</vt:lpstr>
      <vt:lpstr>PowerPoint Presentation</vt:lpstr>
      <vt:lpstr>Using EJS</vt:lpstr>
      <vt:lpstr>Using EJS</vt:lpstr>
      <vt:lpstr>Using EJS – 2</vt:lpstr>
      <vt:lpstr>Using EJS – 3</vt:lpstr>
      <vt:lpstr>Tags of EJS</vt:lpstr>
      <vt:lpstr>Important tags</vt:lpstr>
      <vt:lpstr>Options of EJS</vt:lpstr>
      <vt:lpstr>Options of EJS – cont’d</vt:lpstr>
      <vt:lpstr>Exercise: How To Use EJS to Template Your Node Application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Eric.fe</cp:lastModifiedBy>
  <cp:revision>2</cp:revision>
  <dcterms:created xsi:type="dcterms:W3CDTF">2021-01-25T08:25:31Z</dcterms:created>
  <dcterms:modified xsi:type="dcterms:W3CDTF">2026-09-26T02:45:47Z</dcterms:modified>
</cp:coreProperties>
</file>