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80" r:id="rId6"/>
    <p:sldId id="263" r:id="rId7"/>
    <p:sldId id="260" r:id="rId8"/>
    <p:sldId id="261" r:id="rId9"/>
    <p:sldId id="281" r:id="rId10"/>
    <p:sldId id="264" r:id="rId11"/>
    <p:sldId id="265" r:id="rId12"/>
    <p:sldId id="282" r:id="rId13"/>
    <p:sldId id="266" r:id="rId14"/>
    <p:sldId id="283"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9144000"/>
  <p:embeddedFontLst>
    <p:embeddedFont>
      <p:font typeface="Consolas" panose="020B0609020204030204" pitchFamily="49" charset="0"/>
      <p:regular r:id="rId30"/>
      <p:bold r:id="rId31"/>
      <p:italic r:id="rId32"/>
      <p:boldItalic r:id="rId33"/>
    </p:embeddedFont>
    <p:embeddedFont>
      <p:font typeface="Roboto"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hsLATurV/9mX2EAfXz0YRmSDh4I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705"/>
  </p:normalViewPr>
  <p:slideViewPr>
    <p:cSldViewPr snapToGrid="0">
      <p:cViewPr varScale="1">
        <p:scale>
          <a:sx n="108" d="100"/>
          <a:sy n="108" d="100"/>
        </p:scale>
        <p:origin x="9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B590D90A-5FE6-B801-AFDC-E54A8B3C6BC8}"/>
            </a:ext>
          </a:extLst>
        </p:cNvPr>
        <p:cNvGrpSpPr/>
        <p:nvPr/>
      </p:nvGrpSpPr>
      <p:grpSpPr>
        <a:xfrm>
          <a:off x="0" y="0"/>
          <a:ext cx="0" cy="0"/>
          <a:chOff x="0" y="0"/>
          <a:chExt cx="0" cy="0"/>
        </a:xfrm>
      </p:grpSpPr>
      <p:sp>
        <p:nvSpPr>
          <p:cNvPr id="134" name="Google Shape;134;p90:notes">
            <a:extLst>
              <a:ext uri="{FF2B5EF4-FFF2-40B4-BE49-F238E27FC236}">
                <a16:creationId xmlns:a16="http://schemas.microsoft.com/office/drawing/2014/main" id="{02D61F1A-3689-1C76-DF3C-204BC1664AF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90:notes">
            <a:extLst>
              <a:ext uri="{FF2B5EF4-FFF2-40B4-BE49-F238E27FC236}">
                <a16:creationId xmlns:a16="http://schemas.microsoft.com/office/drawing/2014/main" id="{174B45F0-4F09-1B6C-28D8-445F619AD3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159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b="0" i="0">
                <a:solidFill>
                  <a:srgbClr val="242424"/>
                </a:solidFill>
                <a:latin typeface="Arial"/>
                <a:ea typeface="Arial"/>
                <a:cs typeface="Arial"/>
                <a:sym typeface="Arial"/>
              </a:rPr>
              <a:t>HTTPS has an </a:t>
            </a:r>
            <a:r>
              <a:rPr lang="en-US" b="1" i="0">
                <a:solidFill>
                  <a:srgbClr val="242424"/>
                </a:solidFill>
                <a:latin typeface="Arial"/>
                <a:ea typeface="Arial"/>
                <a:cs typeface="Arial"/>
                <a:sym typeface="Arial"/>
              </a:rPr>
              <a:t>overhead of SSL handshake</a:t>
            </a:r>
            <a:r>
              <a:rPr lang="en-US" b="0" i="0">
                <a:solidFill>
                  <a:srgbClr val="242424"/>
                </a:solidFill>
                <a:latin typeface="Arial"/>
                <a:ea typeface="Arial"/>
                <a:cs typeface="Arial"/>
                <a:sym typeface="Arial"/>
              </a:rPr>
              <a:t> and thus might be slower than HTTP. But the </a:t>
            </a:r>
            <a:r>
              <a:rPr lang="en-US" b="1" i="0">
                <a:solidFill>
                  <a:srgbClr val="242424"/>
                </a:solidFill>
                <a:latin typeface="Arial"/>
                <a:ea typeface="Arial"/>
                <a:cs typeface="Arial"/>
                <a:sym typeface="Arial"/>
              </a:rPr>
              <a:t>security benefits</a:t>
            </a:r>
            <a:r>
              <a:rPr lang="en-US" b="0" i="0">
                <a:solidFill>
                  <a:srgbClr val="242424"/>
                </a:solidFill>
                <a:latin typeface="Arial"/>
                <a:ea typeface="Arial"/>
                <a:cs typeface="Arial"/>
                <a:sym typeface="Arial"/>
              </a:rPr>
              <a:t> it offers outweighs these slight delays in performance.</a:t>
            </a:r>
            <a:endParaRPr/>
          </a:p>
          <a:p>
            <a:pPr marL="457200" marR="0" lvl="0" indent="-228600" algn="l" rtl="0">
              <a:lnSpc>
                <a:spcPct val="100000"/>
              </a:lnSpc>
              <a:spcBef>
                <a:spcPts val="0"/>
              </a:spcBef>
              <a:spcAft>
                <a:spcPts val="0"/>
              </a:spcAft>
              <a:buSzPts val="1400"/>
              <a:buNone/>
            </a:pPr>
            <a:endParaRPr/>
          </a:p>
        </p:txBody>
      </p:sp>
      <p:sp>
        <p:nvSpPr>
          <p:cNvPr id="144" name="Google Shape;144;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FEB60798-376F-7DD4-DE11-CF0DD70A7DD9}"/>
            </a:ext>
          </a:extLst>
        </p:cNvPr>
        <p:cNvGrpSpPr/>
        <p:nvPr/>
      </p:nvGrpSpPr>
      <p:grpSpPr>
        <a:xfrm>
          <a:off x="0" y="0"/>
          <a:ext cx="0" cy="0"/>
          <a:chOff x="0" y="0"/>
          <a:chExt cx="0" cy="0"/>
        </a:xfrm>
      </p:grpSpPr>
      <p:sp>
        <p:nvSpPr>
          <p:cNvPr id="142" name="Google Shape;142;p91:notes">
            <a:extLst>
              <a:ext uri="{FF2B5EF4-FFF2-40B4-BE49-F238E27FC236}">
                <a16:creationId xmlns:a16="http://schemas.microsoft.com/office/drawing/2014/main" id="{65700EEA-A019-172D-1862-284E55B2DA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91:notes">
            <a:extLst>
              <a:ext uri="{FF2B5EF4-FFF2-40B4-BE49-F238E27FC236}">
                <a16:creationId xmlns:a16="http://schemas.microsoft.com/office/drawing/2014/main" id="{530A4A0F-CFB4-5A58-4263-8F2E35A2887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b="0" i="0">
                <a:solidFill>
                  <a:srgbClr val="242424"/>
                </a:solidFill>
                <a:latin typeface="Arial"/>
                <a:ea typeface="Arial"/>
                <a:cs typeface="Arial"/>
                <a:sym typeface="Arial"/>
              </a:rPr>
              <a:t>HTTPS has an </a:t>
            </a:r>
            <a:r>
              <a:rPr lang="en-US" b="1" i="0">
                <a:solidFill>
                  <a:srgbClr val="242424"/>
                </a:solidFill>
                <a:latin typeface="Arial"/>
                <a:ea typeface="Arial"/>
                <a:cs typeface="Arial"/>
                <a:sym typeface="Arial"/>
              </a:rPr>
              <a:t>overhead of SSL handshake</a:t>
            </a:r>
            <a:r>
              <a:rPr lang="en-US" b="0" i="0">
                <a:solidFill>
                  <a:srgbClr val="242424"/>
                </a:solidFill>
                <a:latin typeface="Arial"/>
                <a:ea typeface="Arial"/>
                <a:cs typeface="Arial"/>
                <a:sym typeface="Arial"/>
              </a:rPr>
              <a:t> and thus might be slower than HTTP. But the </a:t>
            </a:r>
            <a:r>
              <a:rPr lang="en-US" b="1" i="0">
                <a:solidFill>
                  <a:srgbClr val="242424"/>
                </a:solidFill>
                <a:latin typeface="Arial"/>
                <a:ea typeface="Arial"/>
                <a:cs typeface="Arial"/>
                <a:sym typeface="Arial"/>
              </a:rPr>
              <a:t>security benefits</a:t>
            </a:r>
            <a:r>
              <a:rPr lang="en-US" b="0" i="0">
                <a:solidFill>
                  <a:srgbClr val="242424"/>
                </a:solidFill>
                <a:latin typeface="Arial"/>
                <a:ea typeface="Arial"/>
                <a:cs typeface="Arial"/>
                <a:sym typeface="Arial"/>
              </a:rPr>
              <a:t> it offers outweighs these slight delays in performance.</a:t>
            </a:r>
            <a:endParaRPr/>
          </a:p>
          <a:p>
            <a:pPr marL="457200" marR="0" lvl="0" indent="-228600" algn="l" rtl="0">
              <a:lnSpc>
                <a:spcPct val="100000"/>
              </a:lnSpc>
              <a:spcBef>
                <a:spcPts val="0"/>
              </a:spcBef>
              <a:spcAft>
                <a:spcPts val="0"/>
              </a:spcAft>
              <a:buSzPts val="1400"/>
              <a:buNone/>
            </a:pPr>
            <a:endParaRPr/>
          </a:p>
        </p:txBody>
      </p:sp>
      <p:sp>
        <p:nvSpPr>
          <p:cNvPr id="144" name="Google Shape;144;p91:notes">
            <a:extLst>
              <a:ext uri="{FF2B5EF4-FFF2-40B4-BE49-F238E27FC236}">
                <a16:creationId xmlns:a16="http://schemas.microsoft.com/office/drawing/2014/main" id="{71CB7389-0647-CB01-5DD2-059B20022CF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9</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74573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7E8F3982-5F0B-06EF-FC18-FFEFB2A0D219}"/>
            </a:ext>
          </a:extLst>
        </p:cNvPr>
        <p:cNvGrpSpPr/>
        <p:nvPr/>
      </p:nvGrpSpPr>
      <p:grpSpPr>
        <a:xfrm>
          <a:off x="0" y="0"/>
          <a:ext cx="0" cy="0"/>
          <a:chOff x="0" y="0"/>
          <a:chExt cx="0" cy="0"/>
        </a:xfrm>
      </p:grpSpPr>
      <p:sp>
        <p:nvSpPr>
          <p:cNvPr id="158" name="Google Shape;158;p93:notes">
            <a:extLst>
              <a:ext uri="{FF2B5EF4-FFF2-40B4-BE49-F238E27FC236}">
                <a16:creationId xmlns:a16="http://schemas.microsoft.com/office/drawing/2014/main" id="{89CB97F8-8C20-3BE0-8634-2AF45EE50D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93:notes">
            <a:extLst>
              <a:ext uri="{FF2B5EF4-FFF2-40B4-BE49-F238E27FC236}">
                <a16:creationId xmlns:a16="http://schemas.microsoft.com/office/drawing/2014/main" id="{F69B2DD6-5883-718A-AC85-4C3D53C021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0321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9ED99B35-D07B-116E-E35E-83C67314EB63}"/>
            </a:ext>
          </a:extLst>
        </p:cNvPr>
        <p:cNvGrpSpPr/>
        <p:nvPr/>
      </p:nvGrpSpPr>
      <p:grpSpPr>
        <a:xfrm>
          <a:off x="0" y="0"/>
          <a:ext cx="0" cy="0"/>
          <a:chOff x="0" y="0"/>
          <a:chExt cx="0" cy="0"/>
        </a:xfrm>
      </p:grpSpPr>
      <p:sp>
        <p:nvSpPr>
          <p:cNvPr id="158" name="Google Shape;158;p93:notes">
            <a:extLst>
              <a:ext uri="{FF2B5EF4-FFF2-40B4-BE49-F238E27FC236}">
                <a16:creationId xmlns:a16="http://schemas.microsoft.com/office/drawing/2014/main" id="{CDAB35E2-81CB-B40E-B868-C2A1818795D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93:notes">
            <a:extLst>
              <a:ext uri="{FF2B5EF4-FFF2-40B4-BE49-F238E27FC236}">
                <a16:creationId xmlns:a16="http://schemas.microsoft.com/office/drawing/2014/main" id="{D0487EFE-F9A1-7AAE-DD30-74AD0B614C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9837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b="0" i="0">
                <a:solidFill>
                  <a:srgbClr val="242424"/>
                </a:solidFill>
                <a:latin typeface="Arial"/>
                <a:ea typeface="Arial"/>
                <a:cs typeface="Arial"/>
                <a:sym typeface="Arial"/>
              </a:rPr>
              <a:t>This command generates an SSL certificate with a 2048-bit RSA key pair and a validity period of 365 days. The certificate is signed by its own private key (self-signed).</a:t>
            </a:r>
            <a:endParaRPr/>
          </a:p>
        </p:txBody>
      </p:sp>
      <p:sp>
        <p:nvSpPr>
          <p:cNvPr id="178" name="Google Shape;178;p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15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0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0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0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0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1" name="Google Shape;271;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5"/>
          <p:cNvSpPr txBox="1">
            <a:spLocks noGrp="1"/>
          </p:cNvSpPr>
          <p:nvPr>
            <p:ph type="ctrTitle"/>
          </p:nvPr>
        </p:nvSpPr>
        <p:spPr>
          <a:xfrm>
            <a:off x="1524000" y="1988598"/>
            <a:ext cx="9144000" cy="1521364"/>
          </a:xfrm>
          <a:prstGeom prst="rect">
            <a:avLst/>
          </a:prstGeom>
          <a:solidFill>
            <a:schemeClr val="accent2"/>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5"/>
          <p:cNvSpPr txBox="1">
            <a:spLocks noGrp="1"/>
          </p:cNvSpPr>
          <p:nvPr>
            <p:ph type="subTitle" idx="1"/>
          </p:nvPr>
        </p:nvSpPr>
        <p:spPr>
          <a:xfrm>
            <a:off x="1524000" y="3602038"/>
            <a:ext cx="9144000" cy="122741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75"/>
          <p:cNvSpPr txBox="1"/>
          <p:nvPr/>
        </p:nvSpPr>
        <p:spPr>
          <a:xfrm>
            <a:off x="0" y="6461294"/>
            <a:ext cx="12192000" cy="403934"/>
          </a:xfrm>
          <a:prstGeom prst="rect">
            <a:avLst/>
          </a:prstGeom>
          <a:solidFill>
            <a:srgbClr val="2F5496"/>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9" name="Google Shape;19;p75"/>
          <p:cNvPicPr preferRelativeResize="0"/>
          <p:nvPr/>
        </p:nvPicPr>
        <p:blipFill rotWithShape="1">
          <a:blip r:embed="rId2">
            <a:alphaModFix/>
          </a:blip>
          <a:srcRect/>
          <a:stretch/>
        </p:blipFill>
        <p:spPr>
          <a:xfrm>
            <a:off x="523292" y="23662"/>
            <a:ext cx="932284" cy="5127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76"/>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sz="3200" b="1">
                <a:solidFill>
                  <a:srgbClr val="00206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76"/>
          <p:cNvSpPr txBox="1"/>
          <p:nvPr/>
        </p:nvSpPr>
        <p:spPr>
          <a:xfrm>
            <a:off x="0" y="6461294"/>
            <a:ext cx="12192000" cy="369291"/>
          </a:xfrm>
          <a:prstGeom prst="rect">
            <a:avLst/>
          </a:prstGeom>
          <a:solidFill>
            <a:srgbClr val="2F5496"/>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2"/>
              </a:solidFill>
              <a:latin typeface="Arial"/>
              <a:ea typeface="Arial"/>
              <a:cs typeface="Arial"/>
              <a:sym typeface="Arial"/>
            </a:endParaRPr>
          </a:p>
        </p:txBody>
      </p:sp>
      <p:sp>
        <p:nvSpPr>
          <p:cNvPr id="23" name="Google Shape;23;p76"/>
          <p:cNvSpPr txBox="1">
            <a:spLocks noGrp="1"/>
          </p:cNvSpPr>
          <p:nvPr>
            <p:ph type="body" idx="1"/>
          </p:nvPr>
        </p:nvSpPr>
        <p:spPr>
          <a:xfrm>
            <a:off x="838200" y="1535811"/>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rgbClr val="002060"/>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76"/>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sz="1200" b="0" i="0" u="none" strike="noStrike" cap="none">
                <a:solidFill>
                  <a:schemeClr val="lt2"/>
                </a:solidFill>
                <a:latin typeface="Arial"/>
                <a:ea typeface="Arial"/>
                <a:cs typeface="Arial"/>
                <a:sym typeface="Arial"/>
              </a:defRPr>
            </a:lvl1pPr>
            <a:lvl2pPr marL="0" lvl="1" indent="0" algn="r">
              <a:lnSpc>
                <a:spcPct val="100000"/>
              </a:lnSpc>
              <a:spcBef>
                <a:spcPts val="0"/>
              </a:spcBef>
              <a:spcAft>
                <a:spcPts val="0"/>
              </a:spcAft>
              <a:buSzPts val="1200"/>
              <a:buNone/>
              <a:defRPr sz="1200" b="0" i="0" u="none" strike="noStrike" cap="none">
                <a:solidFill>
                  <a:schemeClr val="lt2"/>
                </a:solidFill>
                <a:latin typeface="Arial"/>
                <a:ea typeface="Arial"/>
                <a:cs typeface="Arial"/>
                <a:sym typeface="Arial"/>
              </a:defRPr>
            </a:lvl2pPr>
            <a:lvl3pPr marL="0" lvl="2" indent="0" algn="r">
              <a:lnSpc>
                <a:spcPct val="100000"/>
              </a:lnSpc>
              <a:spcBef>
                <a:spcPts val="0"/>
              </a:spcBef>
              <a:spcAft>
                <a:spcPts val="0"/>
              </a:spcAft>
              <a:buSzPts val="1200"/>
              <a:buNone/>
              <a:defRPr sz="1200" b="0" i="0" u="none" strike="noStrike" cap="none">
                <a:solidFill>
                  <a:schemeClr val="lt2"/>
                </a:solidFill>
                <a:latin typeface="Arial"/>
                <a:ea typeface="Arial"/>
                <a:cs typeface="Arial"/>
                <a:sym typeface="Arial"/>
              </a:defRPr>
            </a:lvl3pPr>
            <a:lvl4pPr marL="0" lvl="3" indent="0" algn="r">
              <a:lnSpc>
                <a:spcPct val="100000"/>
              </a:lnSpc>
              <a:spcBef>
                <a:spcPts val="0"/>
              </a:spcBef>
              <a:spcAft>
                <a:spcPts val="0"/>
              </a:spcAft>
              <a:buSzPts val="1200"/>
              <a:buNone/>
              <a:defRPr sz="1200" b="0" i="0" u="none" strike="noStrike" cap="none">
                <a:solidFill>
                  <a:schemeClr val="lt2"/>
                </a:solidFill>
                <a:latin typeface="Arial"/>
                <a:ea typeface="Arial"/>
                <a:cs typeface="Arial"/>
                <a:sym typeface="Arial"/>
              </a:defRPr>
            </a:lvl4pPr>
            <a:lvl5pPr marL="0" lvl="4" indent="0" algn="r">
              <a:lnSpc>
                <a:spcPct val="100000"/>
              </a:lnSpc>
              <a:spcBef>
                <a:spcPts val="0"/>
              </a:spcBef>
              <a:spcAft>
                <a:spcPts val="0"/>
              </a:spcAft>
              <a:buSzPts val="1200"/>
              <a:buNone/>
              <a:defRPr sz="1200" b="0" i="0" u="none" strike="noStrike" cap="none">
                <a:solidFill>
                  <a:schemeClr val="lt2"/>
                </a:solidFill>
                <a:latin typeface="Arial"/>
                <a:ea typeface="Arial"/>
                <a:cs typeface="Arial"/>
                <a:sym typeface="Arial"/>
              </a:defRPr>
            </a:lvl5pPr>
            <a:lvl6pPr marL="0" lvl="5" indent="0" algn="r">
              <a:lnSpc>
                <a:spcPct val="100000"/>
              </a:lnSpc>
              <a:spcBef>
                <a:spcPts val="0"/>
              </a:spcBef>
              <a:spcAft>
                <a:spcPts val="0"/>
              </a:spcAft>
              <a:buSzPts val="1200"/>
              <a:buNone/>
              <a:defRPr sz="1200" b="0" i="0" u="none" strike="noStrike" cap="none">
                <a:solidFill>
                  <a:schemeClr val="lt2"/>
                </a:solidFill>
                <a:latin typeface="Arial"/>
                <a:ea typeface="Arial"/>
                <a:cs typeface="Arial"/>
                <a:sym typeface="Arial"/>
              </a:defRPr>
            </a:lvl6pPr>
            <a:lvl7pPr marL="0" lvl="6" indent="0" algn="r">
              <a:lnSpc>
                <a:spcPct val="100000"/>
              </a:lnSpc>
              <a:spcBef>
                <a:spcPts val="0"/>
              </a:spcBef>
              <a:spcAft>
                <a:spcPts val="0"/>
              </a:spcAft>
              <a:buSzPts val="1200"/>
              <a:buNone/>
              <a:defRPr sz="1200" b="0" i="0" u="none" strike="noStrike" cap="none">
                <a:solidFill>
                  <a:schemeClr val="lt2"/>
                </a:solidFill>
                <a:latin typeface="Arial"/>
                <a:ea typeface="Arial"/>
                <a:cs typeface="Arial"/>
                <a:sym typeface="Arial"/>
              </a:defRPr>
            </a:lvl7pPr>
            <a:lvl8pPr marL="0" lvl="7" indent="0" algn="r">
              <a:lnSpc>
                <a:spcPct val="100000"/>
              </a:lnSpc>
              <a:spcBef>
                <a:spcPts val="0"/>
              </a:spcBef>
              <a:spcAft>
                <a:spcPts val="0"/>
              </a:spcAft>
              <a:buSzPts val="1200"/>
              <a:buNone/>
              <a:defRPr sz="1200" b="0" i="0" u="none" strike="noStrike" cap="none">
                <a:solidFill>
                  <a:schemeClr val="lt2"/>
                </a:solidFill>
                <a:latin typeface="Arial"/>
                <a:ea typeface="Arial"/>
                <a:cs typeface="Arial"/>
                <a:sym typeface="Arial"/>
              </a:defRPr>
            </a:lvl8pPr>
            <a:lvl9pPr marL="0" lvl="8" indent="0" algn="r">
              <a:lnSpc>
                <a:spcPct val="100000"/>
              </a:lnSpc>
              <a:spcBef>
                <a:spcPts val="0"/>
              </a:spcBef>
              <a:spcAft>
                <a:spcPts val="0"/>
              </a:spcAft>
              <a:buSzPts val="1200"/>
              <a:buNone/>
              <a:defRPr sz="12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76"/>
          <p:cNvSpPr txBox="1"/>
          <p:nvPr/>
        </p:nvSpPr>
        <p:spPr>
          <a:xfrm>
            <a:off x="670250" y="620209"/>
            <a:ext cx="167950" cy="575433"/>
          </a:xfrm>
          <a:prstGeom prst="rect">
            <a:avLst/>
          </a:prstGeom>
          <a:solidFill>
            <a:srgbClr val="00206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7" name="Google Shape;27;p76"/>
          <p:cNvPicPr preferRelativeResize="0"/>
          <p:nvPr/>
        </p:nvPicPr>
        <p:blipFill rotWithShape="1">
          <a:blip r:embed="rId2">
            <a:alphaModFix/>
          </a:blip>
          <a:srcRect/>
          <a:stretch/>
        </p:blipFill>
        <p:spPr>
          <a:xfrm>
            <a:off x="838200" y="7619"/>
            <a:ext cx="932284" cy="512756"/>
          </a:xfrm>
          <a:prstGeom prst="rect">
            <a:avLst/>
          </a:prstGeom>
          <a:noFill/>
          <a:ln>
            <a:noFill/>
          </a:ln>
        </p:spPr>
      </p:pic>
      <p:pic>
        <p:nvPicPr>
          <p:cNvPr id="28" name="Google Shape;28;p76" descr="Node.jsで開発環境を切り替え - Libra Studio Log"/>
          <p:cNvPicPr preferRelativeResize="0"/>
          <p:nvPr/>
        </p:nvPicPr>
        <p:blipFill rotWithShape="1">
          <a:blip r:embed="rId3">
            <a:alphaModFix/>
          </a:blip>
          <a:srcRect/>
          <a:stretch/>
        </p:blipFill>
        <p:spPr>
          <a:xfrm>
            <a:off x="10860840" y="27415"/>
            <a:ext cx="492960" cy="49296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3600" b="1">
                <a:solidFill>
                  <a:srgbClr val="00206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7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7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8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3"/>
          <p:cNvSpPr>
            <a:spLocks noGrp="1"/>
          </p:cNvSpPr>
          <p:nvPr>
            <p:ph type="pic" idx="2"/>
          </p:nvPr>
        </p:nvSpPr>
        <p:spPr>
          <a:xfrm>
            <a:off x="5183188" y="987425"/>
            <a:ext cx="6172200" cy="4873625"/>
          </a:xfrm>
          <a:prstGeom prst="rect">
            <a:avLst/>
          </a:prstGeom>
          <a:noFill/>
          <a:ln>
            <a:noFill/>
          </a:ln>
        </p:spPr>
      </p:sp>
      <p:sp>
        <p:nvSpPr>
          <p:cNvPr id="70" name="Google Shape;70;p8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slproweb.com/products/Win32OpenSSL.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a:solidFill>
                  <a:srgbClr val="002060"/>
                </a:solidFill>
                <a:latin typeface="Arial"/>
                <a:ea typeface="Arial"/>
                <a:cs typeface="Arial"/>
                <a:sym typeface="Arial"/>
              </a:rPr>
              <a:t>HTTPS &amp; Secure communication</a:t>
            </a:r>
            <a:endParaRPr sz="4400" b="1">
              <a:solidFill>
                <a:srgbClr val="002060"/>
              </a:solidFill>
              <a:latin typeface="Arial"/>
              <a:ea typeface="Arial"/>
              <a:cs typeface="Arial"/>
              <a:sym typeface="Arial"/>
            </a:endParaRPr>
          </a:p>
        </p:txBody>
      </p:sp>
      <p:pic>
        <p:nvPicPr>
          <p:cNvPr id="92" name="Google Shape;92;p1" descr="MongoDB with Node.js, CRUD Operation - DEV Community"/>
          <p:cNvPicPr preferRelativeResize="0"/>
          <p:nvPr/>
        </p:nvPicPr>
        <p:blipFill rotWithShape="1">
          <a:blip r:embed="rId3">
            <a:alphaModFix/>
          </a:blip>
          <a:srcRect t="32619" b="25606"/>
          <a:stretch/>
        </p:blipFill>
        <p:spPr>
          <a:xfrm>
            <a:off x="1161393" y="570270"/>
            <a:ext cx="9869214" cy="167118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99" name="Google Shape;99;p2"/>
          <p:cNvSpPr txBox="1">
            <a:spLocks noGrp="1"/>
          </p:cNvSpPr>
          <p:nvPr>
            <p:ph type="body" idx="1"/>
          </p:nvPr>
        </p:nvSpPr>
        <p:spPr>
          <a:xfrm>
            <a:off x="714703" y="1424123"/>
            <a:ext cx="11066792" cy="4933134"/>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Introduction HTTPS</a:t>
            </a:r>
            <a:endParaRPr dirty="0">
              <a:solidFill>
                <a:schemeClr val="tx1"/>
              </a:solidFill>
            </a:endParaRPr>
          </a:p>
          <a:p>
            <a:pPr marL="342900" lvl="0"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Install and Create SSL Certificate</a:t>
            </a:r>
            <a:endParaRPr dirty="0">
              <a:solidFill>
                <a:schemeClr val="tx1"/>
              </a:solidFill>
            </a:endParaRPr>
          </a:p>
          <a:p>
            <a:pPr marL="342900" lvl="0"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How to implement https in node </a:t>
            </a:r>
            <a:r>
              <a:rPr lang="en-US" dirty="0" err="1">
                <a:solidFill>
                  <a:schemeClr val="tx1"/>
                </a:solidFill>
              </a:rPr>
              <a:t>js</a:t>
            </a:r>
            <a:endParaRPr dirty="0">
              <a:solidFill>
                <a:schemeClr val="tx1"/>
              </a:solidFill>
            </a:endParaRPr>
          </a:p>
          <a:p>
            <a:pPr marL="342900" lvl="0" indent="-342900" algn="l" rtl="0">
              <a:lnSpc>
                <a:spcPct val="120000"/>
              </a:lnSpc>
              <a:spcBef>
                <a:spcPts val="0"/>
              </a:spcBef>
              <a:spcAft>
                <a:spcPts val="0"/>
              </a:spcAft>
              <a:buClr>
                <a:srgbClr val="973735"/>
              </a:buClr>
              <a:buSzPts val="1400"/>
              <a:buFont typeface="Noto Sans Symbols"/>
              <a:buChar char="◆"/>
            </a:pPr>
            <a:r>
              <a:rPr lang="en-US" dirty="0">
                <a:solidFill>
                  <a:schemeClr val="tx1"/>
                </a:solidFill>
              </a:rPr>
              <a:t>Introduction SSO, OAuth</a:t>
            </a:r>
            <a:endParaRPr dirty="0">
              <a:solidFill>
                <a:schemeClr val="tx1"/>
              </a:solidFill>
            </a:endParaRPr>
          </a:p>
        </p:txBody>
      </p:sp>
      <p:sp>
        <p:nvSpPr>
          <p:cNvPr id="100" name="Google Shape;100;p2"/>
          <p:cNvSpPr txBox="1">
            <a:spLocks noGrp="1"/>
          </p:cNvSpPr>
          <p:nvPr>
            <p:ph type="title"/>
          </p:nvPr>
        </p:nvSpPr>
        <p:spPr>
          <a:xfrm>
            <a:off x="838200" y="611076"/>
            <a:ext cx="10379025" cy="748017"/>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rial"/>
              <a:buNone/>
            </a:pPr>
            <a:r>
              <a:rPr lang="en-US" sz="4000" b="1"/>
              <a:t>Objectives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86"/>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Introduction HTTPS</a:t>
            </a:r>
            <a:endParaRPr/>
          </a:p>
        </p:txBody>
      </p:sp>
      <p:sp>
        <p:nvSpPr>
          <p:cNvPr id="106" name="Google Shape;106;p86"/>
          <p:cNvSpPr txBox="1">
            <a:spLocks noGrp="1"/>
          </p:cNvSpPr>
          <p:nvPr>
            <p:ph type="body" idx="1"/>
          </p:nvPr>
        </p:nvSpPr>
        <p:spPr>
          <a:xfrm>
            <a:off x="838200" y="976067"/>
            <a:ext cx="10515600" cy="5285058"/>
          </a:xfrm>
          <a:prstGeom prst="rect">
            <a:avLst/>
          </a:prstGeom>
          <a:noFill/>
          <a:ln>
            <a:noFill/>
          </a:ln>
        </p:spPr>
        <p:txBody>
          <a:bodyPr spcFirstLastPara="1" wrap="square" lIns="91425" tIns="45700" rIns="91425" bIns="45700" anchor="t" anchorCtr="0">
            <a:normAutofit fontScale="85000" lnSpcReduction="20000"/>
          </a:bodyPr>
          <a:lstStyle/>
          <a:p>
            <a:pPr>
              <a:lnSpc>
                <a:spcPct val="150000"/>
              </a:lnSpc>
            </a:pPr>
            <a:r>
              <a:rPr lang="en-GB" dirty="0">
                <a:solidFill>
                  <a:schemeClr val="tx1"/>
                </a:solidFill>
              </a:rPr>
              <a:t>HTTPS (Hypertext Transfer Protocol Secure) is the secure version of HTTP. It uses Transport Layer Security (TLS) to encrypt communication between a web browser and a web server.</a:t>
            </a:r>
          </a:p>
          <a:p>
            <a:pPr>
              <a:lnSpc>
                <a:spcPct val="150000"/>
              </a:lnSpc>
            </a:pPr>
            <a:r>
              <a:rPr lang="en-GB" dirty="0">
                <a:solidFill>
                  <a:schemeClr val="tx1"/>
                </a:solidFill>
              </a:rPr>
              <a:t>If an attacker intercepts the transmitted data, they see encrypted information that they cannot read without the appropriate keys. TLS also helps verify the server’s identity and protects data from modification during transmission.</a:t>
            </a:r>
          </a:p>
          <a:p>
            <a:pPr>
              <a:lnSpc>
                <a:spcPct val="150000"/>
              </a:lnSpc>
            </a:pPr>
            <a:r>
              <a:rPr lang="en-GB" dirty="0">
                <a:solidFill>
                  <a:schemeClr val="tx1"/>
                </a:solidFill>
              </a:rPr>
              <a:t>SSL (Secure Sockets Layer) is the older predecessor of TLS. Although the term “SSL” is still commonly used, modern HTTPS connections use TLS to protect sensitive information sent over the internet.</a:t>
            </a:r>
          </a:p>
        </p:txBody>
      </p:sp>
      <p:sp>
        <p:nvSpPr>
          <p:cNvPr id="107" name="Google Shape;107;p8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87"/>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How does HTTPS work?</a:t>
            </a:r>
            <a:endParaRPr/>
          </a:p>
        </p:txBody>
      </p:sp>
      <p:sp>
        <p:nvSpPr>
          <p:cNvPr id="113" name="Google Shape;113;p8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14" name="Google Shape;114;p87"/>
          <p:cNvPicPr preferRelativeResize="0"/>
          <p:nvPr/>
        </p:nvPicPr>
        <p:blipFill rotWithShape="1">
          <a:blip r:embed="rId3">
            <a:alphaModFix/>
          </a:blip>
          <a:srcRect/>
          <a:stretch/>
        </p:blipFill>
        <p:spPr>
          <a:xfrm>
            <a:off x="2571463" y="1445476"/>
            <a:ext cx="7049073" cy="50183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37CBB8BE-304C-9389-3842-8684CB84A9A6}"/>
            </a:ext>
          </a:extLst>
        </p:cNvPr>
        <p:cNvGrpSpPr/>
        <p:nvPr/>
      </p:nvGrpSpPr>
      <p:grpSpPr>
        <a:xfrm>
          <a:off x="0" y="0"/>
          <a:ext cx="0" cy="0"/>
          <a:chOff x="0" y="0"/>
          <a:chExt cx="0" cy="0"/>
        </a:xfrm>
      </p:grpSpPr>
      <p:sp>
        <p:nvSpPr>
          <p:cNvPr id="137" name="Google Shape;137;p90">
            <a:extLst>
              <a:ext uri="{FF2B5EF4-FFF2-40B4-BE49-F238E27FC236}">
                <a16:creationId xmlns:a16="http://schemas.microsoft.com/office/drawing/2014/main" id="{A0F2237B-30F8-F038-8C2C-04CFE49B47C9}"/>
              </a:ext>
            </a:extLst>
          </p:cNvPr>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How is the data encrypted and decrypted? </a:t>
            </a:r>
            <a:endParaRPr/>
          </a:p>
        </p:txBody>
      </p:sp>
      <p:sp>
        <p:nvSpPr>
          <p:cNvPr id="138" name="Google Shape;138;p90">
            <a:extLst>
              <a:ext uri="{FF2B5EF4-FFF2-40B4-BE49-F238E27FC236}">
                <a16:creationId xmlns:a16="http://schemas.microsoft.com/office/drawing/2014/main" id="{165AED15-342B-17C5-C8C2-2B4C181E9739}"/>
              </a:ext>
            </a:extLst>
          </p:cNvPr>
          <p:cNvSpPr txBox="1">
            <a:spLocks noGrp="1"/>
          </p:cNvSpPr>
          <p:nvPr>
            <p:ph type="body" idx="1"/>
          </p:nvPr>
        </p:nvSpPr>
        <p:spPr>
          <a:xfrm>
            <a:off x="838200" y="1195642"/>
            <a:ext cx="10591060" cy="4619004"/>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just" rtl="0">
              <a:lnSpc>
                <a:spcPct val="170000"/>
              </a:lnSpc>
              <a:spcBef>
                <a:spcPts val="1000"/>
              </a:spcBef>
              <a:spcAft>
                <a:spcPts val="0"/>
              </a:spcAft>
              <a:buSzPct val="116883"/>
              <a:buChar char="•"/>
            </a:pPr>
            <a:r>
              <a:rPr lang="en-US" sz="1800" dirty="0">
                <a:solidFill>
                  <a:schemeClr val="tx1"/>
                </a:solidFill>
              </a:rPr>
              <a:t>Step 1 - The client (browser) and the server establish a TCP connection. </a:t>
            </a:r>
            <a:endParaRPr sz="1800" dirty="0">
              <a:solidFill>
                <a:schemeClr val="tx1"/>
              </a:solidFill>
            </a:endParaRPr>
          </a:p>
          <a:p>
            <a:pPr marL="457200" lvl="0" indent="-342900" algn="just" rtl="0">
              <a:lnSpc>
                <a:spcPct val="170000"/>
              </a:lnSpc>
              <a:spcBef>
                <a:spcPts val="1000"/>
              </a:spcBef>
              <a:spcAft>
                <a:spcPts val="0"/>
              </a:spcAft>
              <a:buSzPct val="116883"/>
              <a:buChar char="•"/>
            </a:pPr>
            <a:r>
              <a:rPr lang="en-US" sz="1800" dirty="0">
                <a:solidFill>
                  <a:schemeClr val="tx1"/>
                </a:solidFill>
              </a:rPr>
              <a:t>Step 2 - The client sends a “client hello” to the server. The message contains a set of necessary encryption algorithms (cipher suites) and the latest TLS version it can support. The server responds with a “server hello” so the browser knows whether it can support the algorithms and TLS version. The server then sends the SSL certificate to the client. The certificate contains the public key, host name, expiry dates, etc. The client validates the certificate. </a:t>
            </a:r>
            <a:endParaRPr sz="1800" dirty="0">
              <a:solidFill>
                <a:schemeClr val="tx1"/>
              </a:solidFill>
            </a:endParaRPr>
          </a:p>
          <a:p>
            <a:pPr marL="457200" lvl="0" indent="-342900" algn="just" rtl="0">
              <a:lnSpc>
                <a:spcPct val="170000"/>
              </a:lnSpc>
              <a:spcBef>
                <a:spcPts val="1000"/>
              </a:spcBef>
              <a:spcAft>
                <a:spcPts val="0"/>
              </a:spcAft>
              <a:buSzPct val="116883"/>
              <a:buChar char="•"/>
            </a:pPr>
            <a:r>
              <a:rPr lang="en-US" sz="1800" dirty="0">
                <a:solidFill>
                  <a:schemeClr val="tx1"/>
                </a:solidFill>
              </a:rPr>
              <a:t>Step 3 - After validating the SSL certificate, the client generates a session key and encrypts it using the public key. The server receives the encrypted session key and decrypts it with the private key. </a:t>
            </a:r>
            <a:endParaRPr sz="1800" dirty="0">
              <a:solidFill>
                <a:schemeClr val="tx1"/>
              </a:solidFill>
            </a:endParaRPr>
          </a:p>
          <a:p>
            <a:pPr marL="457200" lvl="0" indent="-342900" algn="just" rtl="0">
              <a:lnSpc>
                <a:spcPct val="170000"/>
              </a:lnSpc>
              <a:spcBef>
                <a:spcPts val="1000"/>
              </a:spcBef>
              <a:spcAft>
                <a:spcPts val="0"/>
              </a:spcAft>
              <a:buSzPct val="116883"/>
              <a:buChar char="•"/>
            </a:pPr>
            <a:r>
              <a:rPr lang="en-US" sz="1800" dirty="0">
                <a:solidFill>
                  <a:schemeClr val="tx1"/>
                </a:solidFill>
              </a:rPr>
              <a:t>Step 4 - Now that both the client and the server hold the same session key (symmetric encryption), the encrypted data is transmitted in a secure bi-directional channel. </a:t>
            </a:r>
            <a:endParaRPr sz="1800" dirty="0">
              <a:solidFill>
                <a:schemeClr val="tx1"/>
              </a:solidFill>
            </a:endParaRPr>
          </a:p>
        </p:txBody>
      </p:sp>
      <p:sp>
        <p:nvSpPr>
          <p:cNvPr id="139" name="Google Shape;139;p90">
            <a:extLst>
              <a:ext uri="{FF2B5EF4-FFF2-40B4-BE49-F238E27FC236}">
                <a16:creationId xmlns:a16="http://schemas.microsoft.com/office/drawing/2014/main" id="{215295D4-ACB3-F952-40DC-569C97F64E3F}"/>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extLst>
      <p:ext uri="{BB962C8B-B14F-4D97-AF65-F5344CB8AC3E}">
        <p14:creationId xmlns:p14="http://schemas.microsoft.com/office/powerpoint/2010/main" val="2483676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1"/>
          <p:cNvSpPr txBox="1">
            <a:spLocks noGrp="1"/>
          </p:cNvSpPr>
          <p:nvPr>
            <p:ph type="title"/>
          </p:nvPr>
        </p:nvSpPr>
        <p:spPr>
          <a:xfrm>
            <a:off x="838200" y="620209"/>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Why does HTTPS switch to symmetric encryption during data transmission?</a:t>
            </a:r>
            <a:endParaRPr/>
          </a:p>
        </p:txBody>
      </p:sp>
      <p:sp>
        <p:nvSpPr>
          <p:cNvPr id="148" name="Google Shape;148;p9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49" name="Google Shape;149;p91"/>
          <p:cNvPicPr preferRelativeResize="0"/>
          <p:nvPr/>
        </p:nvPicPr>
        <p:blipFill rotWithShape="1">
          <a:blip r:embed="rId3">
            <a:alphaModFix/>
          </a:blip>
          <a:srcRect/>
          <a:stretch/>
        </p:blipFill>
        <p:spPr>
          <a:xfrm>
            <a:off x="2857475" y="1663150"/>
            <a:ext cx="6477050" cy="39559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88"/>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120" name="Google Shape;120;p88"/>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21" name="Google Shape;121;p88"/>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Symmetric Key Cryptography </a:t>
            </a:r>
            <a:endParaRPr/>
          </a:p>
        </p:txBody>
      </p:sp>
      <p:sp>
        <p:nvSpPr>
          <p:cNvPr id="122" name="Google Shape;122;p88"/>
          <p:cNvSpPr txBox="1">
            <a:spLocks noGrp="1"/>
          </p:cNvSpPr>
          <p:nvPr>
            <p:ph type="body" idx="1"/>
          </p:nvPr>
        </p:nvSpPr>
        <p:spPr>
          <a:xfrm>
            <a:off x="838200" y="1195642"/>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150000"/>
              </a:lnSpc>
              <a:spcBef>
                <a:spcPts val="1000"/>
              </a:spcBef>
              <a:spcAft>
                <a:spcPts val="0"/>
              </a:spcAft>
              <a:buClr>
                <a:schemeClr val="dk1"/>
              </a:buClr>
              <a:buSzPts val="1800"/>
              <a:buNone/>
            </a:pPr>
            <a:r>
              <a:rPr lang="en-US" dirty="0">
                <a:solidFill>
                  <a:schemeClr val="tx1"/>
                </a:solidFill>
              </a:rPr>
              <a:t>Symmetric Encryption: </a:t>
            </a:r>
            <a:endParaRPr dirty="0">
              <a:solidFill>
                <a:schemeClr val="tx1"/>
              </a:solidFill>
            </a:endParaRPr>
          </a:p>
          <a:p>
            <a:pPr marL="914400" lvl="1" indent="-342900" algn="l" rtl="0">
              <a:lnSpc>
                <a:spcPct val="150000"/>
              </a:lnSpc>
              <a:spcBef>
                <a:spcPts val="500"/>
              </a:spcBef>
              <a:spcAft>
                <a:spcPts val="0"/>
              </a:spcAft>
              <a:buSzPts val="1800"/>
              <a:buChar char="•"/>
            </a:pPr>
            <a:r>
              <a:rPr lang="en-US" dirty="0">
                <a:solidFill>
                  <a:schemeClr val="tx1"/>
                </a:solidFill>
              </a:rPr>
              <a:t>Shared secret key between the two parties </a:t>
            </a:r>
            <a:endParaRPr dirty="0">
              <a:solidFill>
                <a:schemeClr val="tx1"/>
              </a:solidFill>
            </a:endParaRPr>
          </a:p>
        </p:txBody>
      </p:sp>
      <p:pic>
        <p:nvPicPr>
          <p:cNvPr id="123" name="Google Shape;123;p88"/>
          <p:cNvPicPr preferRelativeResize="0"/>
          <p:nvPr/>
        </p:nvPicPr>
        <p:blipFill rotWithShape="1">
          <a:blip r:embed="rId3">
            <a:alphaModFix/>
          </a:blip>
          <a:srcRect/>
          <a:stretch/>
        </p:blipFill>
        <p:spPr>
          <a:xfrm>
            <a:off x="743232" y="3081459"/>
            <a:ext cx="10795589" cy="27491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89"/>
          <p:cNvSpPr txBox="1">
            <a:spLocks noGrp="1"/>
          </p:cNvSpPr>
          <p:nvPr>
            <p:ph type="dt" idx="10"/>
          </p:nvPr>
        </p:nvSpPr>
        <p:spPr>
          <a:xfrm>
            <a:off x="838200" y="6480699"/>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05/03/2024</a:t>
            </a:r>
            <a:endParaRPr/>
          </a:p>
        </p:txBody>
      </p:sp>
      <p:sp>
        <p:nvSpPr>
          <p:cNvPr id="129" name="Google Shape;129;p89"/>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30" name="Google Shape;130;p89"/>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a:t>Public Key Cryptography </a:t>
            </a:r>
            <a:endParaRPr/>
          </a:p>
        </p:txBody>
      </p:sp>
      <p:sp>
        <p:nvSpPr>
          <p:cNvPr id="131" name="Google Shape;131;p89"/>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150000"/>
              </a:lnSpc>
              <a:spcBef>
                <a:spcPts val="1000"/>
              </a:spcBef>
              <a:spcAft>
                <a:spcPts val="0"/>
              </a:spcAft>
              <a:buClr>
                <a:schemeClr val="dk1"/>
              </a:buClr>
              <a:buSzPts val="1800"/>
              <a:buNone/>
            </a:pPr>
            <a:r>
              <a:rPr lang="en-US" dirty="0">
                <a:solidFill>
                  <a:schemeClr val="tx1"/>
                </a:solidFill>
              </a:rPr>
              <a:t>Asymmetric Encryption:</a:t>
            </a:r>
            <a:endParaRPr dirty="0">
              <a:solidFill>
                <a:schemeClr val="tx1"/>
              </a:solidFill>
            </a:endParaRPr>
          </a:p>
          <a:p>
            <a:pPr marL="914400" lvl="1" indent="-342900" algn="l" rtl="0">
              <a:lnSpc>
                <a:spcPct val="150000"/>
              </a:lnSpc>
              <a:spcBef>
                <a:spcPts val="500"/>
              </a:spcBef>
              <a:spcAft>
                <a:spcPts val="0"/>
              </a:spcAft>
              <a:buSzPts val="1800"/>
              <a:buChar char="•"/>
            </a:pPr>
            <a:r>
              <a:rPr lang="en-US" dirty="0">
                <a:solidFill>
                  <a:schemeClr val="tx1"/>
                </a:solidFill>
              </a:rPr>
              <a:t>Public key that can be widely distributed</a:t>
            </a:r>
            <a:endParaRPr dirty="0">
              <a:solidFill>
                <a:schemeClr val="tx1"/>
              </a:solidFill>
            </a:endParaRPr>
          </a:p>
          <a:p>
            <a:pPr marL="914400" lvl="1" indent="-342900" algn="l" rtl="0">
              <a:lnSpc>
                <a:spcPct val="150000"/>
              </a:lnSpc>
              <a:spcBef>
                <a:spcPts val="500"/>
              </a:spcBef>
              <a:spcAft>
                <a:spcPts val="0"/>
              </a:spcAft>
              <a:buSzPts val="1800"/>
              <a:buChar char="•"/>
            </a:pPr>
            <a:r>
              <a:rPr lang="en-US" dirty="0">
                <a:solidFill>
                  <a:schemeClr val="tx1"/>
                </a:solidFill>
              </a:rPr>
              <a:t>Private key that is only known to the receiver </a:t>
            </a:r>
            <a:endParaRPr dirty="0">
              <a:solidFill>
                <a:schemeClr val="tx1"/>
              </a:solidFill>
            </a:endParaRPr>
          </a:p>
        </p:txBody>
      </p:sp>
      <p:pic>
        <p:nvPicPr>
          <p:cNvPr id="132" name="Google Shape;132;p89"/>
          <p:cNvPicPr preferRelativeResize="0"/>
          <p:nvPr/>
        </p:nvPicPr>
        <p:blipFill rotWithShape="1">
          <a:blip r:embed="rId3">
            <a:alphaModFix/>
          </a:blip>
          <a:srcRect/>
          <a:stretch/>
        </p:blipFill>
        <p:spPr>
          <a:xfrm>
            <a:off x="718618" y="3410064"/>
            <a:ext cx="10742571" cy="2766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B91EADE6-5CE7-375D-B204-0EAF2D29C968}"/>
            </a:ext>
          </a:extLst>
        </p:cNvPr>
        <p:cNvGrpSpPr/>
        <p:nvPr/>
      </p:nvGrpSpPr>
      <p:grpSpPr>
        <a:xfrm>
          <a:off x="0" y="0"/>
          <a:ext cx="0" cy="0"/>
          <a:chOff x="0" y="0"/>
          <a:chExt cx="0" cy="0"/>
        </a:xfrm>
      </p:grpSpPr>
      <p:sp>
        <p:nvSpPr>
          <p:cNvPr id="146" name="Google Shape;146;p91">
            <a:extLst>
              <a:ext uri="{FF2B5EF4-FFF2-40B4-BE49-F238E27FC236}">
                <a16:creationId xmlns:a16="http://schemas.microsoft.com/office/drawing/2014/main" id="{19979347-8153-F21E-DC76-CBCF56B80A2E}"/>
              </a:ext>
            </a:extLst>
          </p:cNvPr>
          <p:cNvSpPr txBox="1">
            <a:spLocks noGrp="1"/>
          </p:cNvSpPr>
          <p:nvPr>
            <p:ph type="title"/>
          </p:nvPr>
        </p:nvSpPr>
        <p:spPr>
          <a:xfrm>
            <a:off x="838200" y="620209"/>
            <a:ext cx="1051560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Why does HTTPS switch to symmetric encryption during data transmission?</a:t>
            </a:r>
            <a:endParaRPr/>
          </a:p>
        </p:txBody>
      </p:sp>
      <p:sp>
        <p:nvSpPr>
          <p:cNvPr id="147" name="Google Shape;147;p91">
            <a:extLst>
              <a:ext uri="{FF2B5EF4-FFF2-40B4-BE49-F238E27FC236}">
                <a16:creationId xmlns:a16="http://schemas.microsoft.com/office/drawing/2014/main" id="{3C4EDF34-555C-7D45-6106-237CF8D1F4D2}"/>
              </a:ext>
            </a:extLst>
          </p:cNvPr>
          <p:cNvSpPr txBox="1">
            <a:spLocks noGrp="1"/>
          </p:cNvSpPr>
          <p:nvPr>
            <p:ph type="body" idx="1"/>
          </p:nvPr>
        </p:nvSpPr>
        <p:spPr>
          <a:xfrm>
            <a:off x="506128" y="1336518"/>
            <a:ext cx="11179744"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1000"/>
              </a:spcBef>
              <a:spcAft>
                <a:spcPts val="0"/>
              </a:spcAft>
              <a:buSzPct val="69498"/>
              <a:buChar char="•"/>
            </a:pPr>
            <a:r>
              <a:rPr lang="en-US" dirty="0">
                <a:solidFill>
                  <a:schemeClr val="tx1"/>
                </a:solidFill>
              </a:rPr>
              <a:t>There are two main reasons: </a:t>
            </a:r>
            <a:endParaRPr dirty="0">
              <a:solidFill>
                <a:schemeClr val="tx1"/>
              </a:solidFill>
            </a:endParaRPr>
          </a:p>
          <a:p>
            <a:pPr marL="914400" lvl="1" indent="-342900" algn="just" rtl="0">
              <a:lnSpc>
                <a:spcPct val="150000"/>
              </a:lnSpc>
              <a:spcBef>
                <a:spcPts val="500"/>
              </a:spcBef>
              <a:spcAft>
                <a:spcPts val="0"/>
              </a:spcAft>
              <a:buSzPct val="81081"/>
              <a:buChar char="•"/>
            </a:pPr>
            <a:r>
              <a:rPr lang="en-US" b="1" dirty="0">
                <a:solidFill>
                  <a:schemeClr val="tx1"/>
                </a:solidFill>
              </a:rPr>
              <a:t>Security</a:t>
            </a:r>
            <a:r>
              <a:rPr lang="en-US" dirty="0">
                <a:solidFill>
                  <a:schemeClr val="tx1"/>
                </a:solidFill>
              </a:rPr>
              <a:t>: The asymmetric encryption goes only one way. This means that if the server tries to send the encrypted data back to the client, anyone can decrypt the data using the public key. </a:t>
            </a:r>
            <a:endParaRPr dirty="0">
              <a:solidFill>
                <a:schemeClr val="tx1"/>
              </a:solidFill>
            </a:endParaRPr>
          </a:p>
          <a:p>
            <a:pPr marL="914400" lvl="1" indent="-342900" algn="just" rtl="0">
              <a:lnSpc>
                <a:spcPct val="150000"/>
              </a:lnSpc>
              <a:spcBef>
                <a:spcPts val="500"/>
              </a:spcBef>
              <a:spcAft>
                <a:spcPts val="0"/>
              </a:spcAft>
              <a:buSzPct val="81081"/>
              <a:buChar char="•"/>
            </a:pPr>
            <a:r>
              <a:rPr lang="en-US" b="1" dirty="0">
                <a:solidFill>
                  <a:schemeClr val="tx1"/>
                </a:solidFill>
              </a:rPr>
              <a:t>Server resources</a:t>
            </a:r>
            <a:r>
              <a:rPr lang="en-US" dirty="0">
                <a:solidFill>
                  <a:schemeClr val="tx1"/>
                </a:solidFill>
              </a:rPr>
              <a:t>: The asymmetric encryption adds quite a lot of mathematical overhead. It is not suitable for data transmissions in long sessions.</a:t>
            </a:r>
            <a:endParaRPr dirty="0">
              <a:solidFill>
                <a:schemeClr val="tx1"/>
              </a:solidFill>
            </a:endParaRPr>
          </a:p>
        </p:txBody>
      </p:sp>
      <p:sp>
        <p:nvSpPr>
          <p:cNvPr id="148" name="Google Shape;148;p91">
            <a:extLst>
              <a:ext uri="{FF2B5EF4-FFF2-40B4-BE49-F238E27FC236}">
                <a16:creationId xmlns:a16="http://schemas.microsoft.com/office/drawing/2014/main" id="{195F9B04-F7FF-6155-1CEA-2F9E02AD9E9D}"/>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Tree>
    <p:extLst>
      <p:ext uri="{BB962C8B-B14F-4D97-AF65-F5344CB8AC3E}">
        <p14:creationId xmlns:p14="http://schemas.microsoft.com/office/powerpoint/2010/main" val="3064381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2"/>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a:t>Generate SSL certificates</a:t>
            </a:r>
            <a:endParaRPr dirty="0"/>
          </a:p>
        </p:txBody>
      </p:sp>
      <p:sp>
        <p:nvSpPr>
          <p:cNvPr id="155" name="Google Shape;155;p92"/>
          <p:cNvSpPr txBox="1">
            <a:spLocks noGrp="1"/>
          </p:cNvSpPr>
          <p:nvPr>
            <p:ph type="body" idx="1"/>
          </p:nvPr>
        </p:nvSpPr>
        <p:spPr>
          <a:xfrm>
            <a:off x="948830" y="1013990"/>
            <a:ext cx="10645294" cy="4830020"/>
          </a:xfrm>
          <a:prstGeom prst="rect">
            <a:avLst/>
          </a:prstGeom>
          <a:noFill/>
          <a:ln>
            <a:noFill/>
          </a:ln>
        </p:spPr>
        <p:txBody>
          <a:bodyPr spcFirstLastPara="1" wrap="square" lIns="91425" tIns="45700" rIns="91425" bIns="45700" anchor="t" anchorCtr="0">
            <a:normAutofit fontScale="77500" lnSpcReduction="20000"/>
          </a:bodyPr>
          <a:lstStyle/>
          <a:p>
            <a:pPr marL="114300" indent="0">
              <a:lnSpc>
                <a:spcPct val="160000"/>
              </a:lnSpc>
              <a:buNone/>
            </a:pPr>
            <a:r>
              <a:rPr lang="en-GB" dirty="0">
                <a:solidFill>
                  <a:schemeClr val="tx1"/>
                </a:solidFill>
              </a:rPr>
              <a:t>The first step in enabling HTTPS for a Node.js application is to obtain a TLS certificate, commonly called an SSL certificate. Two common options are self-signed certificates and certificates issued by a Certificate Authority (CA).</a:t>
            </a:r>
          </a:p>
          <a:p>
            <a:pPr>
              <a:lnSpc>
                <a:spcPct val="160000"/>
              </a:lnSpc>
            </a:pPr>
            <a:r>
              <a:rPr lang="en-GB" b="1" dirty="0">
                <a:solidFill>
                  <a:schemeClr val="tx1"/>
                </a:solidFill>
              </a:rPr>
              <a:t>Self-signed certificates</a:t>
            </a:r>
            <a:r>
              <a:rPr lang="en-GB" dirty="0">
                <a:solidFill>
                  <a:schemeClr val="tx1"/>
                </a:solidFill>
              </a:rPr>
              <a:t> can be generated at no cost and are useful for local development and testing. Browsers do not trust them by default, making them unsuitable for public production websites.</a:t>
            </a:r>
          </a:p>
          <a:p>
            <a:pPr>
              <a:lnSpc>
                <a:spcPct val="160000"/>
              </a:lnSpc>
            </a:pPr>
            <a:r>
              <a:rPr lang="en-GB" b="1" dirty="0">
                <a:solidFill>
                  <a:schemeClr val="tx1"/>
                </a:solidFill>
              </a:rPr>
              <a:t>Certificates issued by a trusted CA</a:t>
            </a:r>
            <a:r>
              <a:rPr lang="en-GB" dirty="0">
                <a:solidFill>
                  <a:schemeClr val="tx1"/>
                </a:solidFill>
              </a:rPr>
              <a:t> are recognized by most browsers and are suitable for production websites. They may be available for free or purchased from a certificate provider.</a:t>
            </a:r>
          </a:p>
        </p:txBody>
      </p:sp>
      <p:sp>
        <p:nvSpPr>
          <p:cNvPr id="156" name="Google Shape;156;p9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93"/>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a:t>Generate SSL certificates – MAC</a:t>
            </a:r>
            <a:endParaRPr dirty="0"/>
          </a:p>
        </p:txBody>
      </p:sp>
      <p:sp>
        <p:nvSpPr>
          <p:cNvPr id="162" name="Google Shape;162;p93"/>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114300" lvl="0" indent="0" algn="just">
              <a:buNone/>
            </a:pPr>
            <a:r>
              <a:rPr lang="en-GB" dirty="0">
                <a:solidFill>
                  <a:schemeClr val="tx1"/>
                </a:solidFill>
              </a:rPr>
              <a:t>brew install openssl@3</a:t>
            </a:r>
          </a:p>
          <a:p>
            <a:pPr marL="114300" lvl="0" indent="0" algn="just">
              <a:buNone/>
            </a:pPr>
            <a:r>
              <a:rPr lang="en-GB" dirty="0">
                <a:solidFill>
                  <a:schemeClr val="tx1"/>
                </a:solidFill>
              </a:rPr>
              <a:t>export PATH="$(brew --prefix openssl@3)/bin:$PATH”</a:t>
            </a:r>
          </a:p>
          <a:p>
            <a:pPr marL="114300" lvl="0" indent="0" algn="just">
              <a:buNone/>
            </a:pPr>
            <a:r>
              <a:rPr lang="en-GB" dirty="0" err="1">
                <a:solidFill>
                  <a:schemeClr val="tx1"/>
                </a:solidFill>
              </a:rPr>
              <a:t>openssl</a:t>
            </a:r>
            <a:r>
              <a:rPr lang="en-GB" dirty="0">
                <a:solidFill>
                  <a:schemeClr val="tx1"/>
                </a:solidFill>
              </a:rPr>
              <a:t> version</a:t>
            </a:r>
            <a:endParaRPr dirty="0">
              <a:solidFill>
                <a:schemeClr val="tx1"/>
              </a:solidFill>
            </a:endParaRPr>
          </a:p>
        </p:txBody>
      </p:sp>
      <p:sp>
        <p:nvSpPr>
          <p:cNvPr id="163" name="Google Shape;163;p9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550217AB-FD43-4ECC-C9AF-AD3DB60ACC9D}"/>
            </a:ext>
          </a:extLst>
        </p:cNvPr>
        <p:cNvGrpSpPr/>
        <p:nvPr/>
      </p:nvGrpSpPr>
      <p:grpSpPr>
        <a:xfrm>
          <a:off x="0" y="0"/>
          <a:ext cx="0" cy="0"/>
          <a:chOff x="0" y="0"/>
          <a:chExt cx="0" cy="0"/>
        </a:xfrm>
      </p:grpSpPr>
      <p:sp>
        <p:nvSpPr>
          <p:cNvPr id="161" name="Google Shape;161;p93">
            <a:extLst>
              <a:ext uri="{FF2B5EF4-FFF2-40B4-BE49-F238E27FC236}">
                <a16:creationId xmlns:a16="http://schemas.microsoft.com/office/drawing/2014/main" id="{E23E7D2C-9632-B5CD-A8FD-F81A86ACD91B}"/>
              </a:ext>
            </a:extLst>
          </p:cNvPr>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a:t>Generate SSL certificates </a:t>
            </a:r>
            <a:endParaRPr dirty="0"/>
          </a:p>
        </p:txBody>
      </p:sp>
      <p:sp>
        <p:nvSpPr>
          <p:cNvPr id="162" name="Google Shape;162;p93">
            <a:extLst>
              <a:ext uri="{FF2B5EF4-FFF2-40B4-BE49-F238E27FC236}">
                <a16:creationId xmlns:a16="http://schemas.microsoft.com/office/drawing/2014/main" id="{35351D7C-AC51-4184-FF12-3FC4DDD3CE07}"/>
              </a:ext>
            </a:extLst>
          </p:cNvPr>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ts val="1800"/>
              <a:buNone/>
            </a:pPr>
            <a:r>
              <a:rPr lang="en-US" dirty="0">
                <a:solidFill>
                  <a:schemeClr val="tx1"/>
                </a:solidFill>
              </a:rPr>
              <a:t>Download and Install OpenSSL from a reliable source. One commonly used build for Windows is available from </a:t>
            </a:r>
            <a:r>
              <a:rPr lang="en-US" b="1" u="sng" dirty="0">
                <a:solidFill>
                  <a:schemeClr val="tx1"/>
                </a:solidFill>
                <a:hlinkClick r:id="rId3">
                  <a:extLst>
                    <a:ext uri="{A12FA001-AC4F-418D-AE19-62706E023703}">
                      <ahyp:hlinkClr xmlns:ahyp="http://schemas.microsoft.com/office/drawing/2018/hyperlinkcolor" val="tx"/>
                    </a:ext>
                  </a:extLst>
                </a:hlinkClick>
              </a:rPr>
              <a:t>Win32/Win64 OpenSSL</a:t>
            </a:r>
            <a:r>
              <a:rPr lang="en-US" dirty="0">
                <a:solidFill>
                  <a:schemeClr val="tx1"/>
                </a:solidFill>
              </a:rPr>
              <a:t>.</a:t>
            </a:r>
            <a:endParaRPr dirty="0">
              <a:solidFill>
                <a:schemeClr val="tx1"/>
              </a:solidFill>
            </a:endParaRPr>
          </a:p>
        </p:txBody>
      </p:sp>
      <p:sp>
        <p:nvSpPr>
          <p:cNvPr id="163" name="Google Shape;163;p93">
            <a:extLst>
              <a:ext uri="{FF2B5EF4-FFF2-40B4-BE49-F238E27FC236}">
                <a16:creationId xmlns:a16="http://schemas.microsoft.com/office/drawing/2014/main" id="{15BCADB1-B783-2C8F-E1A1-AC474B5FD662}"/>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164" name="Google Shape;164;p93">
            <a:extLst>
              <a:ext uri="{FF2B5EF4-FFF2-40B4-BE49-F238E27FC236}">
                <a16:creationId xmlns:a16="http://schemas.microsoft.com/office/drawing/2014/main" id="{74405714-1C49-92EE-2263-C21092A9A3B6}"/>
              </a:ext>
            </a:extLst>
          </p:cNvPr>
          <p:cNvPicPr preferRelativeResize="0"/>
          <p:nvPr/>
        </p:nvPicPr>
        <p:blipFill rotWithShape="1">
          <a:blip r:embed="rId4">
            <a:alphaModFix/>
          </a:blip>
          <a:srcRect t="9043" r="4649" b="4280"/>
          <a:stretch/>
        </p:blipFill>
        <p:spPr>
          <a:xfrm>
            <a:off x="976910" y="2660843"/>
            <a:ext cx="5928882" cy="3294075"/>
          </a:xfrm>
          <a:prstGeom prst="rect">
            <a:avLst/>
          </a:prstGeom>
          <a:noFill/>
          <a:ln>
            <a:noFill/>
          </a:ln>
        </p:spPr>
      </p:pic>
      <p:pic>
        <p:nvPicPr>
          <p:cNvPr id="165" name="Google Shape;165;p93">
            <a:extLst>
              <a:ext uri="{FF2B5EF4-FFF2-40B4-BE49-F238E27FC236}">
                <a16:creationId xmlns:a16="http://schemas.microsoft.com/office/drawing/2014/main" id="{31053EB9-9CD4-54EA-B66F-91004869445F}"/>
              </a:ext>
            </a:extLst>
          </p:cNvPr>
          <p:cNvPicPr preferRelativeResize="0"/>
          <p:nvPr/>
        </p:nvPicPr>
        <p:blipFill rotWithShape="1">
          <a:blip r:embed="rId5">
            <a:alphaModFix/>
          </a:blip>
          <a:srcRect/>
          <a:stretch/>
        </p:blipFill>
        <p:spPr>
          <a:xfrm>
            <a:off x="7253622" y="2660842"/>
            <a:ext cx="4238888" cy="3294075"/>
          </a:xfrm>
          <a:prstGeom prst="rect">
            <a:avLst/>
          </a:prstGeom>
          <a:noFill/>
          <a:ln>
            <a:noFill/>
          </a:ln>
        </p:spPr>
      </p:pic>
    </p:spTree>
    <p:extLst>
      <p:ext uri="{BB962C8B-B14F-4D97-AF65-F5344CB8AC3E}">
        <p14:creationId xmlns:p14="http://schemas.microsoft.com/office/powerpoint/2010/main" val="982824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94"/>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a:t>Generate SSL certificates </a:t>
            </a:r>
            <a:endParaRPr dirty="0"/>
          </a:p>
        </p:txBody>
      </p:sp>
      <p:sp>
        <p:nvSpPr>
          <p:cNvPr id="171" name="Google Shape;171;p94"/>
          <p:cNvSpPr txBox="1">
            <a:spLocks noGrp="1"/>
          </p:cNvSpPr>
          <p:nvPr>
            <p:ph type="body" idx="1"/>
          </p:nvPr>
        </p:nvSpPr>
        <p:spPr>
          <a:xfrm>
            <a:off x="838200" y="1067685"/>
            <a:ext cx="10515600" cy="4351338"/>
          </a:xfrm>
          <a:prstGeom prst="rect">
            <a:avLst/>
          </a:prstGeom>
          <a:noFill/>
          <a:ln>
            <a:noFill/>
          </a:ln>
        </p:spPr>
        <p:txBody>
          <a:bodyPr spcFirstLastPara="1" wrap="square" lIns="91425" tIns="45700" rIns="91425" bIns="45700" anchor="t" anchorCtr="0">
            <a:normAutofit/>
          </a:bodyPr>
          <a:lstStyle/>
          <a:p>
            <a:pPr marL="114300" lvl="0" indent="0" algn="just" rtl="0">
              <a:lnSpc>
                <a:spcPct val="150000"/>
              </a:lnSpc>
              <a:spcBef>
                <a:spcPts val="1000"/>
              </a:spcBef>
              <a:spcAft>
                <a:spcPts val="0"/>
              </a:spcAft>
              <a:buSzPts val="1800"/>
              <a:buNone/>
            </a:pPr>
            <a:r>
              <a:rPr lang="en-US" dirty="0">
                <a:solidFill>
                  <a:schemeClr val="tx1"/>
                </a:solidFill>
              </a:rPr>
              <a:t>Add OpenSSL to the PATH Environment Variable: </a:t>
            </a:r>
            <a:r>
              <a:rPr lang="en-US" dirty="0">
                <a:solidFill>
                  <a:schemeClr val="tx1"/>
                </a:solidFill>
                <a:latin typeface="Courier New"/>
                <a:ea typeface="Courier New"/>
                <a:cs typeface="Courier New"/>
                <a:sym typeface="Courier New"/>
              </a:rPr>
              <a:t>C:\Program Files\OpenSSL-Win64\bin</a:t>
            </a:r>
            <a:endParaRPr dirty="0">
              <a:solidFill>
                <a:schemeClr val="tx1"/>
              </a:solidFill>
            </a:endParaRPr>
          </a:p>
          <a:p>
            <a:pPr marL="457200" lvl="0" indent="-228600" algn="l" rtl="0">
              <a:lnSpc>
                <a:spcPct val="150000"/>
              </a:lnSpc>
              <a:spcBef>
                <a:spcPts val="1000"/>
              </a:spcBef>
              <a:spcAft>
                <a:spcPts val="0"/>
              </a:spcAft>
              <a:buClr>
                <a:schemeClr val="dk1"/>
              </a:buClr>
              <a:buSzPts val="1800"/>
              <a:buNone/>
            </a:pPr>
            <a:endParaRPr dirty="0">
              <a:solidFill>
                <a:schemeClr val="tx1"/>
              </a:solidFill>
            </a:endParaRPr>
          </a:p>
        </p:txBody>
      </p:sp>
      <p:sp>
        <p:nvSpPr>
          <p:cNvPr id="172" name="Google Shape;172;p9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73" name="Google Shape;173;p94"/>
          <p:cNvPicPr preferRelativeResize="0"/>
          <p:nvPr/>
        </p:nvPicPr>
        <p:blipFill rotWithShape="1">
          <a:blip r:embed="rId3">
            <a:alphaModFix/>
          </a:blip>
          <a:srcRect/>
          <a:stretch/>
        </p:blipFill>
        <p:spPr>
          <a:xfrm>
            <a:off x="1342456" y="2521690"/>
            <a:ext cx="4016979" cy="3821980"/>
          </a:xfrm>
          <a:prstGeom prst="rect">
            <a:avLst/>
          </a:prstGeom>
          <a:noFill/>
          <a:ln>
            <a:noFill/>
          </a:ln>
        </p:spPr>
      </p:pic>
      <p:pic>
        <p:nvPicPr>
          <p:cNvPr id="174" name="Google Shape;174;p94"/>
          <p:cNvPicPr preferRelativeResize="0"/>
          <p:nvPr/>
        </p:nvPicPr>
        <p:blipFill rotWithShape="1">
          <a:blip r:embed="rId4">
            <a:alphaModFix/>
          </a:blip>
          <a:srcRect/>
          <a:stretch/>
        </p:blipFill>
        <p:spPr>
          <a:xfrm>
            <a:off x="5863690" y="2530215"/>
            <a:ext cx="5439811" cy="288880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E3E543A9-C926-0FAA-CDF2-9BBCBA526A43}"/>
            </a:ext>
          </a:extLst>
        </p:cNvPr>
        <p:cNvGrpSpPr/>
        <p:nvPr/>
      </p:nvGrpSpPr>
      <p:grpSpPr>
        <a:xfrm>
          <a:off x="0" y="0"/>
          <a:ext cx="0" cy="0"/>
          <a:chOff x="0" y="0"/>
          <a:chExt cx="0" cy="0"/>
        </a:xfrm>
      </p:grpSpPr>
      <p:sp>
        <p:nvSpPr>
          <p:cNvPr id="161" name="Google Shape;161;p93">
            <a:extLst>
              <a:ext uri="{FF2B5EF4-FFF2-40B4-BE49-F238E27FC236}">
                <a16:creationId xmlns:a16="http://schemas.microsoft.com/office/drawing/2014/main" id="{EB01CEF2-0B94-EC88-A5FD-96E3027A1660}"/>
              </a:ext>
            </a:extLst>
          </p:cNvPr>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a:t>Generate SSL certificates – MAC</a:t>
            </a:r>
            <a:endParaRPr dirty="0"/>
          </a:p>
        </p:txBody>
      </p:sp>
      <p:sp>
        <p:nvSpPr>
          <p:cNvPr id="162" name="Google Shape;162;p93">
            <a:extLst>
              <a:ext uri="{FF2B5EF4-FFF2-40B4-BE49-F238E27FC236}">
                <a16:creationId xmlns:a16="http://schemas.microsoft.com/office/drawing/2014/main" id="{F227C246-D863-C82D-DAD1-2A8BFD05D2CF}"/>
              </a:ext>
            </a:extLst>
          </p:cNvPr>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114300" lvl="0" indent="0" algn="just">
              <a:buNone/>
            </a:pPr>
            <a:r>
              <a:rPr lang="en-GB" dirty="0">
                <a:solidFill>
                  <a:schemeClr val="tx1"/>
                </a:solidFill>
              </a:rPr>
              <a:t>Creating the certs folder</a:t>
            </a:r>
          </a:p>
          <a:p>
            <a:pPr marL="114300" lvl="0" indent="0" algn="just">
              <a:buNone/>
            </a:pPr>
            <a:r>
              <a:rPr lang="en-GB" dirty="0"/>
              <a:t>[</a:t>
            </a:r>
            <a:r>
              <a:rPr lang="en-GB" dirty="0" err="1"/>
              <a:t>req</a:t>
            </a:r>
            <a:r>
              <a:rPr lang="en-GB" dirty="0"/>
              <a:t>] prompt = no </a:t>
            </a:r>
          </a:p>
          <a:p>
            <a:pPr marL="114300" lvl="0" indent="0" algn="just">
              <a:buNone/>
            </a:pPr>
            <a:r>
              <a:rPr lang="en-GB" dirty="0" err="1"/>
              <a:t>distinguished_name</a:t>
            </a:r>
            <a:r>
              <a:rPr lang="en-GB" dirty="0"/>
              <a:t> = </a:t>
            </a:r>
            <a:r>
              <a:rPr lang="en-GB" dirty="0" err="1"/>
              <a:t>dn</a:t>
            </a:r>
            <a:r>
              <a:rPr lang="en-GB" dirty="0"/>
              <a:t> </a:t>
            </a:r>
          </a:p>
          <a:p>
            <a:pPr marL="114300" lvl="0" indent="0" algn="just">
              <a:buNone/>
            </a:pPr>
            <a:r>
              <a:rPr lang="en-GB" dirty="0"/>
              <a:t>x509_extensions = extensions </a:t>
            </a:r>
          </a:p>
          <a:p>
            <a:pPr marL="114300" lvl="0" indent="0" algn="just">
              <a:buNone/>
            </a:pPr>
            <a:r>
              <a:rPr lang="en-GB" dirty="0"/>
              <a:t>[</a:t>
            </a:r>
            <a:r>
              <a:rPr lang="en-GB" dirty="0" err="1"/>
              <a:t>dn</a:t>
            </a:r>
            <a:r>
              <a:rPr lang="en-GB" dirty="0"/>
              <a:t>] </a:t>
            </a:r>
          </a:p>
          <a:p>
            <a:pPr marL="114300" lvl="0" indent="0" algn="just">
              <a:buNone/>
            </a:pPr>
            <a:r>
              <a:rPr lang="en-GB" dirty="0"/>
              <a:t>CN = localhost </a:t>
            </a:r>
          </a:p>
          <a:p>
            <a:pPr marL="114300" lvl="0" indent="0" algn="just">
              <a:buNone/>
            </a:pPr>
            <a:r>
              <a:rPr lang="en-GB" dirty="0"/>
              <a:t>[extensions] </a:t>
            </a:r>
          </a:p>
          <a:p>
            <a:pPr marL="114300" lvl="0" indent="0" algn="just">
              <a:buNone/>
            </a:pPr>
            <a:r>
              <a:rPr lang="en-GB" dirty="0" err="1"/>
              <a:t>subjectAltName</a:t>
            </a:r>
            <a:r>
              <a:rPr lang="en-GB" dirty="0"/>
              <a:t> = DNS:localhost,IP:127.0.0.1 </a:t>
            </a:r>
          </a:p>
          <a:p>
            <a:pPr marL="114300" lvl="0" indent="0" algn="just">
              <a:buNone/>
            </a:pPr>
            <a:r>
              <a:rPr lang="en-GB" dirty="0" err="1"/>
              <a:t>basicConstraints</a:t>
            </a:r>
            <a:r>
              <a:rPr lang="en-GB" dirty="0"/>
              <a:t> = CA:FALSE </a:t>
            </a:r>
          </a:p>
          <a:p>
            <a:pPr marL="114300" lvl="0" indent="0" algn="just">
              <a:buNone/>
            </a:pPr>
            <a:r>
              <a:rPr lang="en-GB" dirty="0" err="1"/>
              <a:t>keyUsage</a:t>
            </a:r>
            <a:r>
              <a:rPr lang="en-GB" dirty="0"/>
              <a:t> = </a:t>
            </a:r>
            <a:r>
              <a:rPr lang="en-GB" dirty="0" err="1"/>
              <a:t>digitalSignature,keyEncipherment</a:t>
            </a:r>
            <a:r>
              <a:rPr lang="en-GB" dirty="0"/>
              <a:t> </a:t>
            </a:r>
          </a:p>
          <a:p>
            <a:pPr marL="114300" lvl="0" indent="0" algn="just">
              <a:buNone/>
            </a:pPr>
            <a:r>
              <a:rPr lang="en-GB" dirty="0" err="1"/>
              <a:t>extendedKeyUsage</a:t>
            </a:r>
            <a:r>
              <a:rPr lang="en-GB" dirty="0"/>
              <a:t> = </a:t>
            </a:r>
            <a:r>
              <a:rPr lang="en-GB" dirty="0" err="1"/>
              <a:t>serverAuth</a:t>
            </a:r>
            <a:r>
              <a:rPr lang="en-GB" dirty="0"/>
              <a:t> EOF</a:t>
            </a:r>
            <a:endParaRPr dirty="0">
              <a:solidFill>
                <a:schemeClr val="tx1"/>
              </a:solidFill>
            </a:endParaRPr>
          </a:p>
        </p:txBody>
      </p:sp>
      <p:sp>
        <p:nvSpPr>
          <p:cNvPr id="163" name="Google Shape;163;p93">
            <a:extLst>
              <a:ext uri="{FF2B5EF4-FFF2-40B4-BE49-F238E27FC236}">
                <a16:creationId xmlns:a16="http://schemas.microsoft.com/office/drawing/2014/main" id="{6418901E-6106-4040-3F3C-CDA82BB86669}"/>
              </a:ext>
            </a:extLst>
          </p:cNvPr>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2" name="Picture 1">
            <a:extLst>
              <a:ext uri="{FF2B5EF4-FFF2-40B4-BE49-F238E27FC236}">
                <a16:creationId xmlns:a16="http://schemas.microsoft.com/office/drawing/2014/main" id="{5CB372E7-62C3-3AE2-4330-2750D1168056}"/>
              </a:ext>
            </a:extLst>
          </p:cNvPr>
          <p:cNvPicPr>
            <a:picLocks noChangeAspect="1"/>
          </p:cNvPicPr>
          <p:nvPr/>
        </p:nvPicPr>
        <p:blipFill>
          <a:blip r:embed="rId3"/>
          <a:stretch>
            <a:fillRect/>
          </a:stretch>
        </p:blipFill>
        <p:spPr>
          <a:xfrm>
            <a:off x="6062353" y="1274391"/>
            <a:ext cx="5553694" cy="2548404"/>
          </a:xfrm>
          <a:prstGeom prst="rect">
            <a:avLst/>
          </a:prstGeom>
        </p:spPr>
      </p:pic>
    </p:spTree>
    <p:extLst>
      <p:ext uri="{BB962C8B-B14F-4D97-AF65-F5344CB8AC3E}">
        <p14:creationId xmlns:p14="http://schemas.microsoft.com/office/powerpoint/2010/main" val="101786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95"/>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dirty="0"/>
              <a:t>Generate SSL certificates </a:t>
            </a:r>
            <a:endParaRPr dirty="0"/>
          </a:p>
        </p:txBody>
      </p:sp>
      <p:sp>
        <p:nvSpPr>
          <p:cNvPr id="181" name="Google Shape;181;p95"/>
          <p:cNvSpPr txBox="1">
            <a:spLocks noGrp="1"/>
          </p:cNvSpPr>
          <p:nvPr>
            <p:ph type="body" idx="1"/>
          </p:nvPr>
        </p:nvSpPr>
        <p:spPr>
          <a:xfrm>
            <a:off x="838200" y="1195642"/>
            <a:ext cx="10515600"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1000"/>
              </a:spcBef>
              <a:spcAft>
                <a:spcPts val="0"/>
              </a:spcAft>
              <a:buSzPts val="1800"/>
              <a:buChar char="•"/>
            </a:pPr>
            <a:r>
              <a:rPr lang="en-US" dirty="0">
                <a:solidFill>
                  <a:schemeClr val="tx1"/>
                </a:solidFill>
              </a:rPr>
              <a:t>To generate a self-signed SSL certificate, you can use the OpenSSL command-line tool. Here ‘s now:</a:t>
            </a:r>
            <a:endParaRPr dirty="0">
              <a:solidFill>
                <a:schemeClr val="tx1"/>
              </a:solidFill>
            </a:endParaRPr>
          </a:p>
          <a:p>
            <a:pPr marL="114300" lvl="0" indent="0" algn="just" rtl="0">
              <a:lnSpc>
                <a:spcPct val="150000"/>
              </a:lnSpc>
              <a:spcBef>
                <a:spcPts val="1000"/>
              </a:spcBef>
              <a:spcAft>
                <a:spcPts val="0"/>
              </a:spcAft>
              <a:buSzPts val="1800"/>
              <a:buNone/>
            </a:pPr>
            <a:r>
              <a:rPr lang="en-US" dirty="0" err="1">
                <a:solidFill>
                  <a:schemeClr val="tx1"/>
                </a:solidFill>
                <a:latin typeface="Courier New"/>
                <a:ea typeface="Courier New"/>
                <a:cs typeface="Courier New"/>
                <a:sym typeface="Courier New"/>
              </a:rPr>
              <a:t>openssl</a:t>
            </a:r>
            <a:r>
              <a:rPr lang="en-US" dirty="0">
                <a:solidFill>
                  <a:schemeClr val="tx1"/>
                </a:solidFill>
                <a:latin typeface="Courier New"/>
                <a:ea typeface="Courier New"/>
                <a:cs typeface="Courier New"/>
                <a:sym typeface="Courier New"/>
              </a:rPr>
              <a:t> req -x509 -</a:t>
            </a:r>
            <a:r>
              <a:rPr lang="en-US" dirty="0" err="1">
                <a:solidFill>
                  <a:schemeClr val="tx1"/>
                </a:solidFill>
                <a:latin typeface="Courier New"/>
                <a:ea typeface="Courier New"/>
                <a:cs typeface="Courier New"/>
                <a:sym typeface="Courier New"/>
              </a:rPr>
              <a:t>newkey</a:t>
            </a:r>
            <a:r>
              <a:rPr lang="en-US" dirty="0">
                <a:solidFill>
                  <a:schemeClr val="tx1"/>
                </a:solidFill>
                <a:latin typeface="Courier New"/>
                <a:ea typeface="Courier New"/>
                <a:cs typeface="Courier New"/>
                <a:sym typeface="Courier New"/>
              </a:rPr>
              <a:t> rsa:2048 -nodes -sha256 -subj "/CN=localhost" -</a:t>
            </a:r>
            <a:r>
              <a:rPr lang="en-US" dirty="0" err="1">
                <a:solidFill>
                  <a:schemeClr val="tx1"/>
                </a:solidFill>
                <a:latin typeface="Courier New"/>
                <a:ea typeface="Courier New"/>
                <a:cs typeface="Courier New"/>
                <a:sym typeface="Courier New"/>
              </a:rPr>
              <a:t>keyout</a:t>
            </a:r>
            <a:r>
              <a:rPr lang="en-US" dirty="0">
                <a:solidFill>
                  <a:schemeClr val="tx1"/>
                </a:solidFill>
                <a:latin typeface="Courier New"/>
                <a:ea typeface="Courier New"/>
                <a:cs typeface="Courier New"/>
                <a:sym typeface="Courier New"/>
              </a:rPr>
              <a:t> </a:t>
            </a:r>
            <a:r>
              <a:rPr lang="en-US" dirty="0" err="1">
                <a:solidFill>
                  <a:schemeClr val="tx1"/>
                </a:solidFill>
                <a:latin typeface="Courier New"/>
                <a:ea typeface="Courier New"/>
                <a:cs typeface="Courier New"/>
                <a:sym typeface="Courier New"/>
              </a:rPr>
              <a:t>server.key</a:t>
            </a:r>
            <a:r>
              <a:rPr lang="en-US" dirty="0">
                <a:solidFill>
                  <a:schemeClr val="tx1"/>
                </a:solidFill>
                <a:latin typeface="Courier New"/>
                <a:ea typeface="Courier New"/>
                <a:cs typeface="Courier New"/>
                <a:sym typeface="Courier New"/>
              </a:rPr>
              <a:t> -out </a:t>
            </a:r>
            <a:r>
              <a:rPr lang="en-US" dirty="0" err="1">
                <a:solidFill>
                  <a:schemeClr val="tx1"/>
                </a:solidFill>
                <a:latin typeface="Courier New"/>
                <a:ea typeface="Courier New"/>
                <a:cs typeface="Courier New"/>
                <a:sym typeface="Courier New"/>
              </a:rPr>
              <a:t>server.crt</a:t>
            </a:r>
            <a:endParaRPr dirty="0">
              <a:solidFill>
                <a:schemeClr val="tx1"/>
              </a:solidFill>
            </a:endParaRPr>
          </a:p>
          <a:p>
            <a:pPr marL="457200" lvl="0" indent="-228600" algn="l" rtl="0">
              <a:lnSpc>
                <a:spcPct val="150000"/>
              </a:lnSpc>
              <a:spcBef>
                <a:spcPts val="1000"/>
              </a:spcBef>
              <a:spcAft>
                <a:spcPts val="0"/>
              </a:spcAft>
              <a:buClr>
                <a:schemeClr val="dk1"/>
              </a:buClr>
              <a:buSzPts val="1800"/>
              <a:buNone/>
            </a:pPr>
            <a:endParaRPr dirty="0">
              <a:solidFill>
                <a:schemeClr val="tx1"/>
              </a:solidFill>
            </a:endParaRPr>
          </a:p>
        </p:txBody>
      </p:sp>
      <p:sp>
        <p:nvSpPr>
          <p:cNvPr id="182" name="Google Shape;182;p9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183" name="Google Shape;183;p95"/>
          <p:cNvPicPr preferRelativeResize="0"/>
          <p:nvPr/>
        </p:nvPicPr>
        <p:blipFill rotWithShape="1">
          <a:blip r:embed="rId3">
            <a:alphaModFix/>
          </a:blip>
          <a:srcRect/>
          <a:stretch/>
        </p:blipFill>
        <p:spPr>
          <a:xfrm>
            <a:off x="5256151" y="4103077"/>
            <a:ext cx="6097649" cy="22252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96"/>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Set up HTTPS</a:t>
            </a:r>
            <a:endParaRPr/>
          </a:p>
        </p:txBody>
      </p:sp>
      <p:sp>
        <p:nvSpPr>
          <p:cNvPr id="189" name="Google Shape;189;p96"/>
          <p:cNvSpPr txBox="1">
            <a:spLocks noGrp="1"/>
          </p:cNvSpPr>
          <p:nvPr>
            <p:ph type="body" idx="1"/>
          </p:nvPr>
        </p:nvSpPr>
        <p:spPr>
          <a:xfrm>
            <a:off x="838200" y="1535811"/>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dirty="0">
                <a:solidFill>
                  <a:schemeClr val="tx1"/>
                </a:solidFill>
              </a:rPr>
              <a:t>How to set up HTTPS using the https module:</a:t>
            </a:r>
            <a:endParaRPr dirty="0">
              <a:solidFill>
                <a:schemeClr val="tx1"/>
              </a:solidFill>
            </a:endParaRPr>
          </a:p>
        </p:txBody>
      </p:sp>
      <p:sp>
        <p:nvSpPr>
          <p:cNvPr id="190" name="Google Shape;190;p9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191" name="Google Shape;191;p96"/>
          <p:cNvSpPr txBox="1"/>
          <p:nvPr/>
        </p:nvSpPr>
        <p:spPr>
          <a:xfrm>
            <a:off x="5168766" y="2347977"/>
            <a:ext cx="6872438" cy="2893100"/>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const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4EC9B0"/>
                </a:solidFill>
                <a:latin typeface="Consolas"/>
                <a:ea typeface="Consolas"/>
                <a:cs typeface="Consolas"/>
                <a:sym typeface="Consolas"/>
              </a:rPr>
              <a:t>https</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require</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'https'</a:t>
            </a:r>
            <a:r>
              <a:rPr lang="en-US" sz="14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const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4EC9B0"/>
                </a:solidFill>
                <a:latin typeface="Consolas"/>
                <a:ea typeface="Consolas"/>
                <a:cs typeface="Consolas"/>
                <a:sym typeface="Consolas"/>
              </a:rPr>
              <a:t>fs</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require</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'fs'</a:t>
            </a:r>
            <a:r>
              <a:rPr lang="en-US" sz="14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569CD6"/>
                </a:solidFill>
                <a:latin typeface="Consolas"/>
                <a:ea typeface="Consolas"/>
                <a:cs typeface="Consolas"/>
                <a:sym typeface="Consolas"/>
              </a:rPr>
              <a:t>const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4FC1FF"/>
                </a:solidFill>
                <a:latin typeface="Consolas"/>
                <a:ea typeface="Consolas"/>
                <a:cs typeface="Consolas"/>
                <a:sym typeface="Consolas"/>
              </a:rPr>
              <a:t>path</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DCDCAA"/>
                </a:solidFill>
                <a:latin typeface="Consolas"/>
                <a:ea typeface="Consolas"/>
                <a:cs typeface="Consolas"/>
                <a:sym typeface="Consolas"/>
              </a:rPr>
              <a:t>require</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'path'</a:t>
            </a:r>
            <a:r>
              <a:rPr lang="en-US" sz="14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569CD6"/>
                </a:solidFill>
                <a:latin typeface="Consolas"/>
                <a:ea typeface="Consolas"/>
                <a:cs typeface="Consolas"/>
                <a:sym typeface="Consolas"/>
              </a:rPr>
              <a:t>const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4FC1FF"/>
                </a:solidFill>
                <a:latin typeface="Consolas"/>
                <a:ea typeface="Consolas"/>
                <a:cs typeface="Consolas"/>
                <a:sym typeface="Consolas"/>
              </a:rPr>
              <a:t>options</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D4D4D4"/>
                </a:solidFill>
                <a:latin typeface="Consolas"/>
                <a:ea typeface="Consolas"/>
                <a:cs typeface="Consolas"/>
                <a:sym typeface="Consolas"/>
              </a:rPr>
              <a:t>=</a:t>
            </a:r>
            <a:r>
              <a:rPr lang="en-US" sz="1400" b="0" i="0" u="none" strike="noStrike" cap="none">
                <a:solidFill>
                  <a:srgbClr val="CCCCCC"/>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key:</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4EC9B0"/>
                </a:solidFill>
                <a:latin typeface="Consolas"/>
                <a:ea typeface="Consolas"/>
                <a:cs typeface="Consolas"/>
                <a:sym typeface="Consolas"/>
              </a:rPr>
              <a:t>fs</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readFileSync</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4FC1FF"/>
                </a:solidFill>
                <a:latin typeface="Consolas"/>
                <a:ea typeface="Consolas"/>
                <a:cs typeface="Consolas"/>
                <a:sym typeface="Consolas"/>
              </a:rPr>
              <a:t>path</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join</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__dirname</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'cert'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'server.key'</a:t>
            </a:r>
            <a:r>
              <a:rPr lang="en-US" sz="14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cert: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4EC9B0"/>
                </a:solidFill>
                <a:latin typeface="Consolas"/>
                <a:ea typeface="Consolas"/>
                <a:cs typeface="Consolas"/>
                <a:sym typeface="Consolas"/>
              </a:rPr>
              <a:t>fs</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readFileSync</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4FC1FF"/>
                </a:solidFill>
                <a:latin typeface="Consolas"/>
                <a:ea typeface="Consolas"/>
                <a:cs typeface="Consolas"/>
                <a:sym typeface="Consolas"/>
              </a:rPr>
              <a:t>path</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join</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9CDCFE"/>
                </a:solidFill>
                <a:latin typeface="Consolas"/>
                <a:ea typeface="Consolas"/>
                <a:cs typeface="Consolas"/>
                <a:sym typeface="Consolas"/>
              </a:rPr>
              <a:t>__dirname</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'cert'</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CE9178"/>
                </a:solidFill>
                <a:latin typeface="Consolas"/>
                <a:ea typeface="Consolas"/>
                <a:cs typeface="Consolas"/>
                <a:sym typeface="Consolas"/>
              </a:rPr>
              <a:t>'server.crt'</a:t>
            </a:r>
            <a:r>
              <a:rPr lang="en-US" sz="14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br>
              <a:rPr lang="en-US" sz="1400" b="0" i="0" u="none" strike="noStrike" cap="none">
                <a:solidFill>
                  <a:srgbClr val="CCCCCC"/>
                </a:solidFill>
                <a:latin typeface="Consolas"/>
                <a:ea typeface="Consolas"/>
                <a:cs typeface="Consolas"/>
                <a:sym typeface="Consolas"/>
              </a:rPr>
            </a:br>
            <a:r>
              <a:rPr lang="en-US" sz="1400" b="0" i="0" u="none" strike="noStrike" cap="none">
                <a:solidFill>
                  <a:srgbClr val="4EC9B0"/>
                </a:solidFill>
                <a:latin typeface="Consolas"/>
                <a:ea typeface="Consolas"/>
                <a:cs typeface="Consolas"/>
                <a:sym typeface="Consolas"/>
              </a:rPr>
              <a:t>https</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createServer</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4FC1FF"/>
                </a:solidFill>
                <a:latin typeface="Consolas"/>
                <a:ea typeface="Consolas"/>
                <a:cs typeface="Consolas"/>
                <a:sym typeface="Consolas"/>
              </a:rPr>
              <a:t>options</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req</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res</a:t>
            </a: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569CD6"/>
                </a:solidFill>
                <a:latin typeface="Consolas"/>
                <a:ea typeface="Consolas"/>
                <a:cs typeface="Consolas"/>
                <a:sym typeface="Consolas"/>
              </a:rPr>
              <a:t>=&gt;</a:t>
            </a:r>
            <a:r>
              <a:rPr lang="en-US" sz="1400" b="0" i="0" u="none" strike="noStrike" cap="none">
                <a:solidFill>
                  <a:srgbClr val="CCCCCC"/>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res</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writeHead</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200</a:t>
            </a:r>
            <a:r>
              <a:rPr lang="en-US" sz="14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CCCCCC"/>
                </a:solidFill>
                <a:latin typeface="Consolas"/>
                <a:ea typeface="Consolas"/>
                <a:cs typeface="Consolas"/>
                <a:sym typeface="Consolas"/>
              </a:rPr>
              <a:t>  </a:t>
            </a:r>
            <a:r>
              <a:rPr lang="en-US" sz="1400" b="0" i="0" u="none" strike="noStrike" cap="none">
                <a:solidFill>
                  <a:srgbClr val="9CDCFE"/>
                </a:solidFill>
                <a:latin typeface="Consolas"/>
                <a:ea typeface="Consolas"/>
                <a:cs typeface="Consolas"/>
                <a:sym typeface="Consolas"/>
              </a:rPr>
              <a:t>res</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end</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CE9178"/>
                </a:solidFill>
                <a:latin typeface="Consolas"/>
                <a:ea typeface="Consolas"/>
                <a:cs typeface="Consolas"/>
                <a:sym typeface="Consolas"/>
              </a:rPr>
              <a:t>'Hello, world!'</a:t>
            </a:r>
            <a:r>
              <a:rPr lang="en-US" sz="14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DCDCAA"/>
                </a:solidFill>
                <a:latin typeface="Consolas"/>
                <a:ea typeface="Consolas"/>
                <a:cs typeface="Consolas"/>
                <a:sym typeface="Consolas"/>
              </a:rPr>
              <a:t>listen</a:t>
            </a:r>
            <a:r>
              <a:rPr lang="en-US" sz="1400" b="0" i="0" u="none" strike="noStrike" cap="none">
                <a:solidFill>
                  <a:srgbClr val="CCCCCC"/>
                </a:solidFill>
                <a:latin typeface="Consolas"/>
                <a:ea typeface="Consolas"/>
                <a:cs typeface="Consolas"/>
                <a:sym typeface="Consolas"/>
              </a:rPr>
              <a:t>(</a:t>
            </a:r>
            <a:r>
              <a:rPr lang="en-US" sz="1400" b="0" i="0" u="none" strike="noStrike" cap="none">
                <a:solidFill>
                  <a:srgbClr val="B5CEA8"/>
                </a:solidFill>
                <a:latin typeface="Consolas"/>
                <a:ea typeface="Consolas"/>
                <a:cs typeface="Consolas"/>
                <a:sym typeface="Consolas"/>
              </a:rPr>
              <a:t>443</a:t>
            </a:r>
            <a:r>
              <a:rPr lang="en-US" sz="1400" b="0" i="0" u="none" strike="noStrike" cap="none">
                <a:solidFill>
                  <a:srgbClr val="CCCCCC"/>
                </a:solidFill>
                <a:latin typeface="Consolas"/>
                <a:ea typeface="Consolas"/>
                <a:cs typeface="Consolas"/>
                <a:sym typeface="Consolas"/>
              </a:rPr>
              <a:t>);</a:t>
            </a:r>
            <a:endParaRPr/>
          </a:p>
        </p:txBody>
      </p:sp>
      <p:pic>
        <p:nvPicPr>
          <p:cNvPr id="192" name="Google Shape;192;p96"/>
          <p:cNvPicPr preferRelativeResize="0"/>
          <p:nvPr/>
        </p:nvPicPr>
        <p:blipFill rotWithShape="1">
          <a:blip r:embed="rId3">
            <a:alphaModFix/>
          </a:blip>
          <a:srcRect/>
          <a:stretch/>
        </p:blipFill>
        <p:spPr>
          <a:xfrm>
            <a:off x="838200" y="3826985"/>
            <a:ext cx="4257667" cy="1409157"/>
          </a:xfrm>
          <a:prstGeom prst="rect">
            <a:avLst/>
          </a:prstGeom>
          <a:noFill/>
          <a:ln>
            <a:noFill/>
          </a:ln>
        </p:spPr>
      </p:pic>
      <p:pic>
        <p:nvPicPr>
          <p:cNvPr id="193" name="Google Shape;193;p96"/>
          <p:cNvPicPr preferRelativeResize="0"/>
          <p:nvPr/>
        </p:nvPicPr>
        <p:blipFill rotWithShape="1">
          <a:blip r:embed="rId4">
            <a:alphaModFix/>
          </a:blip>
          <a:srcRect/>
          <a:stretch/>
        </p:blipFill>
        <p:spPr>
          <a:xfrm>
            <a:off x="838200" y="2347977"/>
            <a:ext cx="4229690" cy="133368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97"/>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Redirect HTTP traffic to HTTPS</a:t>
            </a:r>
            <a:endParaRPr/>
          </a:p>
        </p:txBody>
      </p:sp>
      <p:sp>
        <p:nvSpPr>
          <p:cNvPr id="199" name="Google Shape;199;p97"/>
          <p:cNvSpPr txBox="1">
            <a:spLocks noGrp="1"/>
          </p:cNvSpPr>
          <p:nvPr>
            <p:ph type="body" idx="1"/>
          </p:nvPr>
        </p:nvSpPr>
        <p:spPr>
          <a:xfrm>
            <a:off x="838200" y="1280045"/>
            <a:ext cx="4888832"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1000"/>
              </a:spcBef>
              <a:spcAft>
                <a:spcPts val="0"/>
              </a:spcAft>
              <a:buSzPts val="1800"/>
              <a:buChar char="•"/>
            </a:pPr>
            <a:r>
              <a:rPr lang="en-US" dirty="0">
                <a:solidFill>
                  <a:schemeClr val="tx1"/>
                </a:solidFill>
              </a:rPr>
              <a:t>To ensure that all traffic to your NodeJS app is encrypted, you should redirect all HTTP traffic to HTTPS.</a:t>
            </a:r>
            <a:endParaRPr dirty="0">
              <a:solidFill>
                <a:schemeClr val="tx1"/>
              </a:solidFill>
            </a:endParaRPr>
          </a:p>
        </p:txBody>
      </p:sp>
      <p:sp>
        <p:nvSpPr>
          <p:cNvPr id="200" name="Google Shape;200;p9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01" name="Google Shape;201;p97"/>
          <p:cNvSpPr txBox="1"/>
          <p:nvPr/>
        </p:nvSpPr>
        <p:spPr>
          <a:xfrm>
            <a:off x="5842535" y="1280045"/>
            <a:ext cx="6343048" cy="4862870"/>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569CD6"/>
                </a:solidFill>
                <a:latin typeface="Consolas"/>
                <a:ea typeface="Consolas"/>
                <a:cs typeface="Consolas"/>
                <a:sym typeface="Consolas"/>
              </a:rPr>
              <a:t>const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EC9B0"/>
                </a:solidFill>
                <a:latin typeface="Consolas"/>
                <a:ea typeface="Consolas"/>
                <a:cs typeface="Consolas"/>
                <a:sym typeface="Consolas"/>
              </a:rPr>
              <a:t>http</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require</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'http'</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200" b="0" i="0" u="none" strike="noStrike" cap="none">
                <a:solidFill>
                  <a:srgbClr val="569CD6"/>
                </a:solidFill>
                <a:latin typeface="Consolas"/>
                <a:ea typeface="Consolas"/>
                <a:cs typeface="Consolas"/>
                <a:sym typeface="Consolas"/>
              </a:rPr>
              <a:t>const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EC9B0"/>
                </a:solidFill>
                <a:latin typeface="Consolas"/>
                <a:ea typeface="Consolas"/>
                <a:cs typeface="Consolas"/>
                <a:sym typeface="Consolas"/>
              </a:rPr>
              <a:t>https</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require</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'https'</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200" b="0" i="0" u="none" strike="noStrike" cap="none">
                <a:solidFill>
                  <a:srgbClr val="569CD6"/>
                </a:solidFill>
                <a:latin typeface="Consolas"/>
                <a:ea typeface="Consolas"/>
                <a:cs typeface="Consolas"/>
                <a:sym typeface="Consolas"/>
              </a:rPr>
              <a:t>const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EC9B0"/>
                </a:solidFill>
                <a:latin typeface="Consolas"/>
                <a:ea typeface="Consolas"/>
                <a:cs typeface="Consolas"/>
                <a:sym typeface="Consolas"/>
              </a:rPr>
              <a:t>fs</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require</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'fs'</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200" b="0" i="0" u="none" strike="noStrike" cap="none">
                <a:solidFill>
                  <a:srgbClr val="569CD6"/>
                </a:solidFill>
                <a:latin typeface="Consolas"/>
                <a:ea typeface="Consolas"/>
                <a:cs typeface="Consolas"/>
                <a:sym typeface="Consolas"/>
              </a:rPr>
              <a:t>const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FC1FF"/>
                </a:solidFill>
                <a:latin typeface="Consolas"/>
                <a:ea typeface="Consolas"/>
                <a:cs typeface="Consolas"/>
                <a:sym typeface="Consolas"/>
              </a:rPr>
              <a:t>path</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CDCAA"/>
                </a:solidFill>
                <a:latin typeface="Consolas"/>
                <a:ea typeface="Consolas"/>
                <a:cs typeface="Consolas"/>
                <a:sym typeface="Consolas"/>
              </a:rPr>
              <a:t>require</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'path'</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569CD6"/>
                </a:solidFill>
                <a:latin typeface="Consolas"/>
                <a:ea typeface="Consolas"/>
                <a:cs typeface="Consolas"/>
                <a:sym typeface="Consolas"/>
              </a:rPr>
              <a:t>const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FC1FF"/>
                </a:solidFill>
                <a:latin typeface="Consolas"/>
                <a:ea typeface="Consolas"/>
                <a:cs typeface="Consolas"/>
                <a:sym typeface="Consolas"/>
              </a:rPr>
              <a:t>options</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key:</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EC9B0"/>
                </a:solidFill>
                <a:latin typeface="Consolas"/>
                <a:ea typeface="Consolas"/>
                <a:cs typeface="Consolas"/>
                <a:sym typeface="Consolas"/>
              </a:rPr>
              <a:t>fs</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readFileSync</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4FC1FF"/>
                </a:solidFill>
                <a:latin typeface="Consolas"/>
                <a:ea typeface="Consolas"/>
                <a:cs typeface="Consolas"/>
                <a:sym typeface="Consolas"/>
              </a:rPr>
              <a:t>path</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join</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__dirname</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'cert'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'server.key'</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cert: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EC9B0"/>
                </a:solidFill>
                <a:latin typeface="Consolas"/>
                <a:ea typeface="Consolas"/>
                <a:cs typeface="Consolas"/>
                <a:sym typeface="Consolas"/>
              </a:rPr>
              <a:t>fs</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readFileSync</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4FC1FF"/>
                </a:solidFill>
                <a:latin typeface="Consolas"/>
                <a:ea typeface="Consolas"/>
                <a:cs typeface="Consolas"/>
                <a:sym typeface="Consolas"/>
              </a:rPr>
              <a:t>path</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join</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__dirname</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'cert'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'server.crt'</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br>
              <a:rPr lang="en-US" sz="1200" b="0" i="0" u="none" strike="noStrike" cap="none">
                <a:solidFill>
                  <a:srgbClr val="CCCCCC"/>
                </a:solidFill>
                <a:latin typeface="Consolas"/>
                <a:ea typeface="Consolas"/>
                <a:cs typeface="Consolas"/>
                <a:sym typeface="Consolas"/>
              </a:rPr>
            </a:br>
            <a:r>
              <a:rPr lang="en-US" sz="1200" b="0" i="0" u="none" strike="noStrike" cap="none">
                <a:solidFill>
                  <a:srgbClr val="569CD6"/>
                </a:solidFill>
                <a:latin typeface="Consolas"/>
                <a:ea typeface="Consolas"/>
                <a:cs typeface="Consolas"/>
                <a:sym typeface="Consolas"/>
              </a:rPr>
              <a:t>const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FC1FF"/>
                </a:solidFill>
                <a:latin typeface="Consolas"/>
                <a:ea typeface="Consolas"/>
                <a:cs typeface="Consolas"/>
                <a:sym typeface="Consolas"/>
              </a:rPr>
              <a:t>httpsServer</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EC9B0"/>
                </a:solidFill>
                <a:latin typeface="Consolas"/>
                <a:ea typeface="Consolas"/>
                <a:cs typeface="Consolas"/>
                <a:sym typeface="Consolas"/>
              </a:rPr>
              <a:t>https</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createServer</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4FC1FF"/>
                </a:solidFill>
                <a:latin typeface="Consolas"/>
                <a:ea typeface="Consolas"/>
                <a:cs typeface="Consolas"/>
                <a:sym typeface="Consolas"/>
              </a:rPr>
              <a:t>options</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req</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res</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569CD6"/>
                </a:solidFill>
                <a:latin typeface="Consolas"/>
                <a:ea typeface="Consolas"/>
                <a:cs typeface="Consolas"/>
                <a:sym typeface="Consolas"/>
              </a:rPr>
              <a:t>=&gt;</a:t>
            </a:r>
            <a:r>
              <a:rPr lang="en-US" sz="1200" b="0" i="0" u="none" strike="noStrike" cap="none">
                <a:solidFill>
                  <a:srgbClr val="CCCCCC"/>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res</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writeHead</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B5CEA8"/>
                </a:solidFill>
                <a:latin typeface="Consolas"/>
                <a:ea typeface="Consolas"/>
                <a:cs typeface="Consolas"/>
                <a:sym typeface="Consolas"/>
              </a:rPr>
              <a:t>200</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res</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end</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'Hello, world!'</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569CD6"/>
                </a:solidFill>
                <a:latin typeface="Consolas"/>
                <a:ea typeface="Consolas"/>
                <a:cs typeface="Consolas"/>
                <a:sym typeface="Consolas"/>
              </a:rPr>
              <a:t>const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FC1FF"/>
                </a:solidFill>
                <a:latin typeface="Consolas"/>
                <a:ea typeface="Consolas"/>
                <a:cs typeface="Consolas"/>
                <a:sym typeface="Consolas"/>
              </a:rPr>
              <a:t>httpServer</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EC9B0"/>
                </a:solidFill>
                <a:latin typeface="Consolas"/>
                <a:ea typeface="Consolas"/>
                <a:cs typeface="Consolas"/>
                <a:sym typeface="Consolas"/>
              </a:rPr>
              <a:t>http</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createServer</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req</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res</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569CD6"/>
                </a:solidFill>
                <a:latin typeface="Consolas"/>
                <a:ea typeface="Consolas"/>
                <a:cs typeface="Consolas"/>
                <a:sym typeface="Consolas"/>
              </a:rPr>
              <a:t>=&gt;</a:t>
            </a:r>
            <a:r>
              <a:rPr lang="en-US" sz="1200" b="0" i="0" u="none" strike="noStrike" cap="none">
                <a:solidFill>
                  <a:srgbClr val="CCCCCC"/>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569CD6"/>
                </a:solidFill>
                <a:latin typeface="Consolas"/>
                <a:ea typeface="Consolas"/>
                <a:cs typeface="Consolas"/>
                <a:sym typeface="Consolas"/>
              </a:rPr>
              <a:t>const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FC1FF"/>
                </a:solidFill>
                <a:latin typeface="Consolas"/>
                <a:ea typeface="Consolas"/>
                <a:cs typeface="Consolas"/>
                <a:sym typeface="Consolas"/>
              </a:rPr>
              <a:t>host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req</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headers</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host</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split</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B5CEA8"/>
                </a:solidFill>
                <a:latin typeface="Consolas"/>
                <a:ea typeface="Consolas"/>
                <a:cs typeface="Consolas"/>
                <a:sym typeface="Consolas"/>
              </a:rPr>
              <a:t>0</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6A9955"/>
                </a:solidFill>
                <a:latin typeface="Consolas"/>
                <a:ea typeface="Consolas"/>
                <a:cs typeface="Consolas"/>
                <a:sym typeface="Consolas"/>
              </a:rPr>
              <a:t>// Get hostname without port number</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res</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writeHead</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B5CEA8"/>
                </a:solidFill>
                <a:latin typeface="Consolas"/>
                <a:ea typeface="Consolas"/>
                <a:cs typeface="Consolas"/>
                <a:sym typeface="Consolas"/>
              </a:rPr>
              <a:t>301</a:t>
            </a:r>
            <a:r>
              <a:rPr lang="en-US" sz="1200" b="0" i="0" u="none" strike="noStrike" cap="none">
                <a:solidFill>
                  <a:srgbClr val="CCCCCC"/>
                </a:solidFill>
                <a:latin typeface="Consolas"/>
                <a:ea typeface="Consolas"/>
                <a:cs typeface="Consolas"/>
                <a:sym typeface="Consolas"/>
              </a:rPr>
              <a:t>, { </a:t>
            </a:r>
            <a:r>
              <a:rPr lang="en-US" sz="1200" b="0" i="0" u="none" strike="noStrike" cap="none">
                <a:solidFill>
                  <a:srgbClr val="9CDCFE"/>
                </a:solidFill>
                <a:latin typeface="Consolas"/>
                <a:ea typeface="Consolas"/>
                <a:cs typeface="Consolas"/>
                <a:sym typeface="Consolas"/>
              </a:rPr>
              <a:t>Location:</a:t>
            </a: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CE9178"/>
                </a:solidFill>
                <a:latin typeface="Consolas"/>
                <a:ea typeface="Consolas"/>
                <a:cs typeface="Consolas"/>
                <a:sym typeface="Consolas"/>
              </a:rPr>
              <a:t>`https://</a:t>
            </a:r>
            <a:r>
              <a:rPr lang="en-US" sz="1200" b="0" i="0" u="none" strike="noStrike" cap="none">
                <a:solidFill>
                  <a:srgbClr val="569CD6"/>
                </a:solidFill>
                <a:latin typeface="Consolas"/>
                <a:ea typeface="Consolas"/>
                <a:cs typeface="Consolas"/>
                <a:sym typeface="Consolas"/>
              </a:rPr>
              <a:t>${</a:t>
            </a:r>
            <a:r>
              <a:rPr lang="en-US" sz="1200" b="0" i="0" u="none" strike="noStrike" cap="none">
                <a:solidFill>
                  <a:srgbClr val="4FC1FF"/>
                </a:solidFill>
                <a:latin typeface="Consolas"/>
                <a:ea typeface="Consolas"/>
                <a:cs typeface="Consolas"/>
                <a:sym typeface="Consolas"/>
              </a:rPr>
              <a:t>host</a:t>
            </a:r>
            <a:r>
              <a:rPr lang="en-US" sz="1200" b="0" i="0" u="none" strike="noStrike" cap="none">
                <a:solidFill>
                  <a:srgbClr val="569CD6"/>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:443</a:t>
            </a:r>
            <a:r>
              <a:rPr lang="en-US" sz="1200" b="0" i="0" u="none" strike="noStrike" cap="none">
                <a:solidFill>
                  <a:srgbClr val="569CD6"/>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req</a:t>
            </a:r>
            <a:r>
              <a:rPr lang="en-US" sz="1200" b="0" i="0" u="none" strike="noStrike" cap="none">
                <a:solidFill>
                  <a:srgbClr val="D4D4D4"/>
                </a:solidFill>
                <a:latin typeface="Consolas"/>
                <a:ea typeface="Consolas"/>
                <a:cs typeface="Consolas"/>
                <a:sym typeface="Consolas"/>
              </a:rPr>
              <a:t>.</a:t>
            </a:r>
            <a:r>
              <a:rPr lang="en-US" sz="1200" b="0" i="0" u="none" strike="noStrike" cap="none">
                <a:solidFill>
                  <a:srgbClr val="9CDCFE"/>
                </a:solidFill>
                <a:latin typeface="Consolas"/>
                <a:ea typeface="Consolas"/>
                <a:cs typeface="Consolas"/>
                <a:sym typeface="Consolas"/>
              </a:rPr>
              <a:t>url</a:t>
            </a:r>
            <a:r>
              <a:rPr lang="en-US" sz="1200" b="0" i="0" u="none" strike="noStrike" cap="none">
                <a:solidFill>
                  <a:srgbClr val="569CD6"/>
                </a:solidFill>
                <a:latin typeface="Consolas"/>
                <a:ea typeface="Consolas"/>
                <a:cs typeface="Consolas"/>
                <a:sym typeface="Consolas"/>
              </a:rPr>
              <a:t>}</a:t>
            </a:r>
            <a:r>
              <a:rPr lang="en-US" sz="1200" b="0" i="0" u="none" strike="noStrike" cap="none">
                <a:solidFill>
                  <a:srgbClr val="CE9178"/>
                </a:solidFill>
                <a:latin typeface="Consolas"/>
                <a:ea typeface="Consolas"/>
                <a:cs typeface="Consolas"/>
                <a:sym typeface="Consolas"/>
              </a:rPr>
              <a:t>`</a:t>
            </a:r>
            <a:r>
              <a:rPr lang="en-US" sz="1200" b="0" i="0" u="none" strike="noStrike" cap="none">
                <a:solidFill>
                  <a:srgbClr val="CCCCCC"/>
                </a:solidFill>
                <a:latin typeface="Consolas"/>
                <a:ea typeface="Consolas"/>
                <a:cs typeface="Consolas"/>
                <a:sym typeface="Consolas"/>
              </a:rPr>
              <a:t> }); </a:t>
            </a:r>
            <a:r>
              <a:rPr lang="en-US" sz="1200" b="0" i="0" u="none" strike="noStrike" cap="none">
                <a:solidFill>
                  <a:srgbClr val="6A9955"/>
                </a:solidFill>
                <a:latin typeface="Consolas"/>
                <a:ea typeface="Consolas"/>
                <a:cs typeface="Consolas"/>
                <a:sym typeface="Consolas"/>
              </a:rPr>
              <a:t>//https://${req.headers.host}${req.url}</a:t>
            </a:r>
            <a:endParaRPr sz="1200" b="0" i="0" u="none" strike="noStrike" cap="none">
              <a:solidFill>
                <a:srgbClr val="CCCCCC"/>
              </a:solidFill>
              <a:latin typeface="Consolas"/>
              <a:ea typeface="Consolas"/>
              <a:cs typeface="Consolas"/>
              <a:sym typeface="Consolas"/>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9CDCFE"/>
                </a:solidFill>
                <a:latin typeface="Consolas"/>
                <a:ea typeface="Consolas"/>
                <a:cs typeface="Consolas"/>
                <a:sym typeface="Consolas"/>
              </a:rPr>
              <a:t>res</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end</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FC1FF"/>
                </a:solidFill>
                <a:latin typeface="Consolas"/>
                <a:ea typeface="Consolas"/>
                <a:cs typeface="Consolas"/>
                <a:sym typeface="Consolas"/>
              </a:rPr>
              <a:t>httpServer</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listen</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B5CEA8"/>
                </a:solidFill>
                <a:latin typeface="Consolas"/>
                <a:ea typeface="Consolas"/>
                <a:cs typeface="Consolas"/>
                <a:sym typeface="Consolas"/>
              </a:rPr>
              <a:t>3000</a:t>
            </a:r>
            <a:r>
              <a:rPr lang="en-US" sz="1200" b="0" i="0" u="none" strike="noStrike" cap="none">
                <a:solidFill>
                  <a:srgbClr val="CCCCCC"/>
                </a:solidFill>
                <a:latin typeface="Consolas"/>
                <a:ea typeface="Consolas"/>
                <a:cs typeface="Consolas"/>
                <a:sym typeface="Consolas"/>
              </a:rPr>
              <a:t>);</a:t>
            </a:r>
            <a:endParaRPr/>
          </a:p>
          <a:p>
            <a:pPr marL="0" marR="0" lvl="0" indent="0" algn="l" rtl="0">
              <a:lnSpc>
                <a:spcPct val="100000"/>
              </a:lnSpc>
              <a:spcBef>
                <a:spcPts val="0"/>
              </a:spcBef>
              <a:spcAft>
                <a:spcPts val="0"/>
              </a:spcAft>
              <a:buNone/>
            </a:pPr>
            <a:r>
              <a:rPr lang="en-US" sz="1200" b="0" i="0" u="none" strike="noStrike" cap="none">
                <a:solidFill>
                  <a:srgbClr val="CCCCCC"/>
                </a:solidFill>
                <a:latin typeface="Consolas"/>
                <a:ea typeface="Consolas"/>
                <a:cs typeface="Consolas"/>
                <a:sym typeface="Consolas"/>
              </a:rPr>
              <a:t>  </a:t>
            </a:r>
            <a:r>
              <a:rPr lang="en-US" sz="1200" b="0" i="0" u="none" strike="noStrike" cap="none">
                <a:solidFill>
                  <a:srgbClr val="4FC1FF"/>
                </a:solidFill>
                <a:latin typeface="Consolas"/>
                <a:ea typeface="Consolas"/>
                <a:cs typeface="Consolas"/>
                <a:sym typeface="Consolas"/>
              </a:rPr>
              <a:t>httpsServer</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DCDCAA"/>
                </a:solidFill>
                <a:latin typeface="Consolas"/>
                <a:ea typeface="Consolas"/>
                <a:cs typeface="Consolas"/>
                <a:sym typeface="Consolas"/>
              </a:rPr>
              <a:t>listen</a:t>
            </a:r>
            <a:r>
              <a:rPr lang="en-US" sz="1200" b="0" i="0" u="none" strike="noStrike" cap="none">
                <a:solidFill>
                  <a:srgbClr val="CCCCCC"/>
                </a:solidFill>
                <a:latin typeface="Consolas"/>
                <a:ea typeface="Consolas"/>
                <a:cs typeface="Consolas"/>
                <a:sym typeface="Consolas"/>
              </a:rPr>
              <a:t>(</a:t>
            </a:r>
            <a:r>
              <a:rPr lang="en-US" sz="1200" b="0" i="0" u="none" strike="noStrike" cap="none">
                <a:solidFill>
                  <a:srgbClr val="B5CEA8"/>
                </a:solidFill>
                <a:latin typeface="Consolas"/>
                <a:ea typeface="Consolas"/>
                <a:cs typeface="Consolas"/>
                <a:sym typeface="Consolas"/>
              </a:rPr>
              <a:t>443</a:t>
            </a:r>
            <a:r>
              <a:rPr lang="en-US" sz="1200" b="0" i="0" u="none" strike="noStrike" cap="none">
                <a:solidFill>
                  <a:srgbClr val="CCCCCC"/>
                </a:solidFill>
                <a:latin typeface="Consolas"/>
                <a:ea typeface="Consolas"/>
                <a:cs typeface="Consolas"/>
                <a:sym typeface="Consolas"/>
              </a:rPr>
              <a:t>);</a:t>
            </a:r>
            <a:endParaRPr/>
          </a:p>
        </p:txBody>
      </p:sp>
      <p:sp>
        <p:nvSpPr>
          <p:cNvPr id="202" name="Google Shape;202;p97"/>
          <p:cNvSpPr/>
          <p:nvPr/>
        </p:nvSpPr>
        <p:spPr>
          <a:xfrm>
            <a:off x="5881036" y="4013735"/>
            <a:ext cx="6189044" cy="1434164"/>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98"/>
          <p:cNvSpPr txBox="1">
            <a:spLocks noGrp="1"/>
          </p:cNvSpPr>
          <p:nvPr>
            <p:ph type="ctrTitle"/>
          </p:nvPr>
        </p:nvSpPr>
        <p:spPr>
          <a:xfrm>
            <a:off x="1161393" y="2241458"/>
            <a:ext cx="9869214" cy="1774360"/>
          </a:xfrm>
          <a:prstGeom prst="rect">
            <a:avLst/>
          </a:prstGeom>
          <a:gradFill>
            <a:gsLst>
              <a:gs pos="0">
                <a:srgbClr val="F6F9FC"/>
              </a:gs>
              <a:gs pos="74000">
                <a:srgbClr val="B3D1EC"/>
              </a:gs>
              <a:gs pos="83000">
                <a:srgbClr val="B3D1EC"/>
              </a:gs>
              <a:gs pos="100000">
                <a:srgbClr val="CCE0F2"/>
              </a:gs>
            </a:gsLst>
            <a:lin ang="54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400" b="1">
                <a:solidFill>
                  <a:srgbClr val="002060"/>
                </a:solidFill>
                <a:latin typeface="Arial"/>
                <a:ea typeface="Arial"/>
                <a:cs typeface="Arial"/>
                <a:sym typeface="Arial"/>
              </a:rPr>
              <a:t>Exercise: HTTPS and Secure Communication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00"/>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Introduction SSO</a:t>
            </a:r>
            <a:endParaRPr/>
          </a:p>
        </p:txBody>
      </p:sp>
      <p:sp>
        <p:nvSpPr>
          <p:cNvPr id="214" name="Google Shape;214;p100"/>
          <p:cNvSpPr txBox="1">
            <a:spLocks noGrp="1"/>
          </p:cNvSpPr>
          <p:nvPr>
            <p:ph type="body" idx="1"/>
          </p:nvPr>
        </p:nvSpPr>
        <p:spPr>
          <a:xfrm>
            <a:off x="838200" y="1195642"/>
            <a:ext cx="10515600"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1000"/>
              </a:spcBef>
              <a:spcAft>
                <a:spcPts val="0"/>
              </a:spcAft>
              <a:buSzPts val="1800"/>
              <a:buChar char="•"/>
            </a:pPr>
            <a:r>
              <a:rPr lang="en-US" dirty="0">
                <a:solidFill>
                  <a:schemeClr val="tx1"/>
                </a:solidFill>
              </a:rPr>
              <a:t>Single Sign-On (SSO) is a tailored SSO solution made for applications that are built on Node. </a:t>
            </a:r>
            <a:r>
              <a:rPr lang="en-US" dirty="0" err="1">
                <a:solidFill>
                  <a:schemeClr val="tx1"/>
                </a:solidFill>
              </a:rPr>
              <a:t>js</a:t>
            </a:r>
            <a:r>
              <a:rPr lang="en-US" dirty="0">
                <a:solidFill>
                  <a:schemeClr val="tx1"/>
                </a:solidFill>
              </a:rPr>
              <a:t>. </a:t>
            </a:r>
            <a:endParaRPr dirty="0">
              <a:solidFill>
                <a:schemeClr val="tx1"/>
              </a:solidFill>
            </a:endParaRPr>
          </a:p>
          <a:p>
            <a:pPr marL="457200" lvl="0" indent="-342900" algn="just" rtl="0">
              <a:lnSpc>
                <a:spcPct val="150000"/>
              </a:lnSpc>
              <a:spcBef>
                <a:spcPts val="1000"/>
              </a:spcBef>
              <a:spcAft>
                <a:spcPts val="0"/>
              </a:spcAft>
              <a:buSzPts val="1800"/>
              <a:buChar char="•"/>
            </a:pPr>
            <a:r>
              <a:rPr lang="en-US" dirty="0">
                <a:solidFill>
                  <a:schemeClr val="tx1"/>
                </a:solidFill>
              </a:rPr>
              <a:t>The solution streamlines the integration of popular authentication protocols such as OAuth 2.0, JWT, and OpenID Connect into Node.</a:t>
            </a:r>
            <a:endParaRPr dirty="0">
              <a:solidFill>
                <a:schemeClr val="tx1"/>
              </a:solidFill>
            </a:endParaRPr>
          </a:p>
        </p:txBody>
      </p:sp>
      <p:sp>
        <p:nvSpPr>
          <p:cNvPr id="215" name="Google Shape;215;p100"/>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1"/>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𝗞𝗲𝘆 𝗣𝗹𝗮𝘆𝗲𝗿𝘀 𝗶𝗻 𝗦𝗦𝗢</a:t>
            </a:r>
            <a:endParaRPr/>
          </a:p>
        </p:txBody>
      </p:sp>
      <p:sp>
        <p:nvSpPr>
          <p:cNvPr id="221" name="Google Shape;221;p101"/>
          <p:cNvSpPr txBox="1">
            <a:spLocks noGrp="1"/>
          </p:cNvSpPr>
          <p:nvPr>
            <p:ph type="body" idx="1"/>
          </p:nvPr>
        </p:nvSpPr>
        <p:spPr>
          <a:xfrm>
            <a:off x="838200" y="1195642"/>
            <a:ext cx="10515600" cy="4351338"/>
          </a:xfrm>
          <a:prstGeom prst="rect">
            <a:avLst/>
          </a:prstGeom>
          <a:noFill/>
          <a:ln>
            <a:noFill/>
          </a:ln>
        </p:spPr>
        <p:txBody>
          <a:bodyPr spcFirstLastPara="1" wrap="square" lIns="91425" tIns="45700" rIns="91425" bIns="45700" anchor="t" anchorCtr="0">
            <a:normAutofit/>
          </a:bodyPr>
          <a:lstStyle/>
          <a:p>
            <a:pPr marL="457200" lvl="0" indent="-342900" algn="just" rtl="0">
              <a:lnSpc>
                <a:spcPct val="150000"/>
              </a:lnSpc>
              <a:spcBef>
                <a:spcPts val="1000"/>
              </a:spcBef>
              <a:spcAft>
                <a:spcPts val="0"/>
              </a:spcAft>
              <a:buSzPts val="1800"/>
              <a:buChar char="•"/>
            </a:pPr>
            <a:r>
              <a:rPr lang="en-US" dirty="0">
                <a:solidFill>
                  <a:schemeClr val="tx1"/>
                </a:solidFill>
              </a:rPr>
              <a:t>User - The individual seeking access to applications</a:t>
            </a:r>
            <a:endParaRPr dirty="0">
              <a:solidFill>
                <a:schemeClr val="tx1"/>
              </a:solidFill>
            </a:endParaRPr>
          </a:p>
          <a:p>
            <a:pPr marL="457200" lvl="0" indent="-342900" algn="just" rtl="0">
              <a:lnSpc>
                <a:spcPct val="150000"/>
              </a:lnSpc>
              <a:spcBef>
                <a:spcPts val="1000"/>
              </a:spcBef>
              <a:spcAft>
                <a:spcPts val="0"/>
              </a:spcAft>
              <a:buSzPts val="1800"/>
              <a:buChar char="•"/>
            </a:pPr>
            <a:r>
              <a:rPr lang="en-US" dirty="0">
                <a:solidFill>
                  <a:schemeClr val="tx1"/>
                </a:solidFill>
              </a:rPr>
              <a:t>Identity Provider (IDP) - Authenticates users (e.g. Google, Facebook)</a:t>
            </a:r>
            <a:endParaRPr dirty="0">
              <a:solidFill>
                <a:schemeClr val="tx1"/>
              </a:solidFill>
            </a:endParaRPr>
          </a:p>
          <a:p>
            <a:pPr marL="457200" lvl="0" indent="-342900" algn="just" rtl="0">
              <a:lnSpc>
                <a:spcPct val="150000"/>
              </a:lnSpc>
              <a:spcBef>
                <a:spcPts val="1000"/>
              </a:spcBef>
              <a:spcAft>
                <a:spcPts val="0"/>
              </a:spcAft>
              <a:buSzPts val="1800"/>
              <a:buChar char="•"/>
            </a:pPr>
            <a:r>
              <a:rPr lang="en-US" dirty="0">
                <a:solidFill>
                  <a:schemeClr val="tx1"/>
                </a:solidFill>
              </a:rPr>
              <a:t>Application - The software or service the user wants to access</a:t>
            </a:r>
            <a:endParaRPr dirty="0">
              <a:solidFill>
                <a:schemeClr val="tx1"/>
              </a:solidFill>
            </a:endParaRPr>
          </a:p>
          <a:p>
            <a:pPr marL="457200" lvl="0" indent="-228600" algn="just" rtl="0">
              <a:lnSpc>
                <a:spcPct val="150000"/>
              </a:lnSpc>
              <a:spcBef>
                <a:spcPts val="1000"/>
              </a:spcBef>
              <a:spcAft>
                <a:spcPts val="0"/>
              </a:spcAft>
              <a:buSzPts val="1800"/>
              <a:buNone/>
            </a:pPr>
            <a:endParaRPr dirty="0">
              <a:solidFill>
                <a:schemeClr val="tx1"/>
              </a:solidFill>
            </a:endParaRPr>
          </a:p>
        </p:txBody>
      </p:sp>
      <p:sp>
        <p:nvSpPr>
          <p:cNvPr id="222" name="Google Shape;222;p101"/>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02"/>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𝗕𝗲𝗻𝗲𝗳𝗶𝘁𝘀 𝗼𝗳 𝗦𝗦𝗢</a:t>
            </a:r>
            <a:endParaRPr/>
          </a:p>
        </p:txBody>
      </p:sp>
      <p:sp>
        <p:nvSpPr>
          <p:cNvPr id="228" name="Google Shape;228;p102"/>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Simplifies access with one set of credentials</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Enhances user experience</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Reduces password fatigue</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Centralizes security and access management</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Improves security</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Streamlines access control</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Simplifies compliance reporting</a:t>
            </a:r>
            <a:endParaRPr dirty="0">
              <a:solidFill>
                <a:schemeClr val="tx1"/>
              </a:solidFill>
            </a:endParaRPr>
          </a:p>
          <a:p>
            <a:pPr marL="457200" lvl="0" indent="-342900" algn="l" rtl="0">
              <a:lnSpc>
                <a:spcPct val="150000"/>
              </a:lnSpc>
              <a:spcBef>
                <a:spcPts val="1000"/>
              </a:spcBef>
              <a:spcAft>
                <a:spcPts val="0"/>
              </a:spcAft>
              <a:buClr>
                <a:schemeClr val="dk1"/>
              </a:buClr>
              <a:buSzPts val="1800"/>
              <a:buChar char="•"/>
            </a:pPr>
            <a:r>
              <a:rPr lang="en-US" dirty="0">
                <a:solidFill>
                  <a:schemeClr val="tx1"/>
                </a:solidFill>
              </a:rPr>
              <a:t>Allows seamless integration</a:t>
            </a:r>
            <a:endParaRPr dirty="0">
              <a:solidFill>
                <a:schemeClr val="tx1"/>
              </a:solidFill>
            </a:endParaRPr>
          </a:p>
          <a:p>
            <a:pPr marL="457200" lvl="0" indent="-228600" algn="l" rtl="0">
              <a:lnSpc>
                <a:spcPct val="150000"/>
              </a:lnSpc>
              <a:spcBef>
                <a:spcPts val="1000"/>
              </a:spcBef>
              <a:spcAft>
                <a:spcPts val="0"/>
              </a:spcAft>
              <a:buClr>
                <a:schemeClr val="dk1"/>
              </a:buClr>
              <a:buSzPts val="1800"/>
              <a:buNone/>
            </a:pPr>
            <a:endParaRPr dirty="0">
              <a:solidFill>
                <a:schemeClr val="tx1"/>
              </a:solidFill>
            </a:endParaRPr>
          </a:p>
        </p:txBody>
      </p:sp>
      <p:sp>
        <p:nvSpPr>
          <p:cNvPr id="229" name="Google Shape;229;p102"/>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03"/>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𝗛𝗼𝘄 𝗦𝗦𝗢 𝗪𝗼𝗿𝗸𝘀</a:t>
            </a:r>
            <a:endParaRPr/>
          </a:p>
        </p:txBody>
      </p:sp>
      <p:sp>
        <p:nvSpPr>
          <p:cNvPr id="235" name="Google Shape;235;p103"/>
          <p:cNvSpPr txBox="1">
            <a:spLocks noGrp="1"/>
          </p:cNvSpPr>
          <p:nvPr>
            <p:ph type="body" idx="1"/>
          </p:nvPr>
        </p:nvSpPr>
        <p:spPr>
          <a:xfrm>
            <a:off x="838200" y="1253331"/>
            <a:ext cx="5726229" cy="4351338"/>
          </a:xfrm>
          <a:prstGeom prst="rect">
            <a:avLst/>
          </a:prstGeom>
          <a:noFill/>
          <a:ln>
            <a:noFill/>
          </a:ln>
        </p:spPr>
        <p:txBody>
          <a:bodyPr spcFirstLastPara="1" wrap="square" lIns="91425" tIns="45700" rIns="91425" bIns="45700" anchor="t" anchorCtr="0">
            <a:normAutofit fontScale="62500" lnSpcReduction="20000"/>
          </a:bodyPr>
          <a:lstStyle/>
          <a:p>
            <a:pPr marL="457200" lvl="0" indent="-342900" algn="l" rtl="0">
              <a:lnSpc>
                <a:spcPct val="160000"/>
              </a:lnSpc>
              <a:spcBef>
                <a:spcPts val="1000"/>
              </a:spcBef>
              <a:spcAft>
                <a:spcPts val="0"/>
              </a:spcAft>
              <a:buClr>
                <a:schemeClr val="dk1"/>
              </a:buClr>
              <a:buSzPct val="69498"/>
              <a:buChar char="•"/>
            </a:pPr>
            <a:r>
              <a:rPr lang="en-US" dirty="0">
                <a:solidFill>
                  <a:schemeClr val="tx1"/>
                </a:solidFill>
              </a:rPr>
              <a:t>User tries to log into an application</a:t>
            </a:r>
            <a:endParaRPr dirty="0">
              <a:solidFill>
                <a:schemeClr val="tx1"/>
              </a:solidFill>
            </a:endParaRPr>
          </a:p>
          <a:p>
            <a:pPr marL="457200" lvl="0" indent="-342900" algn="l" rtl="0">
              <a:lnSpc>
                <a:spcPct val="160000"/>
              </a:lnSpc>
              <a:spcBef>
                <a:spcPts val="1000"/>
              </a:spcBef>
              <a:spcAft>
                <a:spcPts val="0"/>
              </a:spcAft>
              <a:buClr>
                <a:schemeClr val="dk1"/>
              </a:buClr>
              <a:buSzPct val="69498"/>
              <a:buChar char="•"/>
            </a:pPr>
            <a:r>
              <a:rPr lang="en-US" dirty="0">
                <a:solidFill>
                  <a:schemeClr val="tx1"/>
                </a:solidFill>
              </a:rPr>
              <a:t>Application redirects user to SSO/IDP</a:t>
            </a:r>
            <a:endParaRPr dirty="0">
              <a:solidFill>
                <a:schemeClr val="tx1"/>
              </a:solidFill>
            </a:endParaRPr>
          </a:p>
          <a:p>
            <a:pPr marL="457200" lvl="0" indent="-342900" algn="l" rtl="0">
              <a:lnSpc>
                <a:spcPct val="160000"/>
              </a:lnSpc>
              <a:spcBef>
                <a:spcPts val="1000"/>
              </a:spcBef>
              <a:spcAft>
                <a:spcPts val="0"/>
              </a:spcAft>
              <a:buClr>
                <a:schemeClr val="dk1"/>
              </a:buClr>
              <a:buSzPct val="69498"/>
              <a:buChar char="•"/>
            </a:pPr>
            <a:r>
              <a:rPr lang="en-US" dirty="0">
                <a:solidFill>
                  <a:schemeClr val="tx1"/>
                </a:solidFill>
              </a:rPr>
              <a:t>IDP authenticates user</a:t>
            </a:r>
            <a:endParaRPr dirty="0">
              <a:solidFill>
                <a:schemeClr val="tx1"/>
              </a:solidFill>
            </a:endParaRPr>
          </a:p>
          <a:p>
            <a:pPr marL="457200" lvl="0" indent="-342900" algn="l" rtl="0">
              <a:lnSpc>
                <a:spcPct val="160000"/>
              </a:lnSpc>
              <a:spcBef>
                <a:spcPts val="1000"/>
              </a:spcBef>
              <a:spcAft>
                <a:spcPts val="0"/>
              </a:spcAft>
              <a:buClr>
                <a:schemeClr val="dk1"/>
              </a:buClr>
              <a:buSzPct val="69498"/>
              <a:buChar char="•"/>
            </a:pPr>
            <a:r>
              <a:rPr lang="en-US" dirty="0">
                <a:solidFill>
                  <a:schemeClr val="tx1"/>
                </a:solidFill>
              </a:rPr>
              <a:t>IDP issues authenticated token</a:t>
            </a:r>
            <a:endParaRPr dirty="0">
              <a:solidFill>
                <a:schemeClr val="tx1"/>
              </a:solidFill>
            </a:endParaRPr>
          </a:p>
          <a:p>
            <a:pPr marL="457200" lvl="0" indent="-342900" algn="l" rtl="0">
              <a:lnSpc>
                <a:spcPct val="160000"/>
              </a:lnSpc>
              <a:spcBef>
                <a:spcPts val="1000"/>
              </a:spcBef>
              <a:spcAft>
                <a:spcPts val="0"/>
              </a:spcAft>
              <a:buClr>
                <a:schemeClr val="dk1"/>
              </a:buClr>
              <a:buSzPct val="69498"/>
              <a:buChar char="•"/>
            </a:pPr>
            <a:r>
              <a:rPr lang="en-US" dirty="0">
                <a:solidFill>
                  <a:schemeClr val="tx1"/>
                </a:solidFill>
              </a:rPr>
              <a:t>Token sent back to browser</a:t>
            </a:r>
            <a:endParaRPr dirty="0">
              <a:solidFill>
                <a:schemeClr val="tx1"/>
              </a:solidFill>
            </a:endParaRPr>
          </a:p>
          <a:p>
            <a:pPr marL="457200" lvl="0" indent="-342900" algn="l" rtl="0">
              <a:lnSpc>
                <a:spcPct val="160000"/>
              </a:lnSpc>
              <a:spcBef>
                <a:spcPts val="1000"/>
              </a:spcBef>
              <a:spcAft>
                <a:spcPts val="0"/>
              </a:spcAft>
              <a:buClr>
                <a:schemeClr val="dk1"/>
              </a:buClr>
              <a:buSzPct val="69498"/>
              <a:buChar char="•"/>
            </a:pPr>
            <a:r>
              <a:rPr lang="en-US" dirty="0">
                <a:solidFill>
                  <a:schemeClr val="tx1"/>
                </a:solidFill>
              </a:rPr>
              <a:t>Browser presents token to application</a:t>
            </a:r>
            <a:endParaRPr dirty="0">
              <a:solidFill>
                <a:schemeClr val="tx1"/>
              </a:solidFill>
            </a:endParaRPr>
          </a:p>
          <a:p>
            <a:pPr marL="457200" lvl="0" indent="-342900" algn="l" rtl="0">
              <a:lnSpc>
                <a:spcPct val="160000"/>
              </a:lnSpc>
              <a:spcBef>
                <a:spcPts val="1000"/>
              </a:spcBef>
              <a:spcAft>
                <a:spcPts val="0"/>
              </a:spcAft>
              <a:buClr>
                <a:schemeClr val="dk1"/>
              </a:buClr>
              <a:buSzPct val="69498"/>
              <a:buChar char="•"/>
            </a:pPr>
            <a:r>
              <a:rPr lang="en-US" dirty="0">
                <a:solidFill>
                  <a:schemeClr val="tx1"/>
                </a:solidFill>
              </a:rPr>
              <a:t>Application grants access without re-entering credentials</a:t>
            </a:r>
            <a:endParaRPr dirty="0">
              <a:solidFill>
                <a:schemeClr val="tx1"/>
              </a:solidFill>
            </a:endParaRPr>
          </a:p>
          <a:p>
            <a:pPr marL="457200" lvl="0" indent="-228600" algn="l" rtl="0">
              <a:lnSpc>
                <a:spcPct val="160000"/>
              </a:lnSpc>
              <a:spcBef>
                <a:spcPts val="1000"/>
              </a:spcBef>
              <a:spcAft>
                <a:spcPts val="0"/>
              </a:spcAft>
              <a:buClr>
                <a:schemeClr val="dk1"/>
              </a:buClr>
              <a:buSzPct val="69498"/>
              <a:buNone/>
            </a:pPr>
            <a:endParaRPr dirty="0">
              <a:solidFill>
                <a:schemeClr val="tx1"/>
              </a:solidFill>
            </a:endParaRPr>
          </a:p>
          <a:p>
            <a:pPr marL="457200" lvl="0" indent="-228600" algn="l" rtl="0">
              <a:lnSpc>
                <a:spcPct val="160000"/>
              </a:lnSpc>
              <a:spcBef>
                <a:spcPts val="1000"/>
              </a:spcBef>
              <a:spcAft>
                <a:spcPts val="0"/>
              </a:spcAft>
              <a:buClr>
                <a:schemeClr val="dk1"/>
              </a:buClr>
              <a:buSzPct val="69498"/>
              <a:buNone/>
            </a:pPr>
            <a:endParaRPr dirty="0">
              <a:solidFill>
                <a:schemeClr val="tx1"/>
              </a:solidFill>
            </a:endParaRPr>
          </a:p>
        </p:txBody>
      </p:sp>
      <p:sp>
        <p:nvSpPr>
          <p:cNvPr id="236" name="Google Shape;236;p10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
        <p:nvSpPr>
          <p:cNvPr id="237" name="Google Shape;237;p103"/>
          <p:cNvSpPr txBox="1"/>
          <p:nvPr/>
        </p:nvSpPr>
        <p:spPr>
          <a:xfrm>
            <a:off x="8030339" y="5412482"/>
            <a:ext cx="4054642"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This streamlined process enables single login access to multiple applications, improving convenience and security.</a:t>
            </a:r>
            <a:endParaRPr/>
          </a:p>
        </p:txBody>
      </p:sp>
      <p:pic>
        <p:nvPicPr>
          <p:cNvPr id="238" name="Google Shape;238;p103"/>
          <p:cNvPicPr preferRelativeResize="0"/>
          <p:nvPr/>
        </p:nvPicPr>
        <p:blipFill rotWithShape="1">
          <a:blip r:embed="rId3">
            <a:alphaModFix/>
          </a:blip>
          <a:srcRect/>
          <a:stretch/>
        </p:blipFill>
        <p:spPr>
          <a:xfrm>
            <a:off x="6831730" y="1631438"/>
            <a:ext cx="5360795" cy="378104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04"/>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Understand OAuth 1.0</a:t>
            </a:r>
            <a:endParaRPr/>
          </a:p>
        </p:txBody>
      </p:sp>
      <p:sp>
        <p:nvSpPr>
          <p:cNvPr id="244" name="Google Shape;244;p104"/>
          <p:cNvSpPr txBox="1">
            <a:spLocks noGrp="1"/>
          </p:cNvSpPr>
          <p:nvPr>
            <p:ph type="body" idx="1"/>
          </p:nvPr>
        </p:nvSpPr>
        <p:spPr>
          <a:xfrm>
            <a:off x="838200" y="1195642"/>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just" rtl="0">
              <a:lnSpc>
                <a:spcPct val="150000"/>
              </a:lnSpc>
              <a:spcBef>
                <a:spcPts val="1000"/>
              </a:spcBef>
              <a:spcAft>
                <a:spcPts val="0"/>
              </a:spcAft>
              <a:buSzPts val="1800"/>
              <a:buChar char="•"/>
            </a:pPr>
            <a:r>
              <a:rPr lang="en-US" dirty="0">
                <a:solidFill>
                  <a:schemeClr val="tx1"/>
                </a:solidFill>
              </a:rPr>
              <a:t>OAuth provides a method for clients to access server resources on behalf of a resource owner (such as a different client or an end- user). </a:t>
            </a:r>
            <a:endParaRPr dirty="0">
              <a:solidFill>
                <a:schemeClr val="tx1"/>
              </a:solidFill>
            </a:endParaRPr>
          </a:p>
          <a:p>
            <a:pPr marL="457200" lvl="0" indent="-342900" algn="just" rtl="0">
              <a:lnSpc>
                <a:spcPct val="150000"/>
              </a:lnSpc>
              <a:spcBef>
                <a:spcPts val="1000"/>
              </a:spcBef>
              <a:spcAft>
                <a:spcPts val="0"/>
              </a:spcAft>
              <a:buSzPts val="1800"/>
              <a:buChar char="•"/>
            </a:pPr>
            <a:r>
              <a:rPr lang="en-US" dirty="0">
                <a:solidFill>
                  <a:schemeClr val="tx1"/>
                </a:solidFill>
              </a:rPr>
              <a:t>It also provides a process for end-users to authorize third- party access to their server resources without sharing their credentials (typically, a username and password pair), using user- agent redirections.</a:t>
            </a:r>
            <a:endParaRPr dirty="0">
              <a:solidFill>
                <a:schemeClr val="tx1"/>
              </a:solidFill>
            </a:endParaRPr>
          </a:p>
          <a:p>
            <a:pPr marL="457200" lvl="0" indent="-228600" algn="just" rtl="0">
              <a:lnSpc>
                <a:spcPct val="150000"/>
              </a:lnSpc>
              <a:spcBef>
                <a:spcPts val="1000"/>
              </a:spcBef>
              <a:spcAft>
                <a:spcPts val="0"/>
              </a:spcAft>
              <a:buSzPts val="1800"/>
              <a:buNone/>
            </a:pPr>
            <a:endParaRPr dirty="0">
              <a:solidFill>
                <a:schemeClr val="tx1"/>
              </a:solidFill>
            </a:endParaRPr>
          </a:p>
        </p:txBody>
      </p:sp>
      <p:sp>
        <p:nvSpPr>
          <p:cNvPr id="245" name="Google Shape;245;p104"/>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05"/>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Understand OAuth 1.0 – cont’d</a:t>
            </a:r>
            <a:endParaRPr/>
          </a:p>
        </p:txBody>
      </p:sp>
      <p:sp>
        <p:nvSpPr>
          <p:cNvPr id="251" name="Google Shape;251;p105"/>
          <p:cNvSpPr txBox="1">
            <a:spLocks noGrp="1"/>
          </p:cNvSpPr>
          <p:nvPr>
            <p:ph type="body" idx="1"/>
          </p:nvPr>
        </p:nvSpPr>
        <p:spPr>
          <a:xfrm>
            <a:off x="838200" y="1535811"/>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dirty="0">
                <a:solidFill>
                  <a:schemeClr val="tx1"/>
                </a:solidFill>
              </a:rPr>
              <a:t>This section will help developers understand the concepts in OAuth 1.0, but not in deep. Here is an overview of a typical OAuth 1.0 flow</a:t>
            </a:r>
            <a:endParaRPr dirty="0">
              <a:solidFill>
                <a:schemeClr val="tx1"/>
              </a:solidFill>
            </a:endParaRPr>
          </a:p>
          <a:p>
            <a:pPr marL="457200" lvl="0" indent="-228600" algn="l" rtl="0">
              <a:lnSpc>
                <a:spcPct val="90000"/>
              </a:lnSpc>
              <a:spcBef>
                <a:spcPts val="1000"/>
              </a:spcBef>
              <a:spcAft>
                <a:spcPts val="0"/>
              </a:spcAft>
              <a:buClr>
                <a:schemeClr val="dk1"/>
              </a:buClr>
              <a:buSzPts val="1800"/>
              <a:buNone/>
            </a:pPr>
            <a:endParaRPr dirty="0">
              <a:solidFill>
                <a:schemeClr val="tx1"/>
              </a:solidFill>
            </a:endParaRPr>
          </a:p>
        </p:txBody>
      </p:sp>
      <p:sp>
        <p:nvSpPr>
          <p:cNvPr id="252" name="Google Shape;252;p105"/>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pic>
        <p:nvPicPr>
          <p:cNvPr id="253" name="Google Shape;253;p105" descr="OAuth 1.0 Flow"/>
          <p:cNvPicPr preferRelativeResize="0"/>
          <p:nvPr/>
        </p:nvPicPr>
        <p:blipFill rotWithShape="1">
          <a:blip r:embed="rId3">
            <a:alphaModFix/>
          </a:blip>
          <a:srcRect/>
          <a:stretch/>
        </p:blipFill>
        <p:spPr>
          <a:xfrm>
            <a:off x="1135079" y="2846137"/>
            <a:ext cx="4117230" cy="3564288"/>
          </a:xfrm>
          <a:prstGeom prst="rect">
            <a:avLst/>
          </a:prstGeom>
          <a:noFill/>
          <a:ln>
            <a:noFill/>
          </a:ln>
        </p:spPr>
      </p:pic>
      <p:sp>
        <p:nvSpPr>
          <p:cNvPr id="254" name="Google Shape;254;p105"/>
          <p:cNvSpPr txBox="1"/>
          <p:nvPr/>
        </p:nvSpPr>
        <p:spPr>
          <a:xfrm>
            <a:off x="5553075" y="3116006"/>
            <a:ext cx="6097604" cy="277114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7000"/>
              </a:lnSpc>
              <a:spcBef>
                <a:spcPts val="0"/>
              </a:spcBef>
              <a:spcAft>
                <a:spcPts val="0"/>
              </a:spcAft>
              <a:buNone/>
            </a:pPr>
            <a:r>
              <a:rPr lang="en-US" sz="1400" b="1" i="0" u="none" strike="noStrike" cap="none">
                <a:solidFill>
                  <a:srgbClr val="000000"/>
                </a:solidFill>
                <a:latin typeface="Roboto"/>
                <a:ea typeface="Roboto"/>
                <a:cs typeface="Roboto"/>
                <a:sym typeface="Roboto"/>
              </a:rPr>
              <a:t>Client</a:t>
            </a:r>
            <a:r>
              <a:rPr lang="en-US" sz="1400" b="0" i="0" u="none" strike="noStrike" cap="none">
                <a:solidFill>
                  <a:srgbClr val="000000"/>
                </a:solidFill>
                <a:latin typeface="Roboto"/>
                <a:ea typeface="Roboto"/>
                <a:cs typeface="Roboto"/>
                <a:sym typeface="Roboto"/>
              </a:rPr>
              <a:t> uses its </a:t>
            </a:r>
            <a:r>
              <a:rPr lang="en-US" sz="1400" b="1" i="0" u="none" strike="noStrike" cap="none">
                <a:solidFill>
                  <a:srgbClr val="000000"/>
                </a:solidFill>
                <a:latin typeface="Roboto"/>
                <a:ea typeface="Roboto"/>
                <a:cs typeface="Roboto"/>
                <a:sym typeface="Roboto"/>
              </a:rPr>
              <a:t>client credentials</a:t>
            </a:r>
            <a:r>
              <a:rPr lang="en-US" sz="1400" b="0" i="0" u="none" strike="noStrike" cap="none">
                <a:solidFill>
                  <a:srgbClr val="000000"/>
                </a:solidFill>
                <a:latin typeface="Roboto"/>
                <a:ea typeface="Roboto"/>
                <a:cs typeface="Roboto"/>
                <a:sym typeface="Roboto"/>
              </a:rPr>
              <a:t> to make a request to server, asking the server for a temporary credential.</a:t>
            </a:r>
            <a:endParaRPr sz="1200" b="0" i="0" u="none" strike="noStrike" cap="none">
              <a:solidFill>
                <a:srgbClr val="000000"/>
              </a:solidFill>
              <a:latin typeface="Calibri"/>
              <a:ea typeface="Calibri"/>
              <a:cs typeface="Calibri"/>
              <a:sym typeface="Calibri"/>
            </a:endParaRPr>
          </a:p>
          <a:p>
            <a:pPr marL="342900" marR="0" lvl="0" indent="-342900" algn="just" rtl="0">
              <a:lnSpc>
                <a:spcPct val="107000"/>
              </a:lnSpc>
              <a:spcBef>
                <a:spcPts val="240"/>
              </a:spcBef>
              <a:spcAft>
                <a:spcPts val="0"/>
              </a:spcAft>
              <a:buNone/>
            </a:pPr>
            <a:r>
              <a:rPr lang="en-US" sz="1400" b="1" i="0" u="none" strike="noStrike" cap="none">
                <a:solidFill>
                  <a:srgbClr val="000000"/>
                </a:solidFill>
                <a:latin typeface="Roboto"/>
                <a:ea typeface="Roboto"/>
                <a:cs typeface="Roboto"/>
                <a:sym typeface="Roboto"/>
              </a:rPr>
              <a:t>Server</a:t>
            </a:r>
            <a:r>
              <a:rPr lang="en-US" sz="1400" b="0" i="0" u="none" strike="noStrike" cap="none">
                <a:solidFill>
                  <a:srgbClr val="000000"/>
                </a:solidFill>
                <a:latin typeface="Roboto"/>
                <a:ea typeface="Roboto"/>
                <a:cs typeface="Roboto"/>
                <a:sym typeface="Roboto"/>
              </a:rPr>
              <a:t> responds with a </a:t>
            </a:r>
            <a:r>
              <a:rPr lang="en-US" sz="1400" b="1" i="0" u="none" strike="noStrike" cap="none">
                <a:solidFill>
                  <a:srgbClr val="000000"/>
                </a:solidFill>
                <a:latin typeface="Roboto"/>
                <a:ea typeface="Roboto"/>
                <a:cs typeface="Roboto"/>
                <a:sym typeface="Roboto"/>
              </a:rPr>
              <a:t>temporary credential</a:t>
            </a:r>
            <a:r>
              <a:rPr lang="en-US" sz="1400" b="0" i="0" u="none" strike="noStrike" cap="none">
                <a:solidFill>
                  <a:srgbClr val="000000"/>
                </a:solidFill>
                <a:latin typeface="Roboto"/>
                <a:ea typeface="Roboto"/>
                <a:cs typeface="Roboto"/>
                <a:sym typeface="Roboto"/>
              </a:rPr>
              <a:t> if it verified your client credential.</a:t>
            </a:r>
            <a:endParaRPr sz="1200" b="0" i="0" u="none" strike="noStrike" cap="none">
              <a:solidFill>
                <a:srgbClr val="000000"/>
              </a:solidFill>
              <a:latin typeface="Calibri"/>
              <a:ea typeface="Calibri"/>
              <a:cs typeface="Calibri"/>
              <a:sym typeface="Calibri"/>
            </a:endParaRPr>
          </a:p>
          <a:p>
            <a:pPr marL="342900" marR="0" lvl="0" indent="-342900" algn="just" rtl="0">
              <a:lnSpc>
                <a:spcPct val="107000"/>
              </a:lnSpc>
              <a:spcBef>
                <a:spcPts val="240"/>
              </a:spcBef>
              <a:spcAft>
                <a:spcPts val="0"/>
              </a:spcAft>
              <a:buNone/>
            </a:pPr>
            <a:r>
              <a:rPr lang="en-US" sz="1400" b="1" i="0" u="none" strike="noStrike" cap="none">
                <a:solidFill>
                  <a:srgbClr val="000000"/>
                </a:solidFill>
                <a:latin typeface="Roboto"/>
                <a:ea typeface="Roboto"/>
                <a:cs typeface="Roboto"/>
                <a:sym typeface="Roboto"/>
              </a:rPr>
              <a:t>Client</a:t>
            </a:r>
            <a:r>
              <a:rPr lang="en-US" sz="1400" b="0" i="0" u="none" strike="noStrike" cap="none">
                <a:solidFill>
                  <a:srgbClr val="000000"/>
                </a:solidFill>
                <a:latin typeface="Roboto"/>
                <a:ea typeface="Roboto"/>
                <a:cs typeface="Roboto"/>
                <a:sym typeface="Roboto"/>
              </a:rPr>
              <a:t> saves temporary credential for later use, then open a view for </a:t>
            </a:r>
            <a:r>
              <a:rPr lang="en-US" sz="1400" b="1" i="0" u="none" strike="noStrike" cap="none">
                <a:solidFill>
                  <a:srgbClr val="000000"/>
                </a:solidFill>
                <a:latin typeface="Roboto"/>
                <a:ea typeface="Roboto"/>
                <a:cs typeface="Roboto"/>
                <a:sym typeface="Roboto"/>
              </a:rPr>
              <a:t>resource owner</a:t>
            </a:r>
            <a:r>
              <a:rPr lang="en-US" sz="1400" b="0" i="0" u="none" strike="noStrike" cap="none">
                <a:solidFill>
                  <a:srgbClr val="000000"/>
                </a:solidFill>
                <a:latin typeface="Roboto"/>
                <a:ea typeface="Roboto"/>
                <a:cs typeface="Roboto"/>
                <a:sym typeface="Roboto"/>
              </a:rPr>
              <a:t> to grant the access.</a:t>
            </a:r>
            <a:endParaRPr sz="1200" b="0" i="0" u="none" strike="noStrike" cap="none">
              <a:solidFill>
                <a:srgbClr val="000000"/>
              </a:solidFill>
              <a:latin typeface="Calibri"/>
              <a:ea typeface="Calibri"/>
              <a:cs typeface="Calibri"/>
              <a:sym typeface="Calibri"/>
            </a:endParaRPr>
          </a:p>
          <a:p>
            <a:pPr marL="342900" marR="0" lvl="0" indent="-342900" algn="just" rtl="0">
              <a:lnSpc>
                <a:spcPct val="107000"/>
              </a:lnSpc>
              <a:spcBef>
                <a:spcPts val="240"/>
              </a:spcBef>
              <a:spcAft>
                <a:spcPts val="0"/>
              </a:spcAft>
              <a:buNone/>
            </a:pPr>
            <a:r>
              <a:rPr lang="en-US" sz="1400" b="0" i="0" u="none" strike="noStrike" cap="none">
                <a:solidFill>
                  <a:srgbClr val="000000"/>
                </a:solidFill>
                <a:latin typeface="Roboto"/>
                <a:ea typeface="Roboto"/>
                <a:cs typeface="Roboto"/>
                <a:sym typeface="Roboto"/>
              </a:rPr>
              <a:t>When access is granted, </a:t>
            </a:r>
            <a:r>
              <a:rPr lang="en-US" sz="1400" b="1" i="0" u="none" strike="noStrike" cap="none">
                <a:solidFill>
                  <a:srgbClr val="000000"/>
                </a:solidFill>
                <a:latin typeface="Roboto"/>
                <a:ea typeface="Roboto"/>
                <a:cs typeface="Roboto"/>
                <a:sym typeface="Roboto"/>
              </a:rPr>
              <a:t>Server</a:t>
            </a:r>
            <a:r>
              <a:rPr lang="en-US" sz="1400" b="0" i="0" u="none" strike="noStrike" cap="none">
                <a:solidFill>
                  <a:srgbClr val="000000"/>
                </a:solidFill>
                <a:latin typeface="Roboto"/>
                <a:ea typeface="Roboto"/>
                <a:cs typeface="Roboto"/>
                <a:sym typeface="Roboto"/>
              </a:rPr>
              <a:t> responds with a </a:t>
            </a:r>
            <a:r>
              <a:rPr lang="en-US" sz="1400" b="1" i="0" u="none" strike="noStrike" cap="none">
                <a:solidFill>
                  <a:srgbClr val="000000"/>
                </a:solidFill>
                <a:latin typeface="Roboto"/>
                <a:ea typeface="Roboto"/>
                <a:cs typeface="Roboto"/>
                <a:sym typeface="Roboto"/>
              </a:rPr>
              <a:t>verifier</a:t>
            </a:r>
            <a:r>
              <a:rPr lang="en-US" sz="1400" b="0" i="0" u="none" strike="noStrike" cap="none">
                <a:solidFill>
                  <a:srgbClr val="000000"/>
                </a:solidFill>
                <a:latin typeface="Roboto"/>
                <a:ea typeface="Roboto"/>
                <a:cs typeface="Roboto"/>
                <a:sym typeface="Roboto"/>
              </a:rPr>
              <a:t> to client.</a:t>
            </a:r>
            <a:endParaRPr sz="1200" b="0" i="0" u="none" strike="noStrike" cap="none">
              <a:solidFill>
                <a:srgbClr val="000000"/>
              </a:solidFill>
              <a:latin typeface="Calibri"/>
              <a:ea typeface="Calibri"/>
              <a:cs typeface="Calibri"/>
              <a:sym typeface="Calibri"/>
            </a:endParaRPr>
          </a:p>
          <a:p>
            <a:pPr marL="342900" marR="0" lvl="0" indent="-342900" algn="just" rtl="0">
              <a:lnSpc>
                <a:spcPct val="107000"/>
              </a:lnSpc>
              <a:spcBef>
                <a:spcPts val="240"/>
              </a:spcBef>
              <a:spcAft>
                <a:spcPts val="0"/>
              </a:spcAft>
              <a:buNone/>
            </a:pPr>
            <a:r>
              <a:rPr lang="en-US" sz="1400" b="1" i="0" u="none" strike="noStrike" cap="none">
                <a:solidFill>
                  <a:srgbClr val="000000"/>
                </a:solidFill>
                <a:latin typeface="Roboto"/>
                <a:ea typeface="Roboto"/>
                <a:cs typeface="Roboto"/>
                <a:sym typeface="Roboto"/>
              </a:rPr>
              <a:t>Client</a:t>
            </a:r>
            <a:r>
              <a:rPr lang="en-US" sz="1400" b="0" i="0" u="none" strike="noStrike" cap="none">
                <a:solidFill>
                  <a:srgbClr val="000000"/>
                </a:solidFill>
                <a:latin typeface="Roboto"/>
                <a:ea typeface="Roboto"/>
                <a:cs typeface="Roboto"/>
                <a:sym typeface="Roboto"/>
              </a:rPr>
              <a:t> uses this </a:t>
            </a:r>
            <a:r>
              <a:rPr lang="en-US" sz="1400" b="1" i="0" u="none" strike="noStrike" cap="none">
                <a:solidFill>
                  <a:srgbClr val="000000"/>
                </a:solidFill>
                <a:latin typeface="Roboto"/>
                <a:ea typeface="Roboto"/>
                <a:cs typeface="Roboto"/>
                <a:sym typeface="Roboto"/>
              </a:rPr>
              <a:t>verifier and temporary credential</a:t>
            </a:r>
            <a:r>
              <a:rPr lang="en-US" sz="1400" b="0" i="0" u="none" strike="noStrike" cap="none">
                <a:solidFill>
                  <a:srgbClr val="000000"/>
                </a:solidFill>
                <a:latin typeface="Roboto"/>
                <a:ea typeface="Roboto"/>
                <a:cs typeface="Roboto"/>
                <a:sym typeface="Roboto"/>
              </a:rPr>
              <a:t> to make a request to the server asking for </a:t>
            </a:r>
            <a:r>
              <a:rPr lang="en-US" sz="1400" b="1" i="0" u="none" strike="noStrike" cap="none">
                <a:solidFill>
                  <a:srgbClr val="000000"/>
                </a:solidFill>
                <a:latin typeface="Roboto"/>
                <a:ea typeface="Roboto"/>
                <a:cs typeface="Roboto"/>
                <a:sym typeface="Roboto"/>
              </a:rPr>
              <a:t>token credentials</a:t>
            </a:r>
            <a:r>
              <a:rPr lang="en-US" sz="1400" b="0" i="0" u="none" strike="noStrike" cap="none">
                <a:solidFill>
                  <a:srgbClr val="000000"/>
                </a:solidFill>
                <a:latin typeface="Roboto"/>
                <a:ea typeface="Roboto"/>
                <a:cs typeface="Roboto"/>
                <a:sym typeface="Roboto"/>
              </a:rPr>
              <a:t>.</a:t>
            </a:r>
            <a:endParaRPr sz="1200" b="0" i="0" u="none" strike="noStrike" cap="none">
              <a:solidFill>
                <a:srgbClr val="000000"/>
              </a:solidFill>
              <a:latin typeface="Calibri"/>
              <a:ea typeface="Calibri"/>
              <a:cs typeface="Calibri"/>
              <a:sym typeface="Calibri"/>
            </a:endParaRPr>
          </a:p>
          <a:p>
            <a:pPr marL="342900" marR="0" lvl="0" indent="-342900" algn="just" rtl="0">
              <a:lnSpc>
                <a:spcPct val="107000"/>
              </a:lnSpc>
              <a:spcBef>
                <a:spcPts val="240"/>
              </a:spcBef>
              <a:spcAft>
                <a:spcPts val="0"/>
              </a:spcAft>
              <a:buNone/>
            </a:pPr>
            <a:r>
              <a:rPr lang="en-US" sz="1400" b="1" i="0" u="none" strike="noStrike" cap="none">
                <a:solidFill>
                  <a:srgbClr val="000000"/>
                </a:solidFill>
                <a:latin typeface="Roboto"/>
                <a:ea typeface="Roboto"/>
                <a:cs typeface="Roboto"/>
                <a:sym typeface="Roboto"/>
              </a:rPr>
              <a:t>Server</a:t>
            </a:r>
            <a:r>
              <a:rPr lang="en-US" sz="1400" b="0" i="0" u="none" strike="noStrike" cap="none">
                <a:solidFill>
                  <a:srgbClr val="000000"/>
                </a:solidFill>
                <a:latin typeface="Roboto"/>
                <a:ea typeface="Roboto"/>
                <a:cs typeface="Roboto"/>
                <a:sym typeface="Roboto"/>
              </a:rPr>
              <a:t> responds with access token if it verified everything.</a:t>
            </a:r>
            <a:endParaRPr sz="1200" b="0" i="0" u="none" strike="noStrike" cap="none">
              <a:solidFill>
                <a:srgbClr val="000000"/>
              </a:solidFill>
              <a:latin typeface="Calibri"/>
              <a:ea typeface="Calibri"/>
              <a:cs typeface="Calibri"/>
              <a:sym typeface="Calibri"/>
            </a:endParaRPr>
          </a:p>
          <a:p>
            <a:pPr marL="0" marR="0" lvl="0" indent="0" algn="just" rtl="0">
              <a:lnSpc>
                <a:spcPct val="107000"/>
              </a:lnSpc>
              <a:spcBef>
                <a:spcPts val="240"/>
              </a:spcBef>
              <a:spcAft>
                <a:spcPts val="0"/>
              </a:spcAft>
              <a:buNone/>
            </a:pPr>
            <a:r>
              <a:rPr lang="en-US" sz="1400" b="0" i="0" u="none" strike="noStrike" cap="none">
                <a:solidFill>
                  <a:srgbClr val="000000"/>
                </a:solidFill>
                <a:latin typeface="Roboto"/>
                <a:ea typeface="Roboto"/>
                <a:cs typeface="Roboto"/>
                <a:sym typeface="Roboto"/>
              </a:rPr>
              <a:t>And then </a:t>
            </a:r>
            <a:r>
              <a:rPr lang="en-US" sz="1400" b="1" i="0" u="none" strike="noStrike" cap="none">
                <a:solidFill>
                  <a:srgbClr val="000000"/>
                </a:solidFill>
                <a:latin typeface="Roboto"/>
                <a:ea typeface="Roboto"/>
                <a:cs typeface="Roboto"/>
                <a:sym typeface="Roboto"/>
              </a:rPr>
              <a:t>Client</a:t>
            </a:r>
            <a:r>
              <a:rPr lang="en-US" sz="1400" b="0" i="0" u="none" strike="noStrike" cap="none">
                <a:solidFill>
                  <a:srgbClr val="000000"/>
                </a:solidFill>
                <a:latin typeface="Roboto"/>
                <a:ea typeface="Roboto"/>
                <a:cs typeface="Roboto"/>
                <a:sym typeface="Roboto"/>
              </a:rPr>
              <a:t> can send tweets with the </a:t>
            </a:r>
            <a:r>
              <a:rPr lang="en-US" sz="1400" b="1" i="0" u="none" strike="noStrike" cap="none">
                <a:solidFill>
                  <a:srgbClr val="000000"/>
                </a:solidFill>
                <a:latin typeface="Roboto"/>
                <a:ea typeface="Roboto"/>
                <a:cs typeface="Roboto"/>
                <a:sym typeface="Roboto"/>
              </a:rPr>
              <a:t>token credentials</a:t>
            </a:r>
            <a:r>
              <a:rPr lang="en-US" sz="1400" b="0" i="0" u="none" strike="noStrike" cap="none">
                <a:solidFill>
                  <a:srgbClr val="000000"/>
                </a:solidFill>
                <a:latin typeface="Roboto"/>
                <a:ea typeface="Roboto"/>
                <a:cs typeface="Roboto"/>
                <a:sym typeface="Roboto"/>
              </a:rPr>
              <a:t>.</a:t>
            </a:r>
            <a:endParaRPr sz="1200" b="0" i="0" u="none" strike="noStrike" cap="non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06"/>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Understand OAuth 2.0</a:t>
            </a:r>
            <a:endParaRPr/>
          </a:p>
        </p:txBody>
      </p:sp>
      <p:sp>
        <p:nvSpPr>
          <p:cNvPr id="260" name="Google Shape;260;p106"/>
          <p:cNvSpPr txBox="1">
            <a:spLocks noGrp="1"/>
          </p:cNvSpPr>
          <p:nvPr>
            <p:ph type="body" idx="1"/>
          </p:nvPr>
        </p:nvSpPr>
        <p:spPr>
          <a:xfrm>
            <a:off x="838200" y="1195642"/>
            <a:ext cx="10515600" cy="5285058"/>
          </a:xfrm>
          <a:prstGeom prst="rect">
            <a:avLst/>
          </a:prstGeom>
          <a:noFill/>
          <a:ln>
            <a:noFill/>
          </a:ln>
        </p:spPr>
        <p:txBody>
          <a:bodyPr spcFirstLastPara="1" wrap="square" lIns="91425" tIns="45700" rIns="91425" bIns="45700" anchor="t" anchorCtr="0">
            <a:normAutofit/>
          </a:bodyPr>
          <a:lstStyle/>
          <a:p>
            <a:pPr marL="457200" lvl="0" indent="-342900" algn="just" rtl="0">
              <a:lnSpc>
                <a:spcPct val="170000"/>
              </a:lnSpc>
              <a:spcBef>
                <a:spcPts val="1000"/>
              </a:spcBef>
              <a:spcAft>
                <a:spcPts val="0"/>
              </a:spcAft>
              <a:buSzPct val="75630"/>
              <a:buChar char="•"/>
            </a:pPr>
            <a:r>
              <a:rPr lang="en-US" sz="1600" dirty="0">
                <a:solidFill>
                  <a:schemeClr val="tx1"/>
                </a:solidFill>
              </a:rPr>
              <a:t>It is an open standard that allows users to grant limited access to their data on one site to other sites or applications without exposing their passwords. </a:t>
            </a:r>
            <a:endParaRPr sz="1600" dirty="0">
              <a:solidFill>
                <a:schemeClr val="tx1"/>
              </a:solidFill>
            </a:endParaRPr>
          </a:p>
          <a:p>
            <a:pPr marL="457200" lvl="0" indent="-342900" algn="just" rtl="0">
              <a:lnSpc>
                <a:spcPct val="170000"/>
              </a:lnSpc>
              <a:spcBef>
                <a:spcPts val="1000"/>
              </a:spcBef>
              <a:spcAft>
                <a:spcPts val="0"/>
              </a:spcAft>
              <a:buSzPct val="75630"/>
              <a:buChar char="•"/>
            </a:pPr>
            <a:r>
              <a:rPr lang="en-US" sz="1600" dirty="0">
                <a:solidFill>
                  <a:schemeClr val="tx1"/>
                </a:solidFill>
              </a:rPr>
              <a:t>It has become the backbone of secure authorization across the web and mobile apps. </a:t>
            </a:r>
            <a:endParaRPr sz="1600" dirty="0">
              <a:solidFill>
                <a:schemeClr val="tx1"/>
              </a:solidFill>
            </a:endParaRPr>
          </a:p>
          <a:p>
            <a:pPr marL="457200" lvl="0" indent="-342900" algn="just" rtl="0">
              <a:lnSpc>
                <a:spcPct val="170000"/>
              </a:lnSpc>
              <a:spcBef>
                <a:spcPts val="1000"/>
              </a:spcBef>
              <a:spcAft>
                <a:spcPts val="0"/>
              </a:spcAft>
              <a:buSzPct val="75630"/>
              <a:buChar char="•"/>
            </a:pPr>
            <a:r>
              <a:rPr lang="en-US" sz="1600" dirty="0">
                <a:solidFill>
                  <a:schemeClr val="tx1"/>
                </a:solidFill>
              </a:rPr>
              <a:t>OAuth connects three main players: </a:t>
            </a:r>
            <a:endParaRPr sz="1600" dirty="0">
              <a:solidFill>
                <a:schemeClr val="tx1"/>
              </a:solidFill>
            </a:endParaRPr>
          </a:p>
          <a:p>
            <a:pPr marL="914400" lvl="1" indent="-342900" algn="just" rtl="0">
              <a:lnSpc>
                <a:spcPct val="170000"/>
              </a:lnSpc>
              <a:spcBef>
                <a:spcPts val="500"/>
              </a:spcBef>
              <a:spcAft>
                <a:spcPts val="0"/>
              </a:spcAft>
              <a:buSzPct val="88235"/>
              <a:buChar char="•"/>
            </a:pPr>
            <a:r>
              <a:rPr lang="en-US" sz="1400" dirty="0">
                <a:solidFill>
                  <a:schemeClr val="tx1"/>
                </a:solidFill>
              </a:rPr>
              <a:t>The User who wants to grant access to their data without sharing login credentials</a:t>
            </a:r>
            <a:endParaRPr sz="1400" dirty="0">
              <a:solidFill>
                <a:schemeClr val="tx1"/>
              </a:solidFill>
            </a:endParaRPr>
          </a:p>
          <a:p>
            <a:pPr marL="914400" lvl="1" indent="-342900" algn="just" rtl="0">
              <a:lnSpc>
                <a:spcPct val="170000"/>
              </a:lnSpc>
              <a:spcBef>
                <a:spcPts val="500"/>
              </a:spcBef>
              <a:spcAft>
                <a:spcPts val="0"/>
              </a:spcAft>
              <a:buSzPct val="88235"/>
              <a:buChar char="•"/>
            </a:pPr>
            <a:r>
              <a:rPr lang="en-US" sz="1400" dirty="0">
                <a:solidFill>
                  <a:schemeClr val="tx1"/>
                </a:solidFill>
              </a:rPr>
              <a:t>The Server that hosts the user's data and provides access tokens</a:t>
            </a:r>
            <a:endParaRPr sz="1400" dirty="0">
              <a:solidFill>
                <a:schemeClr val="tx1"/>
              </a:solidFill>
            </a:endParaRPr>
          </a:p>
          <a:p>
            <a:pPr marL="914400" lvl="1" indent="-342900" algn="just" rtl="0">
              <a:lnSpc>
                <a:spcPct val="170000"/>
              </a:lnSpc>
              <a:spcBef>
                <a:spcPts val="500"/>
              </a:spcBef>
              <a:spcAft>
                <a:spcPts val="0"/>
              </a:spcAft>
              <a:buSzPct val="88235"/>
              <a:buChar char="•"/>
            </a:pPr>
            <a:r>
              <a:rPr lang="en-US" sz="1400" dirty="0">
                <a:solidFill>
                  <a:schemeClr val="tx1"/>
                </a:solidFill>
              </a:rPr>
              <a:t>The Identity Provider (IdP) that authenticates the user's identity and issues tokens </a:t>
            </a:r>
            <a:endParaRPr sz="1400" dirty="0">
              <a:solidFill>
                <a:schemeClr val="tx1"/>
              </a:solidFill>
            </a:endParaRPr>
          </a:p>
          <a:p>
            <a:pPr marL="457200" lvl="0" indent="-342900" algn="just" rtl="0">
              <a:lnSpc>
                <a:spcPct val="170000"/>
              </a:lnSpc>
              <a:spcBef>
                <a:spcPts val="1000"/>
              </a:spcBef>
              <a:spcAft>
                <a:spcPts val="0"/>
              </a:spcAft>
              <a:buSzPct val="75630"/>
              <a:buChar char="•"/>
            </a:pPr>
            <a:r>
              <a:rPr lang="en-US" sz="1600" dirty="0">
                <a:solidFill>
                  <a:schemeClr val="tx1"/>
                </a:solidFill>
              </a:rPr>
              <a:t>𝗛𝗼𝘄 𝗢𝗔𝘂𝘁𝗵 𝘄𝗼𝗿𝗸𝘀 </a:t>
            </a:r>
            <a:endParaRPr sz="1600" dirty="0">
              <a:solidFill>
                <a:schemeClr val="tx1"/>
              </a:solidFill>
            </a:endParaRPr>
          </a:p>
          <a:p>
            <a:pPr marL="914400" lvl="1" indent="-342900" algn="just" rtl="0">
              <a:lnSpc>
                <a:spcPct val="170000"/>
              </a:lnSpc>
              <a:spcBef>
                <a:spcPts val="500"/>
              </a:spcBef>
              <a:spcAft>
                <a:spcPts val="0"/>
              </a:spcAft>
              <a:buSzPct val="88235"/>
              <a:buChar char="•"/>
            </a:pPr>
            <a:r>
              <a:rPr lang="en-US" sz="1400" dirty="0">
                <a:solidFill>
                  <a:schemeClr val="tx1"/>
                </a:solidFill>
              </a:rPr>
              <a:t>When a user tries to access their data through a third-party app, they are redirected to log in through the IdP. </a:t>
            </a:r>
            <a:endParaRPr sz="1400" dirty="0">
              <a:solidFill>
                <a:schemeClr val="tx1"/>
              </a:solidFill>
            </a:endParaRPr>
          </a:p>
          <a:p>
            <a:pPr marL="914400" lvl="1" indent="-342900" algn="just" rtl="0">
              <a:lnSpc>
                <a:spcPct val="170000"/>
              </a:lnSpc>
              <a:spcBef>
                <a:spcPts val="500"/>
              </a:spcBef>
              <a:spcAft>
                <a:spcPts val="0"/>
              </a:spcAft>
              <a:buSzPct val="88235"/>
              <a:buChar char="•"/>
            </a:pPr>
            <a:r>
              <a:rPr lang="en-US" sz="1400" dirty="0">
                <a:solidFill>
                  <a:schemeClr val="tx1"/>
                </a:solidFill>
              </a:rPr>
              <a:t>The IdP sends an access token to the app, which presents it to the server. Recognizing the valid token, the server grants access. </a:t>
            </a:r>
            <a:endParaRPr sz="1400" dirty="0">
              <a:solidFill>
                <a:schemeClr val="tx1"/>
              </a:solidFill>
            </a:endParaRPr>
          </a:p>
        </p:txBody>
      </p:sp>
      <p:sp>
        <p:nvSpPr>
          <p:cNvPr id="261" name="Google Shape;261;p106"/>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07"/>
          <p:cNvSpPr txBox="1">
            <a:spLocks noGrp="1"/>
          </p:cNvSpPr>
          <p:nvPr>
            <p:ph type="title"/>
          </p:nvPr>
        </p:nvSpPr>
        <p:spPr>
          <a:xfrm>
            <a:off x="838200" y="620209"/>
            <a:ext cx="9219460" cy="575433"/>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800"/>
              <a:buNone/>
            </a:pPr>
            <a:r>
              <a:rPr lang="en-US"/>
              <a:t>Compare between OAuth 1 and OAuth 2</a:t>
            </a:r>
            <a:endParaRPr/>
          </a:p>
        </p:txBody>
      </p:sp>
      <p:sp>
        <p:nvSpPr>
          <p:cNvPr id="267" name="Google Shape;267;p107"/>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pic>
        <p:nvPicPr>
          <p:cNvPr id="268" name="Google Shape;268;p107" descr="How OAuth Boosts API Security and Access Management | Nordic APIs |"/>
          <p:cNvPicPr preferRelativeResize="0"/>
          <p:nvPr/>
        </p:nvPicPr>
        <p:blipFill rotWithShape="1">
          <a:blip r:embed="rId3">
            <a:alphaModFix/>
          </a:blip>
          <a:srcRect/>
          <a:stretch/>
        </p:blipFill>
        <p:spPr>
          <a:xfrm>
            <a:off x="2113810" y="1195642"/>
            <a:ext cx="6572250" cy="514540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73"/>
          <p:cNvSpPr txBox="1">
            <a:spLocks noGrp="1"/>
          </p:cNvSpPr>
          <p:nvPr>
            <p:ph type="title"/>
          </p:nvPr>
        </p:nvSpPr>
        <p:spPr>
          <a:xfrm>
            <a:off x="1008993" y="679111"/>
            <a:ext cx="9850820" cy="592642"/>
          </a:xfrm>
          <a:prstGeom prst="rect">
            <a:avLst/>
          </a:prstGeom>
          <a:solidFill>
            <a:schemeClr val="lt1"/>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Arial"/>
              <a:buNone/>
            </a:pPr>
            <a:r>
              <a:rPr lang="en-US" sz="4000" b="1"/>
              <a:t>Summary</a:t>
            </a:r>
            <a:endParaRPr/>
          </a:p>
        </p:txBody>
      </p:sp>
      <p:sp>
        <p:nvSpPr>
          <p:cNvPr id="274" name="Google Shape;274;p73"/>
          <p:cNvSpPr txBox="1">
            <a:spLocks noGrp="1"/>
          </p:cNvSpPr>
          <p:nvPr>
            <p:ph type="body" idx="1"/>
          </p:nvPr>
        </p:nvSpPr>
        <p:spPr>
          <a:xfrm>
            <a:off x="752348" y="1450817"/>
            <a:ext cx="11538305" cy="5029883"/>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rgbClr val="973735"/>
              </a:buClr>
              <a:buSzPts val="1500"/>
              <a:buFont typeface="Noto Sans Symbols"/>
              <a:buChar char="◆"/>
            </a:pPr>
            <a:r>
              <a:rPr lang="en-US" sz="3000" dirty="0">
                <a:solidFill>
                  <a:schemeClr val="tx1"/>
                </a:solidFill>
              </a:rPr>
              <a:t>Concepts were introduced:</a:t>
            </a:r>
            <a:endParaRPr dirty="0">
              <a:solidFill>
                <a:schemeClr val="tx1"/>
              </a:solidFill>
            </a:endParaRPr>
          </a:p>
          <a:p>
            <a:pPr marL="800100" lvl="1" indent="-342900" algn="l" rtl="0">
              <a:lnSpc>
                <a:spcPct val="150000"/>
              </a:lnSpc>
              <a:spcBef>
                <a:spcPts val="0"/>
              </a:spcBef>
              <a:spcAft>
                <a:spcPts val="0"/>
              </a:spcAft>
              <a:buClr>
                <a:srgbClr val="973735"/>
              </a:buClr>
              <a:buSzPts val="1400"/>
              <a:buFont typeface="Noto Sans Symbols"/>
              <a:buChar char="◆"/>
            </a:pPr>
            <a:r>
              <a:rPr lang="en-US" dirty="0">
                <a:solidFill>
                  <a:schemeClr val="tx1"/>
                </a:solidFill>
              </a:rPr>
              <a:t>Introduction HTTPS</a:t>
            </a:r>
            <a:endParaRPr dirty="0">
              <a:solidFill>
                <a:schemeClr val="tx1"/>
              </a:solidFill>
            </a:endParaRPr>
          </a:p>
          <a:p>
            <a:pPr marL="800100" lvl="1" indent="-342900" algn="l" rtl="0">
              <a:lnSpc>
                <a:spcPct val="150000"/>
              </a:lnSpc>
              <a:spcBef>
                <a:spcPts val="0"/>
              </a:spcBef>
              <a:spcAft>
                <a:spcPts val="0"/>
              </a:spcAft>
              <a:buClr>
                <a:srgbClr val="973735"/>
              </a:buClr>
              <a:buSzPts val="1400"/>
              <a:buFont typeface="Noto Sans Symbols"/>
              <a:buChar char="◆"/>
            </a:pPr>
            <a:r>
              <a:rPr lang="en-US" dirty="0">
                <a:solidFill>
                  <a:schemeClr val="tx1"/>
                </a:solidFill>
              </a:rPr>
              <a:t>Install and Create SSL Certificate</a:t>
            </a:r>
            <a:endParaRPr dirty="0">
              <a:solidFill>
                <a:schemeClr val="tx1"/>
              </a:solidFill>
            </a:endParaRPr>
          </a:p>
          <a:p>
            <a:pPr marL="800100" lvl="1" indent="-342900" algn="l" rtl="0">
              <a:lnSpc>
                <a:spcPct val="150000"/>
              </a:lnSpc>
              <a:spcBef>
                <a:spcPts val="0"/>
              </a:spcBef>
              <a:spcAft>
                <a:spcPts val="0"/>
              </a:spcAft>
              <a:buClr>
                <a:srgbClr val="973735"/>
              </a:buClr>
              <a:buSzPts val="1400"/>
              <a:buFont typeface="Noto Sans Symbols"/>
              <a:buChar char="◆"/>
            </a:pPr>
            <a:r>
              <a:rPr lang="en-US" dirty="0">
                <a:solidFill>
                  <a:schemeClr val="tx1"/>
                </a:solidFill>
              </a:rPr>
              <a:t>How to implement https in node </a:t>
            </a:r>
            <a:r>
              <a:rPr lang="en-US" dirty="0" err="1">
                <a:solidFill>
                  <a:schemeClr val="tx1"/>
                </a:solidFill>
              </a:rPr>
              <a:t>js</a:t>
            </a:r>
            <a:endParaRPr dirty="0">
              <a:solidFill>
                <a:schemeClr val="tx1"/>
              </a:solidFill>
            </a:endParaRPr>
          </a:p>
          <a:p>
            <a:pPr marL="800100" lvl="1" indent="-342900" algn="l" rtl="0">
              <a:lnSpc>
                <a:spcPct val="150000"/>
              </a:lnSpc>
              <a:spcBef>
                <a:spcPts val="0"/>
              </a:spcBef>
              <a:spcAft>
                <a:spcPts val="0"/>
              </a:spcAft>
              <a:buClr>
                <a:srgbClr val="973735"/>
              </a:buClr>
              <a:buSzPts val="1400"/>
              <a:buFont typeface="Noto Sans Symbols"/>
              <a:buChar char="◆"/>
            </a:pPr>
            <a:r>
              <a:rPr lang="en-US" dirty="0">
                <a:solidFill>
                  <a:schemeClr val="tx1"/>
                </a:solidFill>
              </a:rPr>
              <a:t>Introduction SSO, OAuth</a:t>
            </a:r>
            <a:endParaRPr dirty="0">
              <a:solidFill>
                <a:schemeClr val="tx1"/>
              </a:solidFill>
            </a:endParaRPr>
          </a:p>
          <a:p>
            <a:pPr marL="800100" lvl="1" indent="-254000" algn="l" rtl="0">
              <a:lnSpc>
                <a:spcPct val="150000"/>
              </a:lnSpc>
              <a:spcBef>
                <a:spcPts val="0"/>
              </a:spcBef>
              <a:spcAft>
                <a:spcPts val="0"/>
              </a:spcAft>
              <a:buClr>
                <a:srgbClr val="973735"/>
              </a:buClr>
              <a:buSzPts val="1400"/>
              <a:buFont typeface="Noto Sans Symbols"/>
              <a:buNone/>
            </a:pPr>
            <a:endParaRPr dirty="0">
              <a:solidFill>
                <a:schemeClr val="tx1"/>
              </a:solidFill>
            </a:endParaRPr>
          </a:p>
          <a:p>
            <a:pPr marL="800100" lvl="1" indent="-266700" algn="l" rtl="0">
              <a:lnSpc>
                <a:spcPct val="150000"/>
              </a:lnSpc>
              <a:spcBef>
                <a:spcPts val="0"/>
              </a:spcBef>
              <a:spcAft>
                <a:spcPts val="0"/>
              </a:spcAft>
              <a:buClr>
                <a:srgbClr val="973735"/>
              </a:buClr>
              <a:buSzPts val="1200"/>
              <a:buFont typeface="Noto Sans Symbols"/>
              <a:buNone/>
            </a:pPr>
            <a:endParaRPr dirty="0">
              <a:solidFill>
                <a:schemeClr val="tx1"/>
              </a:solidFill>
            </a:endParaRPr>
          </a:p>
        </p:txBody>
      </p:sp>
      <p:sp>
        <p:nvSpPr>
          <p:cNvPr id="275" name="Google Shape;275;p73"/>
          <p:cNvSpPr txBox="1">
            <a:spLocks noGrp="1"/>
          </p:cNvSpPr>
          <p:nvPr>
            <p:ph type="sldNum" idx="12"/>
          </p:nvPr>
        </p:nvSpPr>
        <p:spPr>
          <a:xfrm>
            <a:off x="8686060" y="648070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4">
                                            <p:txEl>
                                              <p:pRg st="0" end="0"/>
                                            </p:txEl>
                                          </p:spTgt>
                                        </p:tgtEl>
                                        <p:attrNameLst>
                                          <p:attrName>style.visibility</p:attrName>
                                        </p:attrNameLst>
                                      </p:cBhvr>
                                      <p:to>
                                        <p:strVal val="visible"/>
                                      </p:to>
                                    </p:set>
                                    <p:animEffect transition="in" filter="fade">
                                      <p:cBhvr>
                                        <p:cTn id="7" dur="500"/>
                                        <p:tgtEl>
                                          <p:spTgt spid="27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74">
                                            <p:txEl>
                                              <p:pRg st="1" end="1"/>
                                            </p:txEl>
                                          </p:spTgt>
                                        </p:tgtEl>
                                        <p:attrNameLst>
                                          <p:attrName>style.visibility</p:attrName>
                                        </p:attrNameLst>
                                      </p:cBhvr>
                                      <p:to>
                                        <p:strVal val="visible"/>
                                      </p:to>
                                    </p:set>
                                    <p:animEffect transition="in" filter="fade">
                                      <p:cBhvr>
                                        <p:cTn id="10" dur="500"/>
                                        <p:tgtEl>
                                          <p:spTgt spid="27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74">
                                            <p:txEl>
                                              <p:pRg st="2" end="2"/>
                                            </p:txEl>
                                          </p:spTgt>
                                        </p:tgtEl>
                                        <p:attrNameLst>
                                          <p:attrName>style.visibility</p:attrName>
                                        </p:attrNameLst>
                                      </p:cBhvr>
                                      <p:to>
                                        <p:strVal val="visible"/>
                                      </p:to>
                                    </p:set>
                                    <p:animEffect transition="in" filter="fade">
                                      <p:cBhvr>
                                        <p:cTn id="13" dur="500"/>
                                        <p:tgtEl>
                                          <p:spTgt spid="27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74">
                                            <p:txEl>
                                              <p:pRg st="3" end="3"/>
                                            </p:txEl>
                                          </p:spTgt>
                                        </p:tgtEl>
                                        <p:attrNameLst>
                                          <p:attrName>style.visibility</p:attrName>
                                        </p:attrNameLst>
                                      </p:cBhvr>
                                      <p:to>
                                        <p:strVal val="visible"/>
                                      </p:to>
                                    </p:set>
                                    <p:animEffect transition="in" filter="fade">
                                      <p:cBhvr>
                                        <p:cTn id="16" dur="500"/>
                                        <p:tgtEl>
                                          <p:spTgt spid="274">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74">
                                            <p:txEl>
                                              <p:pRg st="4" end="4"/>
                                            </p:txEl>
                                          </p:spTgt>
                                        </p:tgtEl>
                                        <p:attrNameLst>
                                          <p:attrName>style.visibility</p:attrName>
                                        </p:attrNameLst>
                                      </p:cBhvr>
                                      <p:to>
                                        <p:strVal val="visible"/>
                                      </p:to>
                                    </p:set>
                                    <p:animEffect transition="in" filter="fade">
                                      <p:cBhvr>
                                        <p:cTn id="19" dur="500"/>
                                        <p:tgtEl>
                                          <p:spTgt spid="274">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74">
                                            <p:txEl>
                                              <p:pRg st="5" end="5"/>
                                            </p:txEl>
                                          </p:spTgt>
                                        </p:tgtEl>
                                        <p:attrNameLst>
                                          <p:attrName>style.visibility</p:attrName>
                                        </p:attrNameLst>
                                      </p:cBhvr>
                                      <p:to>
                                        <p:strVal val="visible"/>
                                      </p:to>
                                    </p:set>
                                    <p:animEffect transition="in" filter="fade">
                                      <p:cBhvr>
                                        <p:cTn id="22" dur="500"/>
                                        <p:tgtEl>
                                          <p:spTgt spid="274">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74">
                                            <p:txEl>
                                              <p:pRg st="6" end="6"/>
                                            </p:txEl>
                                          </p:spTgt>
                                        </p:tgtEl>
                                        <p:attrNameLst>
                                          <p:attrName>style.visibility</p:attrName>
                                        </p:attrNameLst>
                                      </p:cBhvr>
                                      <p:to>
                                        <p:strVal val="visible"/>
                                      </p:to>
                                    </p:set>
                                    <p:animEffect transition="in" filter="fade">
                                      <p:cBhvr>
                                        <p:cTn id="25" dur="500"/>
                                        <p:tgtEl>
                                          <p:spTgt spid="27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1751</Words>
  <Application>Microsoft Macintosh PowerPoint</Application>
  <PresentationFormat>Widescreen</PresentationFormat>
  <Paragraphs>182</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Consolas</vt:lpstr>
      <vt:lpstr>Roboto</vt:lpstr>
      <vt:lpstr>Calibri</vt:lpstr>
      <vt:lpstr>Noto Sans Symbols</vt:lpstr>
      <vt:lpstr>Courier New</vt:lpstr>
      <vt:lpstr>Office Theme</vt:lpstr>
      <vt:lpstr>HTTPS &amp; Secure communication</vt:lpstr>
      <vt:lpstr>Objectives </vt:lpstr>
      <vt:lpstr>Introduction HTTPS</vt:lpstr>
      <vt:lpstr>How does HTTPS work?</vt:lpstr>
      <vt:lpstr>How is the data encrypted and decrypted? </vt:lpstr>
      <vt:lpstr>Why does HTTPS switch to symmetric encryption during data transmission?</vt:lpstr>
      <vt:lpstr>Symmetric Key Cryptography </vt:lpstr>
      <vt:lpstr>Public Key Cryptography </vt:lpstr>
      <vt:lpstr>Why does HTTPS switch to symmetric encryption during data transmission?</vt:lpstr>
      <vt:lpstr>Generate SSL certificates</vt:lpstr>
      <vt:lpstr>Generate SSL certificates – MAC</vt:lpstr>
      <vt:lpstr>Generate SSL certificates </vt:lpstr>
      <vt:lpstr>Generate SSL certificates </vt:lpstr>
      <vt:lpstr>Generate SSL certificates – MAC</vt:lpstr>
      <vt:lpstr>Generate SSL certificates </vt:lpstr>
      <vt:lpstr>Set up HTTPS</vt:lpstr>
      <vt:lpstr>Redirect HTTP traffic to HTTPS</vt:lpstr>
      <vt:lpstr>Exercise: HTTPS and Secure Communication</vt:lpstr>
      <vt:lpstr>Introduction SSO</vt:lpstr>
      <vt:lpstr>𝗞𝗲𝘆 𝗣𝗹𝗮𝘆𝗲𝗿𝘀 𝗶𝗻 𝗦𝗦𝗢</vt:lpstr>
      <vt:lpstr>𝗕𝗲𝗻𝗲𝗳𝗶𝘁𝘀 𝗼𝗳 𝗦𝗦𝗢</vt:lpstr>
      <vt:lpstr>𝗛𝗼𝘄 𝗦𝗦𝗢 𝗪𝗼𝗿𝗸𝘀</vt:lpstr>
      <vt:lpstr>Understand OAuth 1.0</vt:lpstr>
      <vt:lpstr>Understand OAuth 1.0 – cont’d</vt:lpstr>
      <vt:lpstr>Understand OAuth 2.0</vt:lpstr>
      <vt:lpstr>Compare between OAuth 1 and OAuth 2</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Eric.fe</cp:lastModifiedBy>
  <cp:revision>2</cp:revision>
  <dcterms:created xsi:type="dcterms:W3CDTF">2021-01-25T08:25:31Z</dcterms:created>
  <dcterms:modified xsi:type="dcterms:W3CDTF">2026-10-13T14:11:07Z</dcterms:modified>
</cp:coreProperties>
</file>