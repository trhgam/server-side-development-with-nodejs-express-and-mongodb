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72" r:id="rId9"/>
    <p:sldId id="265" r:id="rId10"/>
    <p:sldId id="273" r:id="rId11"/>
    <p:sldId id="274" r:id="rId12"/>
    <p:sldId id="276" r:id="rId13"/>
    <p:sldId id="264" r:id="rId14"/>
    <p:sldId id="266" r:id="rId15"/>
    <p:sldId id="269" r:id="rId16"/>
    <p:sldId id="271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hNGZYa/9pva0zVnPOkt1HsHtb3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48"/>
  </p:normalViewPr>
  <p:slideViewPr>
    <p:cSldViewPr snapToGrid="0">
      <p:cViewPr varScale="1">
        <p:scale>
          <a:sx n="107" d="100"/>
          <a:sy n="107" d="100"/>
        </p:scale>
        <p:origin x="97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>
          <a:extLst>
            <a:ext uri="{FF2B5EF4-FFF2-40B4-BE49-F238E27FC236}">
              <a16:creationId xmlns:a16="http://schemas.microsoft.com/office/drawing/2014/main" id="{8857C7AB-DFC0-2AE3-148B-455D3B3BB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1:notes">
            <a:extLst>
              <a:ext uri="{FF2B5EF4-FFF2-40B4-BE49-F238E27FC236}">
                <a16:creationId xmlns:a16="http://schemas.microsoft.com/office/drawing/2014/main" id="{7D7AA05A-35AE-F6D0-E78B-0C4D4458AC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91:notes">
            <a:extLst>
              <a:ext uri="{FF2B5EF4-FFF2-40B4-BE49-F238E27FC236}">
                <a16:creationId xmlns:a16="http://schemas.microsoft.com/office/drawing/2014/main" id="{F5A8C48C-2FBD-2579-0E11-6368BD52C4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54364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>
          <a:extLst>
            <a:ext uri="{FF2B5EF4-FFF2-40B4-BE49-F238E27FC236}">
              <a16:creationId xmlns:a16="http://schemas.microsoft.com/office/drawing/2014/main" id="{F1AE03FC-E31B-6921-AA60-31EFE1944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1:notes">
            <a:extLst>
              <a:ext uri="{FF2B5EF4-FFF2-40B4-BE49-F238E27FC236}">
                <a16:creationId xmlns:a16="http://schemas.microsoft.com/office/drawing/2014/main" id="{D30420A3-1575-3866-9174-6AA205B60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91:notes">
            <a:extLst>
              <a:ext uri="{FF2B5EF4-FFF2-40B4-BE49-F238E27FC236}">
                <a16:creationId xmlns:a16="http://schemas.microsoft.com/office/drawing/2014/main" id="{542FD7DD-22B0-F715-548D-1CAB41BB5A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58578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>
          <a:extLst>
            <a:ext uri="{FF2B5EF4-FFF2-40B4-BE49-F238E27FC236}">
              <a16:creationId xmlns:a16="http://schemas.microsoft.com/office/drawing/2014/main" id="{F93F9127-2E25-0708-E4E0-E8B9C0106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1:notes">
            <a:extLst>
              <a:ext uri="{FF2B5EF4-FFF2-40B4-BE49-F238E27FC236}">
                <a16:creationId xmlns:a16="http://schemas.microsoft.com/office/drawing/2014/main" id="{75ECA61F-7CE5-CF8F-C778-2A6D05FABD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91:notes">
            <a:extLst>
              <a:ext uri="{FF2B5EF4-FFF2-40B4-BE49-F238E27FC236}">
                <a16:creationId xmlns:a16="http://schemas.microsoft.com/office/drawing/2014/main" id="{E2E68428-5DE0-15D5-B053-2BC0B920B6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40141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>
          <a:extLst>
            <a:ext uri="{FF2B5EF4-FFF2-40B4-BE49-F238E27FC236}">
              <a16:creationId xmlns:a16="http://schemas.microsoft.com/office/drawing/2014/main" id="{CE2B5643-5361-3C08-FA16-DF75F4AA3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1:notes">
            <a:extLst>
              <a:ext uri="{FF2B5EF4-FFF2-40B4-BE49-F238E27FC236}">
                <a16:creationId xmlns:a16="http://schemas.microsoft.com/office/drawing/2014/main" id="{41CD91C0-9348-35CA-DD15-275D780A98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91:notes">
            <a:extLst>
              <a:ext uri="{FF2B5EF4-FFF2-40B4-BE49-F238E27FC236}">
                <a16:creationId xmlns:a16="http://schemas.microsoft.com/office/drawing/2014/main" id="{5C0984EF-A0DE-9631-EC46-0461423CBE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43470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2" name="Google Shape;202;p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4" name="Google Shape;214;p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5"/>
          <p:cNvSpPr txBox="1">
            <a:spLocks noGrp="1"/>
          </p:cNvSpPr>
          <p:nvPr>
            <p:ph type="ctrTitle"/>
          </p:nvPr>
        </p:nvSpPr>
        <p:spPr>
          <a:xfrm>
            <a:off x="1524000" y="1988598"/>
            <a:ext cx="9144000" cy="15213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227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75"/>
          <p:cNvSpPr txBox="1"/>
          <p:nvPr/>
        </p:nvSpPr>
        <p:spPr>
          <a:xfrm>
            <a:off x="0" y="6461294"/>
            <a:ext cx="12192000" cy="403934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Google Shape;19;p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3292" y="23662"/>
            <a:ext cx="932284" cy="512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6"/>
          <p:cNvSpPr txBox="1">
            <a:spLocks noGrp="1"/>
          </p:cNvSpPr>
          <p:nvPr>
            <p:ph type="title"/>
          </p:nvPr>
        </p:nvSpPr>
        <p:spPr>
          <a:xfrm>
            <a:off x="838200" y="620209"/>
            <a:ext cx="9219460" cy="5754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>
                <a:solidFill>
                  <a:srgbClr val="00206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6"/>
          <p:cNvSpPr txBox="1"/>
          <p:nvPr/>
        </p:nvSpPr>
        <p:spPr>
          <a:xfrm>
            <a:off x="0" y="6461294"/>
            <a:ext cx="12192000" cy="369291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76"/>
          <p:cNvSpPr txBox="1">
            <a:spLocks noGrp="1"/>
          </p:cNvSpPr>
          <p:nvPr>
            <p:ph type="body" idx="1"/>
          </p:nvPr>
        </p:nvSpPr>
        <p:spPr>
          <a:xfrm>
            <a:off x="838200" y="153581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rgbClr val="00206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6"/>
          <p:cNvSpPr txBox="1">
            <a:spLocks noGrp="1"/>
          </p:cNvSpPr>
          <p:nvPr>
            <p:ph type="dt" idx="10"/>
          </p:nvPr>
        </p:nvSpPr>
        <p:spPr>
          <a:xfrm>
            <a:off x="838200" y="648069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6"/>
          <p:cNvSpPr txBox="1">
            <a:spLocks noGrp="1"/>
          </p:cNvSpPr>
          <p:nvPr>
            <p:ph type="sldNum" idx="12"/>
          </p:nvPr>
        </p:nvSpPr>
        <p:spPr>
          <a:xfrm>
            <a:off x="8686060" y="64807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76"/>
          <p:cNvSpPr txBox="1"/>
          <p:nvPr/>
        </p:nvSpPr>
        <p:spPr>
          <a:xfrm>
            <a:off x="670250" y="620209"/>
            <a:ext cx="167950" cy="57543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Google Shape;27;p7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7619"/>
            <a:ext cx="932284" cy="512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76" descr="Node.jsで開発環境を切り替え - Libra Studio Lo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0840" y="27415"/>
            <a:ext cx="492960" cy="492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600" b="1">
                <a:solidFill>
                  <a:srgbClr val="00206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7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7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8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8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8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7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7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7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>
            <a:spLocks noGrp="1"/>
          </p:cNvSpPr>
          <p:nvPr>
            <p:ph type="ctrTitle"/>
          </p:nvPr>
        </p:nvSpPr>
        <p:spPr>
          <a:xfrm>
            <a:off x="1161393" y="2241458"/>
            <a:ext cx="9869214" cy="1774360"/>
          </a:xfrm>
          <a:prstGeom prst="rect">
            <a:avLst/>
          </a:prstGeom>
          <a:gradFill>
            <a:gsLst>
              <a:gs pos="0">
                <a:srgbClr val="F6F9FC"/>
              </a:gs>
              <a:gs pos="74000">
                <a:srgbClr val="B3D1EC"/>
              </a:gs>
              <a:gs pos="83000">
                <a:srgbClr val="B3D1EC"/>
              </a:gs>
              <a:gs pos="100000">
                <a:srgbClr val="CCE0F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HandleBars</a:t>
            </a:r>
            <a:endParaRPr sz="4400" b="1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" descr="MongoDB with Node.js, CRUD Operation - DEV Community"/>
          <p:cNvPicPr preferRelativeResize="0"/>
          <p:nvPr/>
        </p:nvPicPr>
        <p:blipFill rotWithShape="1">
          <a:blip r:embed="rId3">
            <a:alphaModFix/>
          </a:blip>
          <a:srcRect t="32619" b="25606"/>
          <a:stretch/>
        </p:blipFill>
        <p:spPr>
          <a:xfrm>
            <a:off x="1161393" y="570270"/>
            <a:ext cx="9869214" cy="1671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>
            <a:spLocks noGrp="1"/>
          </p:cNvSpPr>
          <p:nvPr>
            <p:ph type="sldNum" idx="12"/>
          </p:nvPr>
        </p:nvSpPr>
        <p:spPr>
          <a:xfrm>
            <a:off x="8686060" y="64807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714703" y="1424123"/>
            <a:ext cx="11066792" cy="4933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73735"/>
              </a:buClr>
              <a:buSzPts val="1400"/>
              <a:buFont typeface="Noto Sans Symbols"/>
              <a:buChar char="◆"/>
            </a:pPr>
            <a:r>
              <a:rPr lang="en-US" dirty="0">
                <a:solidFill>
                  <a:schemeClr val="tx1"/>
                </a:solidFill>
              </a:rPr>
              <a:t>Introduction to Handlebars</a:t>
            </a:r>
            <a:endParaRPr dirty="0">
              <a:solidFill>
                <a:schemeClr val="tx1"/>
              </a:solidFill>
            </a:endParaRPr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73735"/>
              </a:buClr>
              <a:buSzPts val="1400"/>
              <a:buFont typeface="Noto Sans Symbols"/>
              <a:buChar char="◆"/>
            </a:pPr>
            <a:r>
              <a:rPr lang="en-US" dirty="0">
                <a:solidFill>
                  <a:schemeClr val="tx1"/>
                </a:solidFill>
              </a:rPr>
              <a:t>Install and Using Handlebars in NodeJS</a:t>
            </a:r>
            <a:endParaRPr dirty="0">
              <a:solidFill>
                <a:schemeClr val="tx1"/>
              </a:solidFill>
            </a:endParaRPr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73735"/>
              </a:buClr>
              <a:buSzPts val="1400"/>
              <a:buFont typeface="Noto Sans Symbols"/>
              <a:buChar char="◆"/>
            </a:pPr>
            <a:r>
              <a:rPr lang="en-US" dirty="0">
                <a:solidFill>
                  <a:schemeClr val="tx1"/>
                </a:solidFill>
              </a:rPr>
              <a:t>Basic Example about Handlebars</a:t>
            </a:r>
            <a:endParaRPr dirty="0">
              <a:solidFill>
                <a:schemeClr val="tx1"/>
              </a:solidFill>
            </a:endParaRPr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73735"/>
              </a:buClr>
              <a:buSzPts val="1400"/>
              <a:buFont typeface="Noto Sans Symbols"/>
              <a:buChar char="◆"/>
            </a:pPr>
            <a:r>
              <a:rPr lang="en-US" dirty="0">
                <a:solidFill>
                  <a:schemeClr val="tx1"/>
                </a:solidFill>
              </a:rPr>
              <a:t>Introduction Helper, Conditional, Partial, Hook in Handlebars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838200" y="611076"/>
            <a:ext cx="10379025" cy="74801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/>
              <a:t>Objectives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6"/>
          <p:cNvSpPr txBox="1">
            <a:spLocks noGrp="1"/>
          </p:cNvSpPr>
          <p:nvPr>
            <p:ph type="title"/>
          </p:nvPr>
        </p:nvSpPr>
        <p:spPr>
          <a:xfrm>
            <a:off x="838200" y="620209"/>
            <a:ext cx="9219460" cy="5754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/>
              <a:t>What is Handlebars?</a:t>
            </a:r>
            <a:endParaRPr dirty="0"/>
          </a:p>
        </p:txBody>
      </p:sp>
      <p:sp>
        <p:nvSpPr>
          <p:cNvPr id="106" name="Google Shape;106;p86"/>
          <p:cNvSpPr txBox="1">
            <a:spLocks noGrp="1"/>
          </p:cNvSpPr>
          <p:nvPr>
            <p:ph type="body" idx="1"/>
          </p:nvPr>
        </p:nvSpPr>
        <p:spPr>
          <a:xfrm>
            <a:off x="838200" y="153581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just">
              <a:lnSpc>
                <a:spcPct val="150000"/>
              </a:lnSpc>
              <a:buNone/>
            </a:pPr>
            <a:r>
              <a:rPr lang="en-GB" b="1" dirty="0">
                <a:solidFill>
                  <a:schemeClr val="tx1"/>
                </a:solidFill>
              </a:rPr>
              <a:t>Handlebars is a template engine that combines HTML templates with data to generate dynamic HTML.</a:t>
            </a:r>
            <a:r>
              <a:rPr lang="en-GB" dirty="0">
                <a:solidFill>
                  <a:schemeClr val="tx1"/>
                </a:solidFill>
              </a:rPr>
              <a:t> It uses expressions such as {{name}} to display data.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7" name="Google Shape;107;p86"/>
          <p:cNvSpPr txBox="1">
            <a:spLocks noGrp="1"/>
          </p:cNvSpPr>
          <p:nvPr>
            <p:ph type="sldNum" idx="12"/>
          </p:nvPr>
        </p:nvSpPr>
        <p:spPr>
          <a:xfrm>
            <a:off x="8686060" y="64807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B6CF882-8A6E-3227-587C-FF2E8942B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2881" y="3832761"/>
            <a:ext cx="5397500" cy="901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7"/>
          <p:cNvSpPr txBox="1">
            <a:spLocks noGrp="1"/>
          </p:cNvSpPr>
          <p:nvPr>
            <p:ph type="title"/>
          </p:nvPr>
        </p:nvSpPr>
        <p:spPr>
          <a:xfrm>
            <a:off x="838200" y="620209"/>
            <a:ext cx="9219460" cy="5754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Key Features of Handlebars</a:t>
            </a:r>
            <a:endParaRPr/>
          </a:p>
        </p:txBody>
      </p:sp>
      <p:sp>
        <p:nvSpPr>
          <p:cNvPr id="113" name="Google Shape;113;p87"/>
          <p:cNvSpPr txBox="1">
            <a:spLocks noGrp="1"/>
          </p:cNvSpPr>
          <p:nvPr>
            <p:ph type="body" idx="1"/>
          </p:nvPr>
        </p:nvSpPr>
        <p:spPr>
          <a:xfrm>
            <a:off x="838200" y="153581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GB" b="1" dirty="0">
                <a:solidFill>
                  <a:schemeClr val="tx1"/>
                </a:solidFill>
              </a:rPr>
              <a:t>Expressions</a:t>
            </a:r>
            <a:r>
              <a:rPr lang="en-GB" dirty="0">
                <a:solidFill>
                  <a:schemeClr val="tx1"/>
                </a:solidFill>
              </a:rPr>
              <a:t>: Display data in templates using double curly braces, such as {{name}}.</a:t>
            </a:r>
          </a:p>
          <a:p>
            <a:r>
              <a:rPr lang="en-GB" b="1" dirty="0">
                <a:solidFill>
                  <a:schemeClr val="tx1"/>
                </a:solidFill>
              </a:rPr>
              <a:t>Helpers</a:t>
            </a:r>
            <a:r>
              <a:rPr lang="en-GB" dirty="0">
                <a:solidFill>
                  <a:schemeClr val="tx1"/>
                </a:solidFill>
              </a:rPr>
              <a:t>: Functions used in templates to format data or perform custom operations.</a:t>
            </a:r>
          </a:p>
          <a:p>
            <a:r>
              <a:rPr lang="en-GB" b="1" dirty="0">
                <a:solidFill>
                  <a:schemeClr val="tx1"/>
                </a:solidFill>
              </a:rPr>
              <a:t>Partials</a:t>
            </a:r>
            <a:r>
              <a:rPr lang="en-GB" dirty="0">
                <a:solidFill>
                  <a:schemeClr val="tx1"/>
                </a:solidFill>
              </a:rPr>
              <a:t>: Reusable template sections, such as headers and footers, included using {{&gt; footer}}.</a:t>
            </a:r>
          </a:p>
          <a:p>
            <a:r>
              <a:rPr lang="en-GB" b="1" dirty="0">
                <a:solidFill>
                  <a:schemeClr val="tx1"/>
                </a:solidFill>
              </a:rPr>
              <a:t>Conditionals and Loops</a:t>
            </a:r>
            <a:r>
              <a:rPr lang="en-GB" dirty="0">
                <a:solidFill>
                  <a:schemeClr val="tx1"/>
                </a:solidFill>
              </a:rPr>
              <a:t>: Built-in helpers such as {{#if}} and {{#each}} for displaying content conditionally and iterating over data.</a:t>
            </a:r>
          </a:p>
        </p:txBody>
      </p:sp>
      <p:sp>
        <p:nvSpPr>
          <p:cNvPr id="114" name="Google Shape;114;p87"/>
          <p:cNvSpPr txBox="1">
            <a:spLocks noGrp="1"/>
          </p:cNvSpPr>
          <p:nvPr>
            <p:ph type="sldNum" idx="12"/>
          </p:nvPr>
        </p:nvSpPr>
        <p:spPr>
          <a:xfrm>
            <a:off x="8686060" y="64807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8"/>
          <p:cNvSpPr txBox="1">
            <a:spLocks noGrp="1"/>
          </p:cNvSpPr>
          <p:nvPr>
            <p:ph type="title"/>
          </p:nvPr>
        </p:nvSpPr>
        <p:spPr>
          <a:xfrm>
            <a:off x="838200" y="620209"/>
            <a:ext cx="9219460" cy="5754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Why Use Handlebars?</a:t>
            </a:r>
            <a:endParaRPr/>
          </a:p>
        </p:txBody>
      </p:sp>
      <p:sp>
        <p:nvSpPr>
          <p:cNvPr id="120" name="Google Shape;120;p88"/>
          <p:cNvSpPr txBox="1">
            <a:spLocks noGrp="1"/>
          </p:cNvSpPr>
          <p:nvPr>
            <p:ph type="body" idx="1"/>
          </p:nvPr>
        </p:nvSpPr>
        <p:spPr>
          <a:xfrm>
            <a:off x="838200" y="1195642"/>
            <a:ext cx="10515600" cy="5042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tx1"/>
                </a:solidFill>
              </a:rPr>
              <a:t>Separation of Logic and Presentation</a:t>
            </a:r>
            <a:r>
              <a:rPr lang="en-GB" dirty="0">
                <a:solidFill>
                  <a:schemeClr val="tx1"/>
                </a:solidFill>
              </a:rPr>
              <a:t>: Keep business logic in JavaScript and focus templates on displaying data. Handlebars supports conditions, loops, and helpers, so “logic-less” does not mean no logic at all.</a:t>
            </a:r>
          </a:p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tx1"/>
                </a:solidFill>
              </a:rPr>
              <a:t>Simplicity</a:t>
            </a:r>
            <a:r>
              <a:rPr lang="en-GB" dirty="0">
                <a:solidFill>
                  <a:schemeClr val="tx1"/>
                </a:solidFill>
              </a:rPr>
              <a:t>: Its straightforward syntax, such as {{name}}, makes templates easy to learn and write.</a:t>
            </a:r>
          </a:p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tx1"/>
                </a:solidFill>
              </a:rPr>
              <a:t>Maintainability</a:t>
            </a:r>
            <a:r>
              <a:rPr lang="en-GB" dirty="0">
                <a:solidFill>
                  <a:schemeClr val="tx1"/>
                </a:solidFill>
              </a:rPr>
              <a:t>: Readable templates and reusable partials make interfaces easier to update.</a:t>
            </a:r>
          </a:p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tx1"/>
                </a:solidFill>
              </a:rPr>
              <a:t>Performance</a:t>
            </a:r>
            <a:r>
              <a:rPr lang="en-GB" dirty="0">
                <a:solidFill>
                  <a:schemeClr val="tx1"/>
                </a:solidFill>
              </a:rPr>
              <a:t>: Templates can be precompiled, reducing template compilation work during rendering.</a:t>
            </a:r>
          </a:p>
        </p:txBody>
      </p:sp>
      <p:sp>
        <p:nvSpPr>
          <p:cNvPr id="121" name="Google Shape;121;p88"/>
          <p:cNvSpPr txBox="1">
            <a:spLocks noGrp="1"/>
          </p:cNvSpPr>
          <p:nvPr>
            <p:ph type="sldNum" idx="12"/>
          </p:nvPr>
        </p:nvSpPr>
        <p:spPr>
          <a:xfrm>
            <a:off x="8686060" y="64807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0"/>
          <p:cNvSpPr txBox="1">
            <a:spLocks noGrp="1"/>
          </p:cNvSpPr>
          <p:nvPr>
            <p:ph type="title"/>
          </p:nvPr>
        </p:nvSpPr>
        <p:spPr>
          <a:xfrm>
            <a:off x="838200" y="620209"/>
            <a:ext cx="9219460" cy="5754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Setting Up Handlebars with Node.js</a:t>
            </a:r>
            <a:endParaRPr/>
          </a:p>
        </p:txBody>
      </p:sp>
      <p:sp>
        <p:nvSpPr>
          <p:cNvPr id="135" name="Google Shape;135;p90"/>
          <p:cNvSpPr txBox="1">
            <a:spLocks noGrp="1"/>
          </p:cNvSpPr>
          <p:nvPr>
            <p:ph type="body" idx="1"/>
          </p:nvPr>
        </p:nvSpPr>
        <p:spPr>
          <a:xfrm>
            <a:off x="838200" y="153581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>
                <a:solidFill>
                  <a:schemeClr val="tx1"/>
                </a:solidFill>
              </a:rPr>
              <a:t>Install dependencies: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npm</a:t>
            </a:r>
            <a:r>
              <a:rPr lang="en-US" dirty="0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 install express express-handlebars</a:t>
            </a:r>
            <a:endParaRPr dirty="0">
              <a:solidFill>
                <a:schemeClr val="tx1"/>
              </a:solidFill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dirty="0">
                <a:solidFill>
                  <a:schemeClr val="tx1"/>
                </a:solidFill>
              </a:rPr>
              <a:t>Set up an Express server: Configure the server to use Handlebars as the templating engine.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6" name="Google Shape;136;p90"/>
          <p:cNvSpPr txBox="1">
            <a:spLocks noGrp="1"/>
          </p:cNvSpPr>
          <p:nvPr>
            <p:ph type="sldNum" idx="12"/>
          </p:nvPr>
        </p:nvSpPr>
        <p:spPr>
          <a:xfrm>
            <a:off x="8686060" y="64807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1"/>
          <p:cNvSpPr txBox="1">
            <a:spLocks noGrp="1"/>
          </p:cNvSpPr>
          <p:nvPr>
            <p:ph type="title"/>
          </p:nvPr>
        </p:nvSpPr>
        <p:spPr>
          <a:xfrm>
            <a:off x="838200" y="620209"/>
            <a:ext cx="9219460" cy="5754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Basic Example</a:t>
            </a:r>
            <a:endParaRPr/>
          </a:p>
        </p:txBody>
      </p:sp>
      <p:sp>
        <p:nvSpPr>
          <p:cNvPr id="142" name="Google Shape;142;p91"/>
          <p:cNvSpPr txBox="1">
            <a:spLocks noGrp="1"/>
          </p:cNvSpPr>
          <p:nvPr>
            <p:ph type="sldNum" idx="12"/>
          </p:nvPr>
        </p:nvSpPr>
        <p:spPr>
          <a:xfrm>
            <a:off x="8686060" y="64807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43" name="Google Shape;143;p91"/>
          <p:cNvSpPr txBox="1"/>
          <p:nvPr/>
        </p:nvSpPr>
        <p:spPr>
          <a:xfrm>
            <a:off x="973756" y="1217721"/>
            <a:ext cx="6097604" cy="526297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express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0" i="0" u="none" strike="noStrike" cap="non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require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'express'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0" i="0" u="none" strike="noStrike" cap="non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exphbs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0" i="0" u="none" strike="noStrike" cap="non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require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'express-handlebars'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0" i="0" u="none" strike="noStrike" cap="non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0" i="0" u="none" strike="noStrike" cap="non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express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 b="0" i="0" u="none" strike="noStrike" cap="non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Configure Handlebars</a:t>
            </a:r>
            <a:endParaRPr sz="14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engine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'handlebars'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exphbs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engine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layoutsDir: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'views/layouts/'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defaultLayout: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'index'</a:t>
            </a:r>
            <a:endParaRPr sz="14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}));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 b="0" i="0" u="none" strike="noStrike" cap="non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'view engine'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'handlebars'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'views'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'./views'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 b="0" i="0" u="none" strike="noStrike" cap="non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'/'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(</a:t>
            </a:r>
            <a:r>
              <a:rPr lang="en-US" sz="14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req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en-US" sz="14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render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'home'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title: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'Hello, World!'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body: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'Welcome to Handlebars.'</a:t>
            </a:r>
            <a:endParaRPr sz="14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});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 b="0" i="0" u="none" strike="noStrike" cap="non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listen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 b="0" i="0" u="none" strike="noStrike" cap="non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3000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() </a:t>
            </a: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en-US" sz="14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'Server is running on port 3000'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/>
          </a:p>
        </p:txBody>
      </p:sp>
      <p:pic>
        <p:nvPicPr>
          <p:cNvPr id="144" name="Google Shape;144;p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2480" y="3219775"/>
            <a:ext cx="3905300" cy="221127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91"/>
          <p:cNvSpPr txBox="1"/>
          <p:nvPr/>
        </p:nvSpPr>
        <p:spPr>
          <a:xfrm>
            <a:off x="7612480" y="1217721"/>
            <a:ext cx="3905300" cy="16004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{{!-- home.handlebars --}}</a:t>
            </a:r>
            <a:endParaRPr sz="14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lang="en-US" sz="14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lang="en-US" sz="14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>
          <a:extLst>
            <a:ext uri="{FF2B5EF4-FFF2-40B4-BE49-F238E27FC236}">
              <a16:creationId xmlns:a16="http://schemas.microsoft.com/office/drawing/2014/main" id="{0F9FED89-D2EC-4488-AFC9-13197BE9C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1">
            <a:extLst>
              <a:ext uri="{FF2B5EF4-FFF2-40B4-BE49-F238E27FC236}">
                <a16:creationId xmlns:a16="http://schemas.microsoft.com/office/drawing/2014/main" id="{79243AA4-671A-3834-3871-8785018758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620209"/>
            <a:ext cx="9219460" cy="5754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dirty="0"/>
              <a:t>Evaluation context</a:t>
            </a:r>
          </a:p>
        </p:txBody>
      </p:sp>
      <p:sp>
        <p:nvSpPr>
          <p:cNvPr id="142" name="Google Shape;142;p91">
            <a:extLst>
              <a:ext uri="{FF2B5EF4-FFF2-40B4-BE49-F238E27FC236}">
                <a16:creationId xmlns:a16="http://schemas.microsoft.com/office/drawing/2014/main" id="{68C5AC4F-F0AB-CAC1-E065-A945E8D9DC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86060" y="64807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7C08DF-64C1-F64E-9804-AAD3FE02112E}"/>
              </a:ext>
            </a:extLst>
          </p:cNvPr>
          <p:cNvSpPr txBox="1"/>
          <p:nvPr/>
        </p:nvSpPr>
        <p:spPr>
          <a:xfrm>
            <a:off x="838200" y="1195642"/>
            <a:ext cx="10515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r>
              <a:rPr lang="en-GB" b="1" dirty="0"/>
              <a:t>The evaluation context in Handlebars is the current data object that the template uses to look up variable values.</a:t>
            </a:r>
            <a:endParaRPr lang="en-GB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FABBEC-3E6E-59D0-AAFA-47CB13405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936" y="1944589"/>
            <a:ext cx="3352800" cy="1130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8A9093-A817-37D9-361D-29A8D61840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5292" y="1934306"/>
            <a:ext cx="4118772" cy="114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703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3"/>
          <p:cNvSpPr txBox="1">
            <a:spLocks noGrp="1"/>
          </p:cNvSpPr>
          <p:nvPr>
            <p:ph type="title"/>
          </p:nvPr>
        </p:nvSpPr>
        <p:spPr>
          <a:xfrm>
            <a:off x="838200" y="620209"/>
            <a:ext cx="9219460" cy="5754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Conditionals and Loops</a:t>
            </a:r>
            <a:endParaRPr/>
          </a:p>
        </p:txBody>
      </p:sp>
      <p:sp>
        <p:nvSpPr>
          <p:cNvPr id="161" name="Google Shape;161;p93"/>
          <p:cNvSpPr txBox="1">
            <a:spLocks noGrp="1"/>
          </p:cNvSpPr>
          <p:nvPr>
            <p:ph type="body" idx="1"/>
          </p:nvPr>
        </p:nvSpPr>
        <p:spPr>
          <a:xfrm>
            <a:off x="838200" y="153581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Highlight the use of {{#if}}, {{else}}, and {{#each}}.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Show a practical example:</a:t>
            </a:r>
            <a:endParaRPr/>
          </a:p>
        </p:txBody>
      </p:sp>
      <p:sp>
        <p:nvSpPr>
          <p:cNvPr id="162" name="Google Shape;162;p93"/>
          <p:cNvSpPr txBox="1">
            <a:spLocks noGrp="1"/>
          </p:cNvSpPr>
          <p:nvPr>
            <p:ph type="sldNum" idx="12"/>
          </p:nvPr>
        </p:nvSpPr>
        <p:spPr>
          <a:xfrm>
            <a:off x="8686060" y="64807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63" name="Google Shape;163;p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8996" y="4794615"/>
            <a:ext cx="2886478" cy="156231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93"/>
          <p:cNvSpPr txBox="1"/>
          <p:nvPr/>
        </p:nvSpPr>
        <p:spPr>
          <a:xfrm>
            <a:off x="988996" y="2859937"/>
            <a:ext cx="6097604" cy="181588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engine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'handlebars'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exphbs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engine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());</a:t>
            </a:r>
            <a:endParaRPr sz="1400" b="0" i="0" u="none" strike="noStrike" cap="none">
              <a:solidFill>
                <a:srgbClr val="4FC1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'/'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(</a:t>
            </a:r>
            <a:r>
              <a:rPr lang="en-US" sz="14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req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render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'home'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isAdmin: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items: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[</a:t>
            </a:r>
            <a:r>
              <a:rPr lang="en-US" sz="14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'Item1'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'Item2'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});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/>
          </a:p>
        </p:txBody>
      </p:sp>
      <p:sp>
        <p:nvSpPr>
          <p:cNvPr id="165" name="Google Shape;165;p93"/>
          <p:cNvSpPr txBox="1"/>
          <p:nvPr/>
        </p:nvSpPr>
        <p:spPr>
          <a:xfrm>
            <a:off x="7380170" y="2859937"/>
            <a:ext cx="3891013" cy="332398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lang="en-US" sz="1400" b="0" i="0" u="none" strike="noStrike" cap="non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#if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isAdmin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endParaRPr sz="14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Welcome, admin!</a:t>
            </a: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lang="en-US" sz="1400" b="0" i="0" u="none" strike="noStrike" cap="non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endParaRPr sz="14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Welcome, user!</a:t>
            </a: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lang="en-US" sz="1400" b="0" i="0" u="none" strike="noStrike" cap="non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/if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endParaRPr sz="14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lang="en-US" sz="1400" b="0" i="0" u="none" strike="noStrike" cap="non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#each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endParaRPr sz="14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lang="en-US" sz="14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lang="en-US" sz="1400" b="0" i="0" u="none" strike="noStrike" cap="non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/each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endParaRPr sz="14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n-US" sz="14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>
          <a:extLst>
            <a:ext uri="{FF2B5EF4-FFF2-40B4-BE49-F238E27FC236}">
              <a16:creationId xmlns:a16="http://schemas.microsoft.com/office/drawing/2014/main" id="{8C294623-353D-9F44-ED93-D5A693B88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1">
            <a:extLst>
              <a:ext uri="{FF2B5EF4-FFF2-40B4-BE49-F238E27FC236}">
                <a16:creationId xmlns:a16="http://schemas.microsoft.com/office/drawing/2014/main" id="{D4051361-E917-618E-0BDE-753EE083C8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620209"/>
            <a:ext cx="9219460" cy="5754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dirty="0"/>
              <a:t>Evaluation context</a:t>
            </a:r>
          </a:p>
        </p:txBody>
      </p:sp>
      <p:sp>
        <p:nvSpPr>
          <p:cNvPr id="142" name="Google Shape;142;p91">
            <a:extLst>
              <a:ext uri="{FF2B5EF4-FFF2-40B4-BE49-F238E27FC236}">
                <a16:creationId xmlns:a16="http://schemas.microsoft.com/office/drawing/2014/main" id="{7B33F4F1-F6B9-2AD3-79FC-7DB7AB543E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86060" y="64807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FE03DF8-8700-3C00-BB88-349E3A97BA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102665"/>
              </p:ext>
            </p:extLst>
          </p:nvPr>
        </p:nvGraphicFramePr>
        <p:xfrm>
          <a:off x="838200" y="1195642"/>
          <a:ext cx="10515600" cy="164795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4498420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572003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1600" b="1" dirty="0">
                          <a:solidFill>
                            <a:srgbClr val="FF0000"/>
                          </a:solidFill>
                        </a:rPr>
                        <a:t>Expression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1600" b="1" dirty="0">
                          <a:solidFill>
                            <a:srgbClr val="FF0000"/>
                          </a:solidFill>
                        </a:rPr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6527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1600" dirty="0"/>
                        <a:t>{{name}}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1600" dirty="0"/>
                        <a:t>Retrieves name from the current context (user).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4364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1600"/>
                        <a:t>{{this.age}}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1600" dirty="0"/>
                        <a:t>Retrieves age from the current data object.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4628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1600"/>
                        <a:t>{{../title}}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1600" dirty="0"/>
                        <a:t>Accesses the parent context to retrieve title.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6128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8369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>
          <a:extLst>
            <a:ext uri="{FF2B5EF4-FFF2-40B4-BE49-F238E27FC236}">
              <a16:creationId xmlns:a16="http://schemas.microsoft.com/office/drawing/2014/main" id="{ABEDE6DB-1783-6446-8307-D2E92D2FC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1">
            <a:extLst>
              <a:ext uri="{FF2B5EF4-FFF2-40B4-BE49-F238E27FC236}">
                <a16:creationId xmlns:a16="http://schemas.microsoft.com/office/drawing/2014/main" id="{85C97282-2A09-534E-5837-AB1187D43A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620209"/>
            <a:ext cx="9219460" cy="5754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dirty="0"/>
              <a:t>Template comments</a:t>
            </a:r>
          </a:p>
        </p:txBody>
      </p:sp>
      <p:sp>
        <p:nvSpPr>
          <p:cNvPr id="142" name="Google Shape;142;p91">
            <a:extLst>
              <a:ext uri="{FF2B5EF4-FFF2-40B4-BE49-F238E27FC236}">
                <a16:creationId xmlns:a16="http://schemas.microsoft.com/office/drawing/2014/main" id="{C49B351E-436C-E50B-02B6-71BA80B9F9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86060" y="64807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E29BD1-839D-3BAD-E8AD-B194559131AA}"/>
              </a:ext>
            </a:extLst>
          </p:cNvPr>
          <p:cNvSpPr txBox="1"/>
          <p:nvPr/>
        </p:nvSpPr>
        <p:spPr>
          <a:xfrm>
            <a:off x="838200" y="1195642"/>
            <a:ext cx="10515600" cy="2805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dirty="0"/>
              <a:t>You can use comments in your handlebars code just as you would in your code. Since there is generally some level of logic, this is a good practice.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The comments will not be in the resulting output. If you'd like the comments to show up just use HTML comments, and they will be output.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Any comments that must contain }} or other handlebars tokens should use the {{!-- --}} syntax.</a:t>
            </a:r>
          </a:p>
        </p:txBody>
      </p:sp>
    </p:spTree>
    <p:extLst>
      <p:ext uri="{BB962C8B-B14F-4D97-AF65-F5344CB8AC3E}">
        <p14:creationId xmlns:p14="http://schemas.microsoft.com/office/powerpoint/2010/main" val="3947079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>
          <a:extLst>
            <a:ext uri="{FF2B5EF4-FFF2-40B4-BE49-F238E27FC236}">
              <a16:creationId xmlns:a16="http://schemas.microsoft.com/office/drawing/2014/main" id="{7C0DA7D5-2CE5-4FB4-75E9-B763FAB66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1">
            <a:extLst>
              <a:ext uri="{FF2B5EF4-FFF2-40B4-BE49-F238E27FC236}">
                <a16:creationId xmlns:a16="http://schemas.microsoft.com/office/drawing/2014/main" id="{0F594970-197B-6ADD-7BC5-B3D1C73912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620209"/>
            <a:ext cx="9219460" cy="5754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dirty="0"/>
              <a:t>Template comments</a:t>
            </a:r>
          </a:p>
        </p:txBody>
      </p:sp>
      <p:sp>
        <p:nvSpPr>
          <p:cNvPr id="142" name="Google Shape;142;p91">
            <a:extLst>
              <a:ext uri="{FF2B5EF4-FFF2-40B4-BE49-F238E27FC236}">
                <a16:creationId xmlns:a16="http://schemas.microsoft.com/office/drawing/2014/main" id="{79F70DAB-3E56-D1AD-385E-0AB04CAC59E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86060" y="64807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5AA72C5-EE7D-7B44-FCC9-2392D930A5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905457"/>
              </p:ext>
            </p:extLst>
          </p:nvPr>
        </p:nvGraphicFramePr>
        <p:xfrm>
          <a:off x="933202" y="1227502"/>
          <a:ext cx="10598727" cy="237947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593770">
                  <a:extLst>
                    <a:ext uri="{9D8B030D-6E8A-4147-A177-3AD203B41FA5}">
                      <a16:colId xmlns:a16="http://schemas.microsoft.com/office/drawing/2014/main" val="1623424841"/>
                    </a:ext>
                  </a:extLst>
                </a:gridCol>
                <a:gridCol w="4472048">
                  <a:extLst>
                    <a:ext uri="{9D8B030D-6E8A-4147-A177-3AD203B41FA5}">
                      <a16:colId xmlns:a16="http://schemas.microsoft.com/office/drawing/2014/main" val="1143838231"/>
                    </a:ext>
                  </a:extLst>
                </a:gridCol>
                <a:gridCol w="3532909">
                  <a:extLst>
                    <a:ext uri="{9D8B030D-6E8A-4147-A177-3AD203B41FA5}">
                      <a16:colId xmlns:a16="http://schemas.microsoft.com/office/drawing/2014/main" val="39928079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1600" dirty="0">
                          <a:solidFill>
                            <a:srgbClr val="FF0000"/>
                          </a:solidFill>
                        </a:rPr>
                        <a:t>Syntax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1600" dirty="0">
                          <a:solidFill>
                            <a:srgbClr val="FF0000"/>
                          </a:solidFill>
                        </a:rPr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1600" dirty="0">
                          <a:solidFill>
                            <a:srgbClr val="FF0000"/>
                          </a:solidFill>
                        </a:rPr>
                        <a:t>Included in generated HTML?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5246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1600"/>
                        <a:t>{{! comment 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1600"/>
                        <a:t>Short Handlebars comment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160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4735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1600"/>
                        <a:t>&lt;!-- comment --&gt;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1600" dirty="0"/>
                        <a:t>HTML comment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1600"/>
                        <a:t>Yes, but not visibly displayed on the page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299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1600"/>
                        <a:t>{{!-- comment --}}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1600" dirty="0"/>
                        <a:t>Handlebars comment that can contain }} and span multiple lines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160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4384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1317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2"/>
          <p:cNvSpPr txBox="1">
            <a:spLocks noGrp="1"/>
          </p:cNvSpPr>
          <p:nvPr>
            <p:ph type="title"/>
          </p:nvPr>
        </p:nvSpPr>
        <p:spPr>
          <a:xfrm>
            <a:off x="838200" y="620209"/>
            <a:ext cx="9219460" cy="5754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Helpers in Handlebars</a:t>
            </a:r>
            <a:endParaRPr/>
          </a:p>
        </p:txBody>
      </p:sp>
      <p:sp>
        <p:nvSpPr>
          <p:cNvPr id="151" name="Google Shape;151;p92"/>
          <p:cNvSpPr txBox="1">
            <a:spLocks noGrp="1"/>
          </p:cNvSpPr>
          <p:nvPr>
            <p:ph type="body" idx="1"/>
          </p:nvPr>
        </p:nvSpPr>
        <p:spPr>
          <a:xfrm>
            <a:off x="838200" y="1195642"/>
            <a:ext cx="1059106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just">
              <a:lnSpc>
                <a:spcPct val="150000"/>
              </a:lnSpc>
              <a:buNone/>
            </a:pPr>
            <a:r>
              <a:rPr lang="en-GB" sz="2400" dirty="0">
                <a:solidFill>
                  <a:schemeClr val="tx1"/>
                </a:solidFill>
              </a:rPr>
              <a:t>Handlebars helpers can be accessed from any context in a template. You can register a helper with the </a:t>
            </a:r>
            <a:r>
              <a:rPr lang="en-GB" sz="2400" dirty="0" err="1">
                <a:solidFill>
                  <a:schemeClr val="tx1"/>
                </a:solidFill>
              </a:rPr>
              <a:t>Handlebars.registerHelper</a:t>
            </a:r>
            <a:r>
              <a:rPr lang="en-GB" sz="2400" dirty="0">
                <a:solidFill>
                  <a:schemeClr val="tx1"/>
                </a:solidFill>
              </a:rPr>
              <a:t> method.</a:t>
            </a:r>
            <a:endParaRPr sz="2400" dirty="0">
              <a:solidFill>
                <a:schemeClr val="tx1"/>
              </a:solidFill>
            </a:endParaRPr>
          </a:p>
        </p:txBody>
      </p:sp>
      <p:sp>
        <p:nvSpPr>
          <p:cNvPr id="152" name="Google Shape;152;p92"/>
          <p:cNvSpPr txBox="1">
            <a:spLocks noGrp="1"/>
          </p:cNvSpPr>
          <p:nvPr>
            <p:ph type="sldNum" idx="12"/>
          </p:nvPr>
        </p:nvSpPr>
        <p:spPr>
          <a:xfrm>
            <a:off x="8686060" y="64807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DB10CA-5FC6-5CC1-18DD-761F72650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680" y="2676780"/>
            <a:ext cx="7150100" cy="2870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4"/>
          <p:cNvSpPr txBox="1">
            <a:spLocks noGrp="1"/>
          </p:cNvSpPr>
          <p:nvPr>
            <p:ph type="title"/>
          </p:nvPr>
        </p:nvSpPr>
        <p:spPr>
          <a:xfrm>
            <a:off x="838200" y="620209"/>
            <a:ext cx="9219460" cy="5754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Using Partials</a:t>
            </a:r>
            <a:endParaRPr/>
          </a:p>
        </p:txBody>
      </p:sp>
      <p:sp>
        <p:nvSpPr>
          <p:cNvPr id="171" name="Google Shape;171;p94"/>
          <p:cNvSpPr txBox="1">
            <a:spLocks noGrp="1"/>
          </p:cNvSpPr>
          <p:nvPr>
            <p:ph type="body" idx="1"/>
          </p:nvPr>
        </p:nvSpPr>
        <p:spPr>
          <a:xfrm>
            <a:off x="838200" y="1535811"/>
            <a:ext cx="4773328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Partials are reusable template pieces.</a:t>
            </a:r>
            <a:endParaRPr/>
          </a:p>
        </p:txBody>
      </p:sp>
      <p:sp>
        <p:nvSpPr>
          <p:cNvPr id="172" name="Google Shape;172;p94"/>
          <p:cNvSpPr txBox="1">
            <a:spLocks noGrp="1"/>
          </p:cNvSpPr>
          <p:nvPr>
            <p:ph type="sldNum" idx="12"/>
          </p:nvPr>
        </p:nvSpPr>
        <p:spPr>
          <a:xfrm>
            <a:off x="8686060" y="64807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73" name="Google Shape;173;p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1244" y="5161972"/>
            <a:ext cx="2981741" cy="123842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94"/>
          <p:cNvSpPr txBox="1"/>
          <p:nvPr/>
        </p:nvSpPr>
        <p:spPr>
          <a:xfrm>
            <a:off x="931244" y="4612748"/>
            <a:ext cx="4680284" cy="46166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{{!-- partials/item.handlebars --}}</a:t>
            </a:r>
            <a:endParaRPr sz="12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2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en-US" sz="12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2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lang="en-US" sz="12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-US" sz="12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US" sz="12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lang="en-US" sz="12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description</a:t>
            </a:r>
            <a:r>
              <a:rPr lang="en-US" sz="12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lang="en-US" sz="12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2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en-US" sz="12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2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5" name="Google Shape;175;p94"/>
          <p:cNvSpPr txBox="1"/>
          <p:nvPr/>
        </p:nvSpPr>
        <p:spPr>
          <a:xfrm>
            <a:off x="931244" y="2545119"/>
            <a:ext cx="4680284" cy="196977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{{!-- layout/home.handlebars --}}</a:t>
            </a:r>
            <a:endParaRPr sz="12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2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n-US" sz="12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2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2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en-US" sz="12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2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en-US" sz="12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2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en-US" sz="12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2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lang="en-US" sz="1200" b="0" i="0" u="none" strike="noStrike" cap="non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#each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lang="en-US" sz="12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endParaRPr sz="12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lang="en-US" sz="12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{{&gt;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item</a:t>
            </a:r>
            <a:r>
              <a:rPr lang="en-US" sz="12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endParaRPr sz="12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lang="en-US" sz="1200" b="0" i="0" u="none" strike="noStrike" cap="non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/each</a:t>
            </a:r>
            <a:r>
              <a:rPr lang="en-US" sz="12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endParaRPr sz="12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en-US" sz="12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2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en-US" sz="12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2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2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en-US" sz="12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2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2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n-US" sz="1200" b="0" i="0" u="none" strike="noStrike" cap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2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6" name="Google Shape;176;p94"/>
          <p:cNvSpPr txBox="1"/>
          <p:nvPr/>
        </p:nvSpPr>
        <p:spPr>
          <a:xfrm>
            <a:off x="5863631" y="553297"/>
            <a:ext cx="6343049" cy="544764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express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 b="0" i="0" u="none" strike="noStrike" cap="non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require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'express'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 b="0" i="0" u="none" strike="noStrike" cap="non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exphbs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 b="0" i="0" u="none" strike="noStrike" cap="non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require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'express-handlebars'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 b="0" i="0" u="none" strike="noStrike" cap="non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 b="0" i="0" u="none" strike="noStrike" cap="non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express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 b="0" i="0" u="none" strike="noStrike" cap="non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hbs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 b="0" i="0" u="none" strike="noStrike" cap="non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exphbs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create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layoutsDir: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'views/layouts/'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defaultLayout: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'index'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partialsDir: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'views/partials/'</a:t>
            </a:r>
            <a:endParaRPr sz="12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 b="0" i="0" u="none" strike="noStrike" cap="non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engine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'handlebars'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 b="0" i="0" u="none" strike="noStrike" cap="non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hbs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engine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 b="0" i="0" u="none" strike="noStrike" cap="non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'view engine'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'handlebars'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'views'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'./views'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 b="0" i="0" u="none" strike="noStrike" cap="non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'/'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(</a:t>
            </a:r>
            <a:r>
              <a:rPr lang="en-US" sz="12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req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n-US" sz="12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render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'home'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2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title: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'Welcome to Handlebars'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2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items: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[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    { </a:t>
            </a:r>
            <a:r>
              <a:rPr lang="en-US" sz="12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name: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'Item 1'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description: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'This is the first item.'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},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    { </a:t>
            </a:r>
            <a:r>
              <a:rPr lang="en-US" sz="12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name: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'Item 2'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description: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'This is the second item.'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]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});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 b="0" i="0" u="none" strike="noStrike" cap="non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listen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 b="0" i="0" u="none" strike="noStrike" cap="non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3000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() </a:t>
            </a:r>
            <a:r>
              <a:rPr lang="en-US" sz="12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'Server is running on port 3000'</a:t>
            </a: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7"/>
          <p:cNvSpPr txBox="1">
            <a:spLocks noGrp="1"/>
          </p:cNvSpPr>
          <p:nvPr>
            <p:ph type="ctrTitle"/>
          </p:nvPr>
        </p:nvSpPr>
        <p:spPr>
          <a:xfrm>
            <a:off x="1161393" y="2241458"/>
            <a:ext cx="9869214" cy="1774360"/>
          </a:xfrm>
          <a:prstGeom prst="rect">
            <a:avLst/>
          </a:prstGeom>
          <a:gradFill>
            <a:gsLst>
              <a:gs pos="0">
                <a:srgbClr val="F6F9FC"/>
              </a:gs>
              <a:gs pos="74000">
                <a:srgbClr val="B3D1EC"/>
              </a:gs>
              <a:gs pos="83000">
                <a:srgbClr val="B3D1EC"/>
              </a:gs>
              <a:gs pos="100000">
                <a:srgbClr val="CCE0F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en-US" sz="44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Exercise: Using Handlebars and Express-Handlebars for building a news website</a:t>
            </a:r>
            <a:endParaRPr sz="4400" b="1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3"/>
          <p:cNvSpPr txBox="1">
            <a:spLocks noGrp="1"/>
          </p:cNvSpPr>
          <p:nvPr>
            <p:ph type="title"/>
          </p:nvPr>
        </p:nvSpPr>
        <p:spPr>
          <a:xfrm>
            <a:off x="1008993" y="679111"/>
            <a:ext cx="9850820" cy="59264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/>
              <a:t>Summary</a:t>
            </a:r>
            <a:endParaRPr/>
          </a:p>
        </p:txBody>
      </p:sp>
      <p:sp>
        <p:nvSpPr>
          <p:cNvPr id="217" name="Google Shape;217;p73"/>
          <p:cNvSpPr txBox="1">
            <a:spLocks noGrp="1"/>
          </p:cNvSpPr>
          <p:nvPr>
            <p:ph type="body" idx="1"/>
          </p:nvPr>
        </p:nvSpPr>
        <p:spPr>
          <a:xfrm>
            <a:off x="762739" y="1149006"/>
            <a:ext cx="11538305" cy="5331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73735"/>
              </a:buClr>
              <a:buSzPts val="1500"/>
              <a:buFont typeface="Noto Sans Symbols"/>
              <a:buChar char="◆"/>
            </a:pPr>
            <a:r>
              <a:rPr lang="en-US" sz="3000"/>
              <a:t>Concepts were introduced: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73735"/>
              </a:buClr>
              <a:buSzPts val="1400"/>
              <a:buFont typeface="Noto Sans Symbols"/>
              <a:buChar char="◆"/>
            </a:pPr>
            <a:r>
              <a:rPr lang="en-US"/>
              <a:t>Introduction to Handlebars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73735"/>
              </a:buClr>
              <a:buSzPts val="1400"/>
              <a:buFont typeface="Noto Sans Symbols"/>
              <a:buChar char="◆"/>
            </a:pPr>
            <a:r>
              <a:rPr lang="en-US"/>
              <a:t>Install and Using Handlebars in NodeJS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73735"/>
              </a:buClr>
              <a:buSzPts val="1400"/>
              <a:buFont typeface="Noto Sans Symbols"/>
              <a:buChar char="◆"/>
            </a:pPr>
            <a:r>
              <a:rPr lang="en-US"/>
              <a:t>Basic Example about Handlebars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73735"/>
              </a:buClr>
              <a:buSzPts val="1400"/>
              <a:buFont typeface="Noto Sans Symbols"/>
              <a:buChar char="◆"/>
            </a:pPr>
            <a:r>
              <a:rPr lang="en-US"/>
              <a:t>Introduction Helper, Conditional, Partial, Hook in Handlebars</a:t>
            </a:r>
            <a:endParaRPr/>
          </a:p>
          <a:p>
            <a:pPr marL="800100" lvl="1" indent="-2667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73735"/>
              </a:buClr>
              <a:buSzPts val="1200"/>
              <a:buFont typeface="Noto Sans Symbols"/>
              <a:buNone/>
            </a:pPr>
            <a:endParaRPr/>
          </a:p>
        </p:txBody>
      </p:sp>
      <p:sp>
        <p:nvSpPr>
          <p:cNvPr id="218" name="Google Shape;218;p73"/>
          <p:cNvSpPr txBox="1">
            <a:spLocks noGrp="1"/>
          </p:cNvSpPr>
          <p:nvPr>
            <p:ph type="sldNum" idx="12"/>
          </p:nvPr>
        </p:nvSpPr>
        <p:spPr>
          <a:xfrm>
            <a:off x="8686060" y="64807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1056</Words>
  <Application>Microsoft Macintosh PowerPoint</Application>
  <PresentationFormat>Widescreen</PresentationFormat>
  <Paragraphs>165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Consolas</vt:lpstr>
      <vt:lpstr>Courier New</vt:lpstr>
      <vt:lpstr>Noto Sans Symbols</vt:lpstr>
      <vt:lpstr>Office Theme</vt:lpstr>
      <vt:lpstr>HandleBars</vt:lpstr>
      <vt:lpstr>Objectives </vt:lpstr>
      <vt:lpstr>What is Handlebars?</vt:lpstr>
      <vt:lpstr>Key Features of Handlebars</vt:lpstr>
      <vt:lpstr>Why Use Handlebars?</vt:lpstr>
      <vt:lpstr>Setting Up Handlebars with Node.js</vt:lpstr>
      <vt:lpstr>Basic Example</vt:lpstr>
      <vt:lpstr>Evaluation context</vt:lpstr>
      <vt:lpstr>Conditionals and Loops</vt:lpstr>
      <vt:lpstr>Evaluation context</vt:lpstr>
      <vt:lpstr>Template comments</vt:lpstr>
      <vt:lpstr>Template comments</vt:lpstr>
      <vt:lpstr>Helpers in Handlebars</vt:lpstr>
      <vt:lpstr>Using Partials</vt:lpstr>
      <vt:lpstr>Exercise: Using Handlebars and Express-Handlebars for building a news website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Eric.fe</cp:lastModifiedBy>
  <cp:revision>3</cp:revision>
  <dcterms:created xsi:type="dcterms:W3CDTF">2021-01-25T08:25:31Z</dcterms:created>
  <dcterms:modified xsi:type="dcterms:W3CDTF">2026-10-02T12:15:13Z</dcterms:modified>
</cp:coreProperties>
</file>