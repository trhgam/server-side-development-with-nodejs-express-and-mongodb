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94" r:id="rId7"/>
    <p:sldId id="263" r:id="rId8"/>
    <p:sldId id="264" r:id="rId9"/>
    <p:sldId id="325" r:id="rId10"/>
    <p:sldId id="295" r:id="rId11"/>
    <p:sldId id="320" r:id="rId12"/>
    <p:sldId id="296" r:id="rId13"/>
    <p:sldId id="269" r:id="rId14"/>
    <p:sldId id="279" r:id="rId15"/>
    <p:sldId id="280" r:id="rId16"/>
    <p:sldId id="282" r:id="rId17"/>
    <p:sldId id="283" r:id="rId18"/>
    <p:sldId id="290" r:id="rId19"/>
    <p:sldId id="278" r:id="rId20"/>
    <p:sldId id="329" r:id="rId21"/>
    <p:sldId id="304" r:id="rId22"/>
    <p:sldId id="270" r:id="rId23"/>
    <p:sldId id="271" r:id="rId24"/>
    <p:sldId id="272" r:id="rId25"/>
    <p:sldId id="273" r:id="rId26"/>
    <p:sldId id="275" r:id="rId27"/>
    <p:sldId id="327" r:id="rId28"/>
    <p:sldId id="326" r:id="rId29"/>
    <p:sldId id="262" r:id="rId30"/>
    <p:sldId id="321" r:id="rId31"/>
    <p:sldId id="328" r:id="rId32"/>
    <p:sldId id="323" r:id="rId33"/>
    <p:sldId id="324" r:id="rId34"/>
    <p:sldId id="322" r:id="rId35"/>
    <p:sldId id="305" r:id="rId36"/>
    <p:sldId id="306" r:id="rId37"/>
    <p:sldId id="308" r:id="rId38"/>
    <p:sldId id="311" r:id="rId39"/>
    <p:sldId id="310" r:id="rId40"/>
    <p:sldId id="312" r:id="rId41"/>
    <p:sldId id="313" r:id="rId42"/>
    <p:sldId id="314" r:id="rId43"/>
    <p:sldId id="319" r:id="rId4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9" roundtripDataSignature="AMtx7mgiC+LmQJQOP09VOA+hY6zvwDOsY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648"/>
  </p:normalViewPr>
  <p:slideViewPr>
    <p:cSldViewPr snapToGrid="0">
      <p:cViewPr varScale="1">
        <p:scale>
          <a:sx n="107" d="100"/>
          <a:sy n="107" d="100"/>
        </p:scale>
        <p:origin x="976"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69" Type="http://customschemas.google.com/relationships/presentationmetadata" Target="metadata"/><Relationship Id="rId8" Type="http://schemas.openxmlformats.org/officeDocument/2006/relationships/slide" Target="slides/slide7.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 name="Google Shape;8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p1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p10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39" name="Google Shape;139;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a:extLst>
            <a:ext uri="{FF2B5EF4-FFF2-40B4-BE49-F238E27FC236}">
              <a16:creationId xmlns:a16="http://schemas.microsoft.com/office/drawing/2014/main" id="{B8CEC14E-8E2C-A6F0-144B-36324EAABC94}"/>
            </a:ext>
          </a:extLst>
        </p:cNvPr>
        <p:cNvGrpSpPr/>
        <p:nvPr/>
      </p:nvGrpSpPr>
      <p:grpSpPr>
        <a:xfrm>
          <a:off x="0" y="0"/>
          <a:ext cx="0" cy="0"/>
          <a:chOff x="0" y="0"/>
          <a:chExt cx="0" cy="0"/>
        </a:xfrm>
      </p:grpSpPr>
      <p:sp>
        <p:nvSpPr>
          <p:cNvPr id="402" name="Google Shape;402;p109:notes">
            <a:extLst>
              <a:ext uri="{FF2B5EF4-FFF2-40B4-BE49-F238E27FC236}">
                <a16:creationId xmlns:a16="http://schemas.microsoft.com/office/drawing/2014/main" id="{7091A281-82DC-AA28-6AD1-F3E0EACD09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p109:notes">
            <a:extLst>
              <a:ext uri="{FF2B5EF4-FFF2-40B4-BE49-F238E27FC236}">
                <a16:creationId xmlns:a16="http://schemas.microsoft.com/office/drawing/2014/main" id="{91C93CA4-999F-04BB-59BA-C7EA0DF0C26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p109:notes">
            <a:extLst>
              <a:ext uri="{FF2B5EF4-FFF2-40B4-BE49-F238E27FC236}">
                <a16:creationId xmlns:a16="http://schemas.microsoft.com/office/drawing/2014/main" id="{A5BAF974-4DEE-CC2D-91EB-A1F23E66886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extLst>
      <p:ext uri="{BB962C8B-B14F-4D97-AF65-F5344CB8AC3E}">
        <p14:creationId xmlns:p14="http://schemas.microsoft.com/office/powerpoint/2010/main" val="1466695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1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9" name="Google Shape;409;p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a:extLst>
            <a:ext uri="{FF2B5EF4-FFF2-40B4-BE49-F238E27FC236}">
              <a16:creationId xmlns:a16="http://schemas.microsoft.com/office/drawing/2014/main" id="{E55FDD5C-B8FF-B41B-BC2C-5A729DB95C7C}"/>
            </a:ext>
          </a:extLst>
        </p:cNvPr>
        <p:cNvGrpSpPr/>
        <p:nvPr/>
      </p:nvGrpSpPr>
      <p:grpSpPr>
        <a:xfrm>
          <a:off x="0" y="0"/>
          <a:ext cx="0" cy="0"/>
          <a:chOff x="0" y="0"/>
          <a:chExt cx="0" cy="0"/>
        </a:xfrm>
      </p:grpSpPr>
      <p:sp>
        <p:nvSpPr>
          <p:cNvPr id="408" name="Google Shape;408;p110:notes">
            <a:extLst>
              <a:ext uri="{FF2B5EF4-FFF2-40B4-BE49-F238E27FC236}">
                <a16:creationId xmlns:a16="http://schemas.microsoft.com/office/drawing/2014/main" id="{7B1E2C64-EEFB-2823-5B24-1A2DBA57E36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9" name="Google Shape;409;p110:notes">
            <a:extLst>
              <a:ext uri="{FF2B5EF4-FFF2-40B4-BE49-F238E27FC236}">
                <a16:creationId xmlns:a16="http://schemas.microsoft.com/office/drawing/2014/main" id="{A4A38BB0-C7CC-B7B2-4194-769025D912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71330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1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1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9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4090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81828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86344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230084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10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p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70131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9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300114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ED83FDEC-F62B-8F2F-34D8-4B690BC1B73A}"/>
            </a:ext>
          </a:extLst>
        </p:cNvPr>
        <p:cNvGrpSpPr/>
        <p:nvPr/>
      </p:nvGrpSpPr>
      <p:grpSpPr>
        <a:xfrm>
          <a:off x="0" y="0"/>
          <a:ext cx="0" cy="0"/>
          <a:chOff x="0" y="0"/>
          <a:chExt cx="0" cy="0"/>
        </a:xfrm>
      </p:grpSpPr>
      <p:sp>
        <p:nvSpPr>
          <p:cNvPr id="200" name="Google Shape;200;p91:notes">
            <a:extLst>
              <a:ext uri="{FF2B5EF4-FFF2-40B4-BE49-F238E27FC236}">
                <a16:creationId xmlns:a16="http://schemas.microsoft.com/office/drawing/2014/main" id="{A54F0D6C-462C-E7BF-BE20-1C75AFAA85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91:notes">
            <a:extLst>
              <a:ext uri="{FF2B5EF4-FFF2-40B4-BE49-F238E27FC236}">
                <a16:creationId xmlns:a16="http://schemas.microsoft.com/office/drawing/2014/main" id="{D2468F5B-BBAC-090D-765E-A17641A9BE6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91:notes">
            <a:extLst>
              <a:ext uri="{FF2B5EF4-FFF2-40B4-BE49-F238E27FC236}">
                <a16:creationId xmlns:a16="http://schemas.microsoft.com/office/drawing/2014/main" id="{7DEE571B-C1F9-3074-6CD3-7B4A627522B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extLst>
      <p:ext uri="{BB962C8B-B14F-4D97-AF65-F5344CB8AC3E}">
        <p14:creationId xmlns:p14="http://schemas.microsoft.com/office/powerpoint/2010/main" val="37188155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1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9" name="Google Shape;479;p1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a:extLst>
            <a:ext uri="{FF2B5EF4-FFF2-40B4-BE49-F238E27FC236}">
              <a16:creationId xmlns:a16="http://schemas.microsoft.com/office/drawing/2014/main" id="{8A5F3D73-3E0A-32CA-C26A-48CD3F3CC56B}"/>
            </a:ext>
          </a:extLst>
        </p:cNvPr>
        <p:cNvGrpSpPr/>
        <p:nvPr/>
      </p:nvGrpSpPr>
      <p:grpSpPr>
        <a:xfrm>
          <a:off x="0" y="0"/>
          <a:ext cx="0" cy="0"/>
          <a:chOff x="0" y="0"/>
          <a:chExt cx="0" cy="0"/>
        </a:xfrm>
      </p:grpSpPr>
      <p:sp>
        <p:nvSpPr>
          <p:cNvPr id="402" name="Google Shape;402;p109:notes">
            <a:extLst>
              <a:ext uri="{FF2B5EF4-FFF2-40B4-BE49-F238E27FC236}">
                <a16:creationId xmlns:a16="http://schemas.microsoft.com/office/drawing/2014/main" id="{3B55A17C-F360-6500-63C5-97EAF466640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p109:notes">
            <a:extLst>
              <a:ext uri="{FF2B5EF4-FFF2-40B4-BE49-F238E27FC236}">
                <a16:creationId xmlns:a16="http://schemas.microsoft.com/office/drawing/2014/main" id="{674A1B64-8458-777A-7748-D4483939A82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p109:notes">
            <a:extLst>
              <a:ext uri="{FF2B5EF4-FFF2-40B4-BE49-F238E27FC236}">
                <a16:creationId xmlns:a16="http://schemas.microsoft.com/office/drawing/2014/main" id="{CAF49D2D-41A1-DE5A-C3A4-F55D4FAB4B5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extLst>
      <p:ext uri="{BB962C8B-B14F-4D97-AF65-F5344CB8AC3E}">
        <p14:creationId xmlns:p14="http://schemas.microsoft.com/office/powerpoint/2010/main" val="42197973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7416F298-6873-3680-A848-6C8BC230E3E2}"/>
            </a:ext>
          </a:extLst>
        </p:cNvPr>
        <p:cNvGrpSpPr/>
        <p:nvPr/>
      </p:nvGrpSpPr>
      <p:grpSpPr>
        <a:xfrm>
          <a:off x="0" y="0"/>
          <a:ext cx="0" cy="0"/>
          <a:chOff x="0" y="0"/>
          <a:chExt cx="0" cy="0"/>
        </a:xfrm>
      </p:grpSpPr>
      <p:sp>
        <p:nvSpPr>
          <p:cNvPr id="124" name="Google Shape;124;p89:notes">
            <a:extLst>
              <a:ext uri="{FF2B5EF4-FFF2-40B4-BE49-F238E27FC236}">
                <a16:creationId xmlns:a16="http://schemas.microsoft.com/office/drawing/2014/main" id="{6534B15F-5BCB-EC39-0C1D-704637E9D1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89:notes">
            <a:extLst>
              <a:ext uri="{FF2B5EF4-FFF2-40B4-BE49-F238E27FC236}">
                <a16:creationId xmlns:a16="http://schemas.microsoft.com/office/drawing/2014/main" id="{D5A94DE8-88E4-DCFA-6C65-3D1940CE35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949242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CA24A8D4-C6A0-A762-66AD-F3F38973C3B2}"/>
            </a:ext>
          </a:extLst>
        </p:cNvPr>
        <p:cNvGrpSpPr/>
        <p:nvPr/>
      </p:nvGrpSpPr>
      <p:grpSpPr>
        <a:xfrm>
          <a:off x="0" y="0"/>
          <a:ext cx="0" cy="0"/>
          <a:chOff x="0" y="0"/>
          <a:chExt cx="0" cy="0"/>
        </a:xfrm>
      </p:grpSpPr>
      <p:sp>
        <p:nvSpPr>
          <p:cNvPr id="131" name="Google Shape;131;p90:notes">
            <a:extLst>
              <a:ext uri="{FF2B5EF4-FFF2-40B4-BE49-F238E27FC236}">
                <a16:creationId xmlns:a16="http://schemas.microsoft.com/office/drawing/2014/main" id="{01569B6A-86FC-5164-6045-6DCBE56BD8D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90:notes">
            <a:extLst>
              <a:ext uri="{FF2B5EF4-FFF2-40B4-BE49-F238E27FC236}">
                <a16:creationId xmlns:a16="http://schemas.microsoft.com/office/drawing/2014/main" id="{A2B328E7-C1A8-AA0C-01F8-D72A65C9AF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959164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5249A714-3EBC-4664-3625-2DA090E4F2F4}"/>
            </a:ext>
          </a:extLst>
        </p:cNvPr>
        <p:cNvGrpSpPr/>
        <p:nvPr/>
      </p:nvGrpSpPr>
      <p:grpSpPr>
        <a:xfrm>
          <a:off x="0" y="0"/>
          <a:ext cx="0" cy="0"/>
          <a:chOff x="0" y="0"/>
          <a:chExt cx="0" cy="0"/>
        </a:xfrm>
      </p:grpSpPr>
      <p:sp>
        <p:nvSpPr>
          <p:cNvPr id="131" name="Google Shape;131;p90:notes">
            <a:extLst>
              <a:ext uri="{FF2B5EF4-FFF2-40B4-BE49-F238E27FC236}">
                <a16:creationId xmlns:a16="http://schemas.microsoft.com/office/drawing/2014/main" id="{4188BAD0-1D02-96AD-CB7C-9BB2F3100B8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90:notes">
            <a:extLst>
              <a:ext uri="{FF2B5EF4-FFF2-40B4-BE49-F238E27FC236}">
                <a16:creationId xmlns:a16="http://schemas.microsoft.com/office/drawing/2014/main" id="{CEBF1533-BBB4-A535-118F-D17FDC21B47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984456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10CFAD37-05D2-D00D-76AD-4AB76CBBB1AD}"/>
            </a:ext>
          </a:extLst>
        </p:cNvPr>
        <p:cNvGrpSpPr/>
        <p:nvPr/>
      </p:nvGrpSpPr>
      <p:grpSpPr>
        <a:xfrm>
          <a:off x="0" y="0"/>
          <a:ext cx="0" cy="0"/>
          <a:chOff x="0" y="0"/>
          <a:chExt cx="0" cy="0"/>
        </a:xfrm>
      </p:grpSpPr>
      <p:sp>
        <p:nvSpPr>
          <p:cNvPr id="131" name="Google Shape;131;p90:notes">
            <a:extLst>
              <a:ext uri="{FF2B5EF4-FFF2-40B4-BE49-F238E27FC236}">
                <a16:creationId xmlns:a16="http://schemas.microsoft.com/office/drawing/2014/main" id="{B9E765F5-6D50-87CD-43E4-AA77C27059D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90:notes">
            <a:extLst>
              <a:ext uri="{FF2B5EF4-FFF2-40B4-BE49-F238E27FC236}">
                <a16:creationId xmlns:a16="http://schemas.microsoft.com/office/drawing/2014/main" id="{CBC26F26-54F9-CDD3-E48C-F4F208A7F1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845318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8C6432D2-6447-C304-2109-E38E5F644B7D}"/>
            </a:ext>
          </a:extLst>
        </p:cNvPr>
        <p:cNvGrpSpPr/>
        <p:nvPr/>
      </p:nvGrpSpPr>
      <p:grpSpPr>
        <a:xfrm>
          <a:off x="0" y="0"/>
          <a:ext cx="0" cy="0"/>
          <a:chOff x="0" y="0"/>
          <a:chExt cx="0" cy="0"/>
        </a:xfrm>
      </p:grpSpPr>
      <p:sp>
        <p:nvSpPr>
          <p:cNvPr id="131" name="Google Shape;131;p90:notes">
            <a:extLst>
              <a:ext uri="{FF2B5EF4-FFF2-40B4-BE49-F238E27FC236}">
                <a16:creationId xmlns:a16="http://schemas.microsoft.com/office/drawing/2014/main" id="{A613BF36-E8CB-EFBA-2A98-A176D030E1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90:notes">
            <a:extLst>
              <a:ext uri="{FF2B5EF4-FFF2-40B4-BE49-F238E27FC236}">
                <a16:creationId xmlns:a16="http://schemas.microsoft.com/office/drawing/2014/main" id="{7E4D8D51-A38E-319F-170D-0FA78230F9A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45660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a:extLst>
            <a:ext uri="{FF2B5EF4-FFF2-40B4-BE49-F238E27FC236}">
              <a16:creationId xmlns:a16="http://schemas.microsoft.com/office/drawing/2014/main" id="{0080F5CF-75D7-D183-5138-D5794ED1CE92}"/>
            </a:ext>
          </a:extLst>
        </p:cNvPr>
        <p:cNvGrpSpPr/>
        <p:nvPr/>
      </p:nvGrpSpPr>
      <p:grpSpPr>
        <a:xfrm>
          <a:off x="0" y="0"/>
          <a:ext cx="0" cy="0"/>
          <a:chOff x="0" y="0"/>
          <a:chExt cx="0" cy="0"/>
        </a:xfrm>
      </p:grpSpPr>
      <p:sp>
        <p:nvSpPr>
          <p:cNvPr id="402" name="Google Shape;402;p109:notes">
            <a:extLst>
              <a:ext uri="{FF2B5EF4-FFF2-40B4-BE49-F238E27FC236}">
                <a16:creationId xmlns:a16="http://schemas.microsoft.com/office/drawing/2014/main" id="{9D6171FB-7D5C-0BCD-4C74-9D9BE06645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p109:notes">
            <a:extLst>
              <a:ext uri="{FF2B5EF4-FFF2-40B4-BE49-F238E27FC236}">
                <a16:creationId xmlns:a16="http://schemas.microsoft.com/office/drawing/2014/main" id="{8DC6FF35-261B-4EE8-F666-E2EBA2A7662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p109:notes">
            <a:extLst>
              <a:ext uri="{FF2B5EF4-FFF2-40B4-BE49-F238E27FC236}">
                <a16:creationId xmlns:a16="http://schemas.microsoft.com/office/drawing/2014/main" id="{291BA42D-8348-461E-FDCA-EA756904F2D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extLst>
      <p:ext uri="{BB962C8B-B14F-4D97-AF65-F5344CB8AC3E}">
        <p14:creationId xmlns:p14="http://schemas.microsoft.com/office/powerpoint/2010/main" val="19164585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7" name="Google Shape;487;p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1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5" name="Google Shape;495;p1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9" name="Google Shape;509;p1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0" name="Google Shape;510;p1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1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1" name="Google Shape;531;p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1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p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1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8" name="Google Shape;538;p1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1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5" name="Google Shape;545;p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1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3" name="Google Shape;553;p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91" name="Google Shape;591;p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5"/>
          <p:cNvSpPr txBox="1">
            <a:spLocks noGrp="1"/>
          </p:cNvSpPr>
          <p:nvPr>
            <p:ph type="ctrTitle"/>
          </p:nvPr>
        </p:nvSpPr>
        <p:spPr>
          <a:xfrm>
            <a:off x="1524000" y="1988598"/>
            <a:ext cx="9144000" cy="1521364"/>
          </a:xfrm>
          <a:prstGeom prst="rect">
            <a:avLst/>
          </a:prstGeom>
          <a:solidFill>
            <a:schemeClr val="accent2"/>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5"/>
          <p:cNvSpPr txBox="1">
            <a:spLocks noGrp="1"/>
          </p:cNvSpPr>
          <p:nvPr>
            <p:ph type="subTitle" idx="1"/>
          </p:nvPr>
        </p:nvSpPr>
        <p:spPr>
          <a:xfrm>
            <a:off x="1524000" y="3602038"/>
            <a:ext cx="9144000" cy="122741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75"/>
          <p:cNvSpPr txBox="1"/>
          <p:nvPr/>
        </p:nvSpPr>
        <p:spPr>
          <a:xfrm>
            <a:off x="0" y="6461294"/>
            <a:ext cx="12192000" cy="403934"/>
          </a:xfrm>
          <a:prstGeom prst="rect">
            <a:avLst/>
          </a:prstGeom>
          <a:solidFill>
            <a:srgbClr val="2F5496"/>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9" name="Google Shape;19;p75"/>
          <p:cNvPicPr preferRelativeResize="0"/>
          <p:nvPr/>
        </p:nvPicPr>
        <p:blipFill rotWithShape="1">
          <a:blip r:embed="rId2">
            <a:alphaModFix/>
          </a:blip>
          <a:srcRect/>
          <a:stretch/>
        </p:blipFill>
        <p:spPr>
          <a:xfrm>
            <a:off x="523292" y="23662"/>
            <a:ext cx="932284" cy="51275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76"/>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sz="3200" b="1">
                <a:solidFill>
                  <a:srgbClr val="00206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76"/>
          <p:cNvSpPr txBox="1"/>
          <p:nvPr/>
        </p:nvSpPr>
        <p:spPr>
          <a:xfrm>
            <a:off x="0" y="6461294"/>
            <a:ext cx="12192000" cy="369291"/>
          </a:xfrm>
          <a:prstGeom prst="rect">
            <a:avLst/>
          </a:prstGeom>
          <a:solidFill>
            <a:srgbClr val="2F5496"/>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2"/>
              </a:solidFill>
              <a:latin typeface="Arial"/>
              <a:ea typeface="Arial"/>
              <a:cs typeface="Arial"/>
              <a:sym typeface="Arial"/>
            </a:endParaRPr>
          </a:p>
        </p:txBody>
      </p:sp>
      <p:sp>
        <p:nvSpPr>
          <p:cNvPr id="23" name="Google Shape;23;p76"/>
          <p:cNvSpPr txBox="1">
            <a:spLocks noGrp="1"/>
          </p:cNvSpPr>
          <p:nvPr>
            <p:ph type="body" idx="1"/>
          </p:nvPr>
        </p:nvSpPr>
        <p:spPr>
          <a:xfrm>
            <a:off x="838200" y="1535811"/>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solidFill>
                  <a:srgbClr val="002060"/>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76"/>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76"/>
          <p:cNvSpPr txBox="1"/>
          <p:nvPr/>
        </p:nvSpPr>
        <p:spPr>
          <a:xfrm>
            <a:off x="670250" y="620209"/>
            <a:ext cx="167950" cy="575433"/>
          </a:xfrm>
          <a:prstGeom prst="rect">
            <a:avLst/>
          </a:prstGeom>
          <a:solidFill>
            <a:srgbClr val="00206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27" name="Google Shape;27;p76"/>
          <p:cNvPicPr preferRelativeResize="0"/>
          <p:nvPr/>
        </p:nvPicPr>
        <p:blipFill rotWithShape="1">
          <a:blip r:embed="rId2">
            <a:alphaModFix/>
          </a:blip>
          <a:srcRect/>
          <a:stretch/>
        </p:blipFill>
        <p:spPr>
          <a:xfrm>
            <a:off x="838200" y="7619"/>
            <a:ext cx="932284" cy="512756"/>
          </a:xfrm>
          <a:prstGeom prst="rect">
            <a:avLst/>
          </a:prstGeom>
          <a:noFill/>
          <a:ln>
            <a:noFill/>
          </a:ln>
        </p:spPr>
      </p:pic>
      <p:pic>
        <p:nvPicPr>
          <p:cNvPr id="28" name="Google Shape;28;p76" descr="Node.jsで開発環境を切り替え - Libra Studio Log"/>
          <p:cNvPicPr preferRelativeResize="0"/>
          <p:nvPr/>
        </p:nvPicPr>
        <p:blipFill rotWithShape="1">
          <a:blip r:embed="rId3">
            <a:alphaModFix/>
          </a:blip>
          <a:srcRect/>
          <a:stretch/>
        </p:blipFill>
        <p:spPr>
          <a:xfrm>
            <a:off x="10860840" y="27415"/>
            <a:ext cx="492960" cy="49296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sz="3600" b="1">
                <a:solidFill>
                  <a:srgbClr val="00206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7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7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7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8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3"/>
          <p:cNvSpPr>
            <a:spLocks noGrp="1"/>
          </p:cNvSpPr>
          <p:nvPr>
            <p:ph type="pic" idx="2"/>
          </p:nvPr>
        </p:nvSpPr>
        <p:spPr>
          <a:xfrm>
            <a:off x="5183188" y="987425"/>
            <a:ext cx="6172200" cy="4873625"/>
          </a:xfrm>
          <a:prstGeom prst="rect">
            <a:avLst/>
          </a:prstGeom>
          <a:noFill/>
          <a:ln>
            <a:noFill/>
          </a:ln>
        </p:spPr>
      </p:sp>
      <p:sp>
        <p:nvSpPr>
          <p:cNvPr id="70" name="Google Shape;70;p8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8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8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8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7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txBox="1">
            <a:spLocks noGrp="1"/>
          </p:cNvSpPr>
          <p:nvPr>
            <p:ph type="ctrTitle"/>
          </p:nvPr>
        </p:nvSpPr>
        <p:spPr>
          <a:xfrm>
            <a:off x="1161393" y="2241458"/>
            <a:ext cx="9869214"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400" b="1">
                <a:solidFill>
                  <a:srgbClr val="002060"/>
                </a:solidFill>
                <a:latin typeface="Arial"/>
                <a:ea typeface="Arial"/>
                <a:cs typeface="Arial"/>
                <a:sym typeface="Arial"/>
              </a:rPr>
              <a:t>Authentication &amp; Security</a:t>
            </a:r>
            <a:endParaRPr sz="4400" b="1">
              <a:solidFill>
                <a:srgbClr val="002060"/>
              </a:solidFill>
              <a:latin typeface="Arial"/>
              <a:ea typeface="Arial"/>
              <a:cs typeface="Arial"/>
              <a:sym typeface="Arial"/>
            </a:endParaRPr>
          </a:p>
        </p:txBody>
      </p:sp>
      <p:pic>
        <p:nvPicPr>
          <p:cNvPr id="92" name="Google Shape;92;p1" descr="MongoDB with Node.js, CRUD Operation - DEV Community"/>
          <p:cNvPicPr preferRelativeResize="0"/>
          <p:nvPr/>
        </p:nvPicPr>
        <p:blipFill rotWithShape="1">
          <a:blip r:embed="rId3">
            <a:alphaModFix/>
          </a:blip>
          <a:srcRect t="32619" b="25606"/>
          <a:stretch/>
        </p:blipFill>
        <p:spPr>
          <a:xfrm>
            <a:off x="1161393" y="570270"/>
            <a:ext cx="9869214" cy="167118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
        <p:nvSpPr>
          <p:cNvPr id="99" name="Google Shape;99;p2"/>
          <p:cNvSpPr txBox="1">
            <a:spLocks noGrp="1"/>
          </p:cNvSpPr>
          <p:nvPr>
            <p:ph type="body" idx="1"/>
          </p:nvPr>
        </p:nvSpPr>
        <p:spPr>
          <a:xfrm>
            <a:off x="714703" y="1424123"/>
            <a:ext cx="11066792" cy="4933134"/>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Clr>
                <a:srgbClr val="973735"/>
              </a:buClr>
              <a:buSzPts val="1400"/>
              <a:buFont typeface="Noto Sans Symbols"/>
              <a:buChar char="◆"/>
            </a:pPr>
            <a:r>
              <a:rPr lang="en-US" dirty="0">
                <a:solidFill>
                  <a:schemeClr val="tx1"/>
                </a:solidFill>
              </a:rPr>
              <a:t>Introduction Authentication</a:t>
            </a:r>
            <a:endParaRPr dirty="0">
              <a:solidFill>
                <a:schemeClr val="tx1"/>
              </a:solidFill>
            </a:endParaRPr>
          </a:p>
          <a:p>
            <a:pPr marL="342900" lvl="0" indent="-342900" algn="l" rtl="0">
              <a:lnSpc>
                <a:spcPct val="120000"/>
              </a:lnSpc>
              <a:spcBef>
                <a:spcPts val="0"/>
              </a:spcBef>
              <a:spcAft>
                <a:spcPts val="0"/>
              </a:spcAft>
              <a:buClr>
                <a:srgbClr val="973735"/>
              </a:buClr>
              <a:buSzPts val="1400"/>
              <a:buFont typeface="Noto Sans Symbols"/>
              <a:buChar char="◆"/>
            </a:pPr>
            <a:r>
              <a:rPr lang="en-US" dirty="0">
                <a:solidFill>
                  <a:schemeClr val="tx1"/>
                </a:solidFill>
              </a:rPr>
              <a:t>Introduction Database Encryption</a:t>
            </a:r>
            <a:endParaRPr dirty="0">
              <a:solidFill>
                <a:schemeClr val="tx1"/>
              </a:solidFill>
            </a:endParaRPr>
          </a:p>
          <a:p>
            <a:pPr marL="342900" lvl="0" indent="-342900" algn="l" rtl="0">
              <a:lnSpc>
                <a:spcPct val="120000"/>
              </a:lnSpc>
              <a:spcBef>
                <a:spcPts val="0"/>
              </a:spcBef>
              <a:spcAft>
                <a:spcPts val="0"/>
              </a:spcAft>
              <a:buClr>
                <a:srgbClr val="973735"/>
              </a:buClr>
              <a:buSzPts val="1400"/>
              <a:buFont typeface="Noto Sans Symbols"/>
              <a:buChar char="◆"/>
            </a:pPr>
            <a:r>
              <a:rPr lang="en-US" dirty="0">
                <a:solidFill>
                  <a:schemeClr val="tx1"/>
                </a:solidFill>
              </a:rPr>
              <a:t>Compare Cookie and Session</a:t>
            </a:r>
            <a:endParaRPr dirty="0">
              <a:solidFill>
                <a:schemeClr val="tx1"/>
              </a:solidFill>
            </a:endParaRPr>
          </a:p>
          <a:p>
            <a:pPr marL="342900" lvl="0" indent="-342900" algn="l" rtl="0">
              <a:lnSpc>
                <a:spcPct val="120000"/>
              </a:lnSpc>
              <a:spcBef>
                <a:spcPts val="0"/>
              </a:spcBef>
              <a:spcAft>
                <a:spcPts val="0"/>
              </a:spcAft>
              <a:buClr>
                <a:srgbClr val="973735"/>
              </a:buClr>
              <a:buSzPts val="1400"/>
              <a:buFont typeface="Noto Sans Symbols"/>
              <a:buChar char="◆"/>
            </a:pPr>
            <a:r>
              <a:rPr lang="en-US" dirty="0">
                <a:solidFill>
                  <a:schemeClr val="tx1"/>
                </a:solidFill>
              </a:rPr>
              <a:t>Overview Passport and JWT authentication</a:t>
            </a:r>
            <a:endParaRPr dirty="0">
              <a:solidFill>
                <a:schemeClr val="tx1"/>
              </a:solidFill>
            </a:endParaRPr>
          </a:p>
        </p:txBody>
      </p:sp>
      <p:sp>
        <p:nvSpPr>
          <p:cNvPr id="100" name="Google Shape;100;p2"/>
          <p:cNvSpPr txBox="1">
            <a:spLocks noGrp="1"/>
          </p:cNvSpPr>
          <p:nvPr>
            <p:ph type="title"/>
          </p:nvPr>
        </p:nvSpPr>
        <p:spPr>
          <a:xfrm>
            <a:off x="838200" y="611076"/>
            <a:ext cx="10379025" cy="748017"/>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rial"/>
              <a:buNone/>
            </a:pPr>
            <a:r>
              <a:rPr lang="en-US" sz="4000" b="1"/>
              <a:t>Objectives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86"/>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Introduction authentication</a:t>
            </a:r>
            <a:endParaRPr/>
          </a:p>
        </p:txBody>
      </p:sp>
      <p:sp>
        <p:nvSpPr>
          <p:cNvPr id="106" name="Google Shape;106;p86"/>
          <p:cNvSpPr txBox="1">
            <a:spLocks noGrp="1"/>
          </p:cNvSpPr>
          <p:nvPr>
            <p:ph type="body" idx="1"/>
          </p:nvPr>
        </p:nvSpPr>
        <p:spPr>
          <a:xfrm>
            <a:off x="838200" y="1080655"/>
            <a:ext cx="10515600" cy="5308270"/>
          </a:xfrm>
          <a:prstGeom prst="rect">
            <a:avLst/>
          </a:prstGeom>
          <a:noFill/>
          <a:ln>
            <a:noFill/>
          </a:ln>
        </p:spPr>
        <p:txBody>
          <a:bodyPr spcFirstLastPara="1" wrap="square" lIns="91425" tIns="45700" rIns="91425" bIns="45700" anchor="t" anchorCtr="0">
            <a:normAutofit fontScale="77500" lnSpcReduction="20000"/>
          </a:bodyPr>
          <a:lstStyle/>
          <a:p>
            <a:pPr lvl="0" algn="just">
              <a:lnSpc>
                <a:spcPct val="150000"/>
              </a:lnSpc>
            </a:pPr>
            <a:r>
              <a:rPr lang="en-GB" b="1" dirty="0">
                <a:solidFill>
                  <a:schemeClr val="tx1"/>
                </a:solidFill>
              </a:rPr>
              <a:t>Authentication</a:t>
            </a:r>
            <a:r>
              <a:rPr lang="en-GB" dirty="0">
                <a:solidFill>
                  <a:schemeClr val="tx1"/>
                </a:solidFill>
              </a:rPr>
              <a:t> is the process of verifying a user’s identity.</a:t>
            </a:r>
          </a:p>
          <a:p>
            <a:pPr lvl="0" algn="just">
              <a:lnSpc>
                <a:spcPct val="150000"/>
              </a:lnSpc>
            </a:pPr>
            <a:r>
              <a:rPr lang="en-GB" dirty="0">
                <a:solidFill>
                  <a:schemeClr val="tx1"/>
                </a:solidFill>
              </a:rPr>
              <a:t>Users commonly authenticate using a </a:t>
            </a:r>
            <a:r>
              <a:rPr lang="en-GB" b="1" dirty="0">
                <a:solidFill>
                  <a:schemeClr val="tx1"/>
                </a:solidFill>
              </a:rPr>
              <a:t>username and password</a:t>
            </a:r>
            <a:r>
              <a:rPr lang="en-GB" dirty="0">
                <a:solidFill>
                  <a:schemeClr val="tx1"/>
                </a:solidFill>
              </a:rPr>
              <a:t>.</a:t>
            </a:r>
          </a:p>
          <a:p>
            <a:pPr lvl="0" algn="just">
              <a:lnSpc>
                <a:spcPct val="150000"/>
              </a:lnSpc>
            </a:pPr>
            <a:r>
              <a:rPr lang="en-GB" dirty="0">
                <a:solidFill>
                  <a:schemeClr val="tx1"/>
                </a:solidFill>
              </a:rPr>
              <a:t>Authentication can </a:t>
            </a:r>
            <a:r>
              <a:rPr lang="en-GB" b="1" dirty="0">
                <a:solidFill>
                  <a:schemeClr val="tx1"/>
                </a:solidFill>
              </a:rPr>
              <a:t>succeed or fail</a:t>
            </a:r>
            <a:r>
              <a:rPr lang="en-GB" dirty="0">
                <a:solidFill>
                  <a:schemeClr val="tx1"/>
                </a:solidFill>
              </a:rPr>
              <a:t>. </a:t>
            </a:r>
          </a:p>
          <a:p>
            <a:pPr lvl="0" algn="just">
              <a:lnSpc>
                <a:spcPct val="150000"/>
              </a:lnSpc>
            </a:pPr>
            <a:r>
              <a:rPr lang="en-GB" dirty="0">
                <a:solidFill>
                  <a:schemeClr val="tx1"/>
                </a:solidFill>
              </a:rPr>
              <a:t>Successful authentication may establish a session or issue a token.</a:t>
            </a:r>
          </a:p>
          <a:p>
            <a:pPr lvl="0" algn="just">
              <a:lnSpc>
                <a:spcPct val="150000"/>
              </a:lnSpc>
            </a:pPr>
            <a:r>
              <a:rPr lang="en-GB" dirty="0">
                <a:solidFill>
                  <a:schemeClr val="tx1"/>
                </a:solidFill>
              </a:rPr>
              <a:t>Users usually need to authenticate before accessing </a:t>
            </a:r>
            <a:r>
              <a:rPr lang="en-GB" b="1" dirty="0">
                <a:solidFill>
                  <a:schemeClr val="tx1"/>
                </a:solidFill>
              </a:rPr>
              <a:t>protected resources</a:t>
            </a:r>
            <a:r>
              <a:rPr lang="en-GB" dirty="0">
                <a:solidFill>
                  <a:schemeClr val="tx1"/>
                </a:solidFill>
              </a:rPr>
              <a:t>.</a:t>
            </a:r>
          </a:p>
          <a:p>
            <a:pPr lvl="0" algn="just">
              <a:lnSpc>
                <a:spcPct val="150000"/>
              </a:lnSpc>
            </a:pPr>
            <a:r>
              <a:rPr lang="en-GB" b="1" dirty="0">
                <a:solidFill>
                  <a:schemeClr val="tx1"/>
                </a:solidFill>
              </a:rPr>
              <a:t>Authorization</a:t>
            </a:r>
            <a:r>
              <a:rPr lang="en-GB" dirty="0">
                <a:solidFill>
                  <a:schemeClr val="tx1"/>
                </a:solidFill>
              </a:rPr>
              <a:t> determines which resources and actions an authenticated user can access.</a:t>
            </a:r>
          </a:p>
          <a:p>
            <a:pPr lvl="0" algn="just">
              <a:lnSpc>
                <a:spcPct val="150000"/>
              </a:lnSpc>
            </a:pPr>
            <a:r>
              <a:rPr lang="en-GB" dirty="0">
                <a:solidFill>
                  <a:schemeClr val="tx1"/>
                </a:solidFill>
              </a:rPr>
              <a:t>Authentication methods vary between systems, but secure implementation is essential to protect user accounts and data.</a:t>
            </a:r>
            <a:endParaRPr dirty="0">
              <a:solidFill>
                <a:schemeClr val="tx1"/>
              </a:solidFill>
            </a:endParaRPr>
          </a:p>
        </p:txBody>
      </p:sp>
      <p:sp>
        <p:nvSpPr>
          <p:cNvPr id="107" name="Google Shape;107;p8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87"/>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Introduction authentication – cont’d</a:t>
            </a:r>
            <a:endParaRPr/>
          </a:p>
        </p:txBody>
      </p:sp>
      <p:sp>
        <p:nvSpPr>
          <p:cNvPr id="113" name="Google Shape;113;p87"/>
          <p:cNvSpPr txBox="1">
            <a:spLocks noGrp="1"/>
          </p:cNvSpPr>
          <p:nvPr>
            <p:ph type="body" idx="1"/>
          </p:nvPr>
        </p:nvSpPr>
        <p:spPr>
          <a:xfrm>
            <a:off x="838200" y="1191876"/>
            <a:ext cx="11353800" cy="5285058"/>
          </a:xfrm>
          <a:prstGeom prst="rect">
            <a:avLst/>
          </a:prstGeom>
          <a:noFill/>
          <a:ln>
            <a:noFill/>
          </a:ln>
        </p:spPr>
        <p:txBody>
          <a:bodyPr spcFirstLastPara="1" wrap="square" lIns="91425" tIns="45700" rIns="91425" bIns="45700" anchor="t" anchorCtr="0">
            <a:normAutofit fontScale="92500"/>
          </a:bodyPr>
          <a:lstStyle/>
          <a:p>
            <a:pPr>
              <a:lnSpc>
                <a:spcPct val="160000"/>
              </a:lnSpc>
            </a:pPr>
            <a:r>
              <a:rPr lang="en-GB" dirty="0">
                <a:solidFill>
                  <a:schemeClr val="tx1"/>
                </a:solidFill>
              </a:rPr>
              <a:t>Authentication commonly involves two steps: </a:t>
            </a:r>
            <a:r>
              <a:rPr lang="en-GB" b="1" dirty="0">
                <a:solidFill>
                  <a:schemeClr val="tx1"/>
                </a:solidFill>
              </a:rPr>
              <a:t>identification</a:t>
            </a:r>
            <a:r>
              <a:rPr lang="en-GB" dirty="0">
                <a:solidFill>
                  <a:schemeClr val="tx1"/>
                </a:solidFill>
              </a:rPr>
              <a:t> and </a:t>
            </a:r>
            <a:r>
              <a:rPr lang="en-GB" b="1" dirty="0">
                <a:solidFill>
                  <a:schemeClr val="tx1"/>
                </a:solidFill>
              </a:rPr>
              <a:t>identity verification</a:t>
            </a:r>
            <a:r>
              <a:rPr lang="en-GB" dirty="0">
                <a:solidFill>
                  <a:schemeClr val="tx1"/>
                </a:solidFill>
              </a:rPr>
              <a:t>.</a:t>
            </a:r>
          </a:p>
          <a:p>
            <a:pPr>
              <a:lnSpc>
                <a:spcPct val="160000"/>
              </a:lnSpc>
            </a:pPr>
            <a:r>
              <a:rPr lang="en-GB" b="1" dirty="0">
                <a:solidFill>
                  <a:schemeClr val="tx1"/>
                </a:solidFill>
              </a:rPr>
              <a:t>Identification:</a:t>
            </a:r>
            <a:r>
              <a:rPr lang="en-GB" dirty="0">
                <a:solidFill>
                  <a:schemeClr val="tx1"/>
                </a:solidFill>
              </a:rPr>
              <a:t> The user provides an identifier, such as a username or email address, to claim an identity. This does not prove who they are.</a:t>
            </a:r>
          </a:p>
          <a:p>
            <a:pPr>
              <a:lnSpc>
                <a:spcPct val="160000"/>
              </a:lnSpc>
            </a:pPr>
            <a:r>
              <a:rPr lang="en-GB" b="1" dirty="0">
                <a:solidFill>
                  <a:schemeClr val="tx1"/>
                </a:solidFill>
              </a:rPr>
              <a:t>Identity verification:</a:t>
            </a:r>
            <a:r>
              <a:rPr lang="en-GB" dirty="0">
                <a:solidFill>
                  <a:schemeClr val="tx1"/>
                </a:solidFill>
              </a:rPr>
              <a:t> The user provides evidence, such as a password, to prove the claimed identity.</a:t>
            </a:r>
          </a:p>
          <a:p>
            <a:pPr>
              <a:lnSpc>
                <a:spcPct val="160000"/>
              </a:lnSpc>
            </a:pPr>
            <a:r>
              <a:rPr lang="en-GB" dirty="0">
                <a:solidFill>
                  <a:schemeClr val="tx1"/>
                </a:solidFill>
              </a:rPr>
              <a:t>If the evidence is valid, the user is </a:t>
            </a:r>
            <a:r>
              <a:rPr lang="en-GB" b="1" dirty="0">
                <a:solidFill>
                  <a:schemeClr val="tx1"/>
                </a:solidFill>
              </a:rPr>
              <a:t>successfully authenticated</a:t>
            </a:r>
            <a:r>
              <a:rPr lang="en-GB" dirty="0">
                <a:solidFill>
                  <a:schemeClr val="tx1"/>
                </a:solidFill>
              </a:rPr>
              <a:t>.</a:t>
            </a:r>
          </a:p>
        </p:txBody>
      </p:sp>
      <p:sp>
        <p:nvSpPr>
          <p:cNvPr id="114" name="Google Shape;114;p8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88"/>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List of authentication techniques</a:t>
            </a:r>
            <a:endParaRPr/>
          </a:p>
        </p:txBody>
      </p:sp>
      <p:sp>
        <p:nvSpPr>
          <p:cNvPr id="120" name="Google Shape;120;p88"/>
          <p:cNvSpPr txBox="1">
            <a:spLocks noGrp="1"/>
          </p:cNvSpPr>
          <p:nvPr>
            <p:ph type="body" idx="1"/>
          </p:nvPr>
        </p:nvSpPr>
        <p:spPr>
          <a:xfrm>
            <a:off x="838200" y="1414914"/>
            <a:ext cx="10515600" cy="4351338"/>
          </a:xfrm>
          <a:prstGeom prst="rect">
            <a:avLst/>
          </a:prstGeom>
          <a:noFill/>
          <a:ln>
            <a:noFill/>
          </a:ln>
        </p:spPr>
        <p:txBody>
          <a:bodyPr spcFirstLastPara="1" wrap="square" lIns="91425" tIns="45700" rIns="91425" bIns="45700" anchor="t" anchorCtr="0">
            <a:normAutofit fontScale="85000" lnSpcReduction="20000"/>
          </a:bodyPr>
          <a:lstStyle/>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Password authentication</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Multi-factor authentication</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Biometric authentication</a:t>
            </a:r>
            <a:endParaRPr dirty="0">
              <a:solidFill>
                <a:schemeClr val="tx1"/>
              </a:solidFill>
            </a:endParaRPr>
          </a:p>
          <a:p>
            <a:pPr marL="914400" lvl="1" indent="-342900" algn="l" rtl="0">
              <a:lnSpc>
                <a:spcPct val="150000"/>
              </a:lnSpc>
              <a:spcBef>
                <a:spcPts val="500"/>
              </a:spcBef>
              <a:spcAft>
                <a:spcPts val="0"/>
              </a:spcAft>
              <a:buSzPts val="1800"/>
              <a:buChar char="•"/>
            </a:pPr>
            <a:r>
              <a:rPr lang="en-US" dirty="0">
                <a:solidFill>
                  <a:schemeClr val="tx1"/>
                </a:solidFill>
              </a:rPr>
              <a:t>Facial recognition</a:t>
            </a:r>
            <a:endParaRPr dirty="0">
              <a:solidFill>
                <a:schemeClr val="tx1"/>
              </a:solidFill>
            </a:endParaRPr>
          </a:p>
          <a:p>
            <a:pPr marL="914400" lvl="1" indent="-342900" algn="l" rtl="0">
              <a:lnSpc>
                <a:spcPct val="150000"/>
              </a:lnSpc>
              <a:spcBef>
                <a:spcPts val="500"/>
              </a:spcBef>
              <a:spcAft>
                <a:spcPts val="0"/>
              </a:spcAft>
              <a:buSzPts val="1800"/>
              <a:buChar char="•"/>
            </a:pPr>
            <a:r>
              <a:rPr lang="en-US" dirty="0">
                <a:solidFill>
                  <a:schemeClr val="tx1"/>
                </a:solidFill>
              </a:rPr>
              <a:t>Fingerprint scanners</a:t>
            </a:r>
            <a:endParaRPr dirty="0">
              <a:solidFill>
                <a:schemeClr val="tx1"/>
              </a:solidFill>
            </a:endParaRPr>
          </a:p>
          <a:p>
            <a:pPr marL="914400" lvl="1" indent="-342900" algn="l" rtl="0">
              <a:lnSpc>
                <a:spcPct val="150000"/>
              </a:lnSpc>
              <a:spcBef>
                <a:spcPts val="500"/>
              </a:spcBef>
              <a:spcAft>
                <a:spcPts val="0"/>
              </a:spcAft>
              <a:buSzPts val="1800"/>
              <a:buChar char="•"/>
            </a:pPr>
            <a:r>
              <a:rPr lang="en-US" dirty="0">
                <a:solidFill>
                  <a:schemeClr val="tx1"/>
                </a:solidFill>
              </a:rPr>
              <a:t>Voice Identification</a:t>
            </a:r>
            <a:endParaRPr dirty="0">
              <a:solidFill>
                <a:schemeClr val="tx1"/>
              </a:solidFill>
            </a:endParaRPr>
          </a:p>
          <a:p>
            <a:pPr marL="914400" lvl="1" indent="-342900" algn="l" rtl="0">
              <a:lnSpc>
                <a:spcPct val="150000"/>
              </a:lnSpc>
              <a:spcBef>
                <a:spcPts val="500"/>
              </a:spcBef>
              <a:spcAft>
                <a:spcPts val="0"/>
              </a:spcAft>
              <a:buSzPts val="1800"/>
              <a:buChar char="•"/>
            </a:pPr>
            <a:r>
              <a:rPr lang="en-US" dirty="0">
                <a:solidFill>
                  <a:schemeClr val="tx1"/>
                </a:solidFill>
              </a:rPr>
              <a:t>Certificate-based authentication</a:t>
            </a:r>
            <a:endParaRPr dirty="0">
              <a:solidFill>
                <a:schemeClr val="tx1"/>
              </a:solidFill>
            </a:endParaRPr>
          </a:p>
          <a:p>
            <a:pPr marL="914400" lvl="1" indent="-342900" algn="l" rtl="0">
              <a:lnSpc>
                <a:spcPct val="150000"/>
              </a:lnSpc>
              <a:spcBef>
                <a:spcPts val="500"/>
              </a:spcBef>
              <a:spcAft>
                <a:spcPts val="0"/>
              </a:spcAft>
              <a:buSzPts val="1800"/>
              <a:buChar char="•"/>
            </a:pPr>
            <a:r>
              <a:rPr lang="en-US" dirty="0">
                <a:solidFill>
                  <a:schemeClr val="tx1"/>
                </a:solidFill>
              </a:rPr>
              <a:t>Token-based authentication</a:t>
            </a:r>
            <a:endParaRPr dirty="0">
              <a:solidFill>
                <a:schemeClr val="tx1"/>
              </a:solidFill>
            </a:endParaRPr>
          </a:p>
          <a:p>
            <a:pPr marL="914400" lvl="1" indent="-228600" algn="l" rtl="0">
              <a:lnSpc>
                <a:spcPct val="150000"/>
              </a:lnSpc>
              <a:spcBef>
                <a:spcPts val="500"/>
              </a:spcBef>
              <a:spcAft>
                <a:spcPts val="0"/>
              </a:spcAft>
              <a:buSzPts val="1800"/>
              <a:buNone/>
            </a:pPr>
            <a:endParaRPr dirty="0">
              <a:solidFill>
                <a:schemeClr val="tx1"/>
              </a:solidFill>
            </a:endParaRPr>
          </a:p>
          <a:p>
            <a:pPr marL="457200" lvl="0" indent="-228600" algn="l" rtl="0">
              <a:lnSpc>
                <a:spcPct val="150000"/>
              </a:lnSpc>
              <a:spcBef>
                <a:spcPts val="1000"/>
              </a:spcBef>
              <a:spcAft>
                <a:spcPts val="0"/>
              </a:spcAft>
              <a:buClr>
                <a:schemeClr val="dk1"/>
              </a:buClr>
              <a:buSzPts val="1800"/>
              <a:buNone/>
            </a:pPr>
            <a:endParaRPr dirty="0">
              <a:solidFill>
                <a:schemeClr val="tx1"/>
              </a:solidFill>
            </a:endParaRPr>
          </a:p>
        </p:txBody>
      </p:sp>
      <p:sp>
        <p:nvSpPr>
          <p:cNvPr id="121" name="Google Shape;121;p8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pic>
        <p:nvPicPr>
          <p:cNvPr id="122" name="Google Shape;122;p88"/>
          <p:cNvPicPr preferRelativeResize="0"/>
          <p:nvPr/>
        </p:nvPicPr>
        <p:blipFill rotWithShape="1">
          <a:blip r:embed="rId3">
            <a:alphaModFix/>
          </a:blip>
          <a:srcRect/>
          <a:stretch/>
        </p:blipFill>
        <p:spPr>
          <a:xfrm>
            <a:off x="7173103" y="1414914"/>
            <a:ext cx="4361674" cy="43513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109"/>
          <p:cNvSpPr txBox="1">
            <a:spLocks noGrp="1"/>
          </p:cNvSpPr>
          <p:nvPr>
            <p:ph type="ctrTitle"/>
          </p:nvPr>
        </p:nvSpPr>
        <p:spPr>
          <a:xfrm>
            <a:off x="1161393" y="2241458"/>
            <a:ext cx="9869214"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400" b="1" dirty="0">
                <a:solidFill>
                  <a:srgbClr val="002060"/>
                </a:solidFill>
                <a:latin typeface="Arial"/>
                <a:ea typeface="Arial"/>
                <a:cs typeface="Arial"/>
                <a:sym typeface="Arial"/>
              </a:rPr>
              <a:t>HTTP Basic</a:t>
            </a:r>
            <a:endParaRPr sz="4400" b="1" dirty="0">
              <a:solidFill>
                <a:srgbClr val="00206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55"/>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05/03/2024</a:t>
            </a:r>
            <a:endParaRPr/>
          </a:p>
        </p:txBody>
      </p:sp>
      <p:sp>
        <p:nvSpPr>
          <p:cNvPr id="142" name="Google Shape;142;p55"/>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143" name="Google Shape;143;p55"/>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HTTP Basic Access Authentication </a:t>
            </a:r>
            <a:endParaRPr/>
          </a:p>
        </p:txBody>
      </p:sp>
      <p:sp>
        <p:nvSpPr>
          <p:cNvPr id="144" name="Google Shape;144;p55"/>
          <p:cNvSpPr txBox="1">
            <a:spLocks noGrp="1"/>
          </p:cNvSpPr>
          <p:nvPr>
            <p:ph type="body" idx="1"/>
          </p:nvPr>
        </p:nvSpPr>
        <p:spPr>
          <a:xfrm>
            <a:off x="838200" y="1195641"/>
            <a:ext cx="11353800" cy="5285057"/>
          </a:xfrm>
          <a:prstGeom prst="rect">
            <a:avLst/>
          </a:prstGeom>
          <a:noFill/>
          <a:ln>
            <a:noFill/>
          </a:ln>
        </p:spPr>
        <p:txBody>
          <a:bodyPr spcFirstLastPara="1" wrap="square" lIns="91425" tIns="45700" rIns="91425" bIns="45700" anchor="t" anchorCtr="0">
            <a:normAutofit fontScale="92500"/>
          </a:bodyPr>
          <a:lstStyle/>
          <a:p>
            <a:pPr marL="114300" indent="0">
              <a:lnSpc>
                <a:spcPct val="160000"/>
              </a:lnSpc>
              <a:buNone/>
            </a:pPr>
            <a:r>
              <a:rPr lang="en-GB" sz="2400" b="1" dirty="0">
                <a:solidFill>
                  <a:schemeClr val="tx1"/>
                </a:solidFill>
              </a:rPr>
              <a:t>Basic Access Authentication</a:t>
            </a:r>
            <a:r>
              <a:rPr lang="en-GB" sz="2400" dirty="0">
                <a:solidFill>
                  <a:schemeClr val="tx1"/>
                </a:solidFill>
              </a:rPr>
              <a:t> is an HTTP authentication method in which a client sends a username and password in the Authorization header with each request.</a:t>
            </a:r>
          </a:p>
          <a:p>
            <a:pPr marL="114300" indent="0">
              <a:lnSpc>
                <a:spcPct val="160000"/>
              </a:lnSpc>
              <a:buNone/>
            </a:pPr>
            <a:r>
              <a:rPr lang="en-GB" sz="2400" dirty="0">
                <a:solidFill>
                  <a:schemeClr val="tx1"/>
                </a:solidFill>
              </a:rPr>
              <a:t>The credentials are combined as </a:t>
            </a:r>
            <a:r>
              <a:rPr lang="en-GB" sz="2400" dirty="0" err="1">
                <a:solidFill>
                  <a:schemeClr val="tx1"/>
                </a:solidFill>
              </a:rPr>
              <a:t>username:password</a:t>
            </a:r>
            <a:r>
              <a:rPr lang="en-GB" sz="2400" dirty="0">
                <a:solidFill>
                  <a:schemeClr val="tx1"/>
                </a:solidFill>
              </a:rPr>
              <a:t> and encoded using Base64:</a:t>
            </a:r>
          </a:p>
          <a:p>
            <a:pPr>
              <a:lnSpc>
                <a:spcPct val="160000"/>
              </a:lnSpc>
            </a:pPr>
            <a:r>
              <a:rPr lang="en-GB" sz="2400" dirty="0">
                <a:solidFill>
                  <a:schemeClr val="tx1"/>
                </a:solidFill>
              </a:rPr>
              <a:t>Authorization: Basic </a:t>
            </a:r>
            <a:r>
              <a:rPr lang="en-GB" sz="2400" dirty="0" err="1">
                <a:solidFill>
                  <a:schemeClr val="tx1"/>
                </a:solidFill>
              </a:rPr>
              <a:t>dXNlcjpwYXNz</a:t>
            </a:r>
            <a:endParaRPr lang="en-GB" sz="2400" dirty="0">
              <a:solidFill>
                <a:schemeClr val="tx1"/>
              </a:solidFill>
            </a:endParaRPr>
          </a:p>
          <a:p>
            <a:pPr>
              <a:lnSpc>
                <a:spcPct val="160000"/>
              </a:lnSpc>
            </a:pPr>
            <a:r>
              <a:rPr lang="en-GB" sz="2400" dirty="0">
                <a:solidFill>
                  <a:schemeClr val="tx1"/>
                </a:solidFill>
              </a:rPr>
              <a:t>Here, </a:t>
            </a:r>
            <a:r>
              <a:rPr lang="en-GB" sz="2400" dirty="0" err="1">
                <a:solidFill>
                  <a:schemeClr val="tx1"/>
                </a:solidFill>
              </a:rPr>
              <a:t>dXNlcjpwYXNz</a:t>
            </a:r>
            <a:r>
              <a:rPr lang="en-GB" sz="2400" dirty="0">
                <a:solidFill>
                  <a:schemeClr val="tx1"/>
                </a:solidFill>
              </a:rPr>
              <a:t> represents </a:t>
            </a:r>
            <a:r>
              <a:rPr lang="en-GB" sz="2400" dirty="0" err="1">
                <a:solidFill>
                  <a:schemeClr val="tx1"/>
                </a:solidFill>
              </a:rPr>
              <a:t>user:pass</a:t>
            </a:r>
            <a:r>
              <a:rPr lang="en-GB" sz="2400" dirty="0">
                <a:solidFill>
                  <a:schemeClr val="tx1"/>
                </a:solidFill>
              </a:rPr>
              <a:t>.</a:t>
            </a:r>
          </a:p>
          <a:p>
            <a:pPr marL="114300" indent="0">
              <a:lnSpc>
                <a:spcPct val="160000"/>
              </a:lnSpc>
              <a:buNone/>
            </a:pPr>
            <a:r>
              <a:rPr lang="en-GB" sz="2400" b="1" dirty="0">
                <a:solidFill>
                  <a:schemeClr val="tx1"/>
                </a:solidFill>
              </a:rPr>
              <a:t>Base64 is encoding, not encryption.</a:t>
            </a:r>
            <a:r>
              <a:rPr lang="en-GB" sz="2400" dirty="0">
                <a:solidFill>
                  <a:schemeClr val="tx1"/>
                </a:solidFill>
              </a:rPr>
              <a:t> Basic Authentication should therefore be used over </a:t>
            </a:r>
            <a:r>
              <a:rPr lang="en-GB" sz="2400" b="1" dirty="0">
                <a:solidFill>
                  <a:schemeClr val="tx1"/>
                </a:solidFill>
              </a:rPr>
              <a:t>HTTPS</a:t>
            </a:r>
            <a:r>
              <a:rPr lang="en-GB" sz="2400" dirty="0">
                <a:solidFill>
                  <a:schemeClr val="tx1"/>
                </a:solidFill>
              </a:rPr>
              <a:t> to protect credentials during transmission.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56"/>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05/03/2024</a:t>
            </a:r>
            <a:endParaRPr/>
          </a:p>
        </p:txBody>
      </p:sp>
      <p:sp>
        <p:nvSpPr>
          <p:cNvPr id="150" name="Google Shape;150;p5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151" name="Google Shape;151;p56"/>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dirty="0"/>
              <a:t>Basic Access Authentication </a:t>
            </a:r>
            <a:endParaRPr dirty="0"/>
          </a:p>
        </p:txBody>
      </p:sp>
      <p:cxnSp>
        <p:nvCxnSpPr>
          <p:cNvPr id="152" name="Google Shape;152;p56"/>
          <p:cNvCxnSpPr/>
          <p:nvPr/>
        </p:nvCxnSpPr>
        <p:spPr>
          <a:xfrm>
            <a:off x="2354318" y="2554016"/>
            <a:ext cx="0" cy="3332300"/>
          </a:xfrm>
          <a:prstGeom prst="straightConnector1">
            <a:avLst/>
          </a:prstGeom>
          <a:noFill/>
          <a:ln w="76200" cap="flat" cmpd="sng">
            <a:solidFill>
              <a:srgbClr val="7030A0"/>
            </a:solidFill>
            <a:prstDash val="solid"/>
            <a:round/>
            <a:headEnd type="none" w="sm" len="sm"/>
            <a:tailEnd type="none" w="sm" len="sm"/>
          </a:ln>
        </p:spPr>
      </p:cxnSp>
      <p:cxnSp>
        <p:nvCxnSpPr>
          <p:cNvPr id="153" name="Google Shape;153;p56"/>
          <p:cNvCxnSpPr/>
          <p:nvPr/>
        </p:nvCxnSpPr>
        <p:spPr>
          <a:xfrm>
            <a:off x="9254358" y="2554016"/>
            <a:ext cx="0" cy="3332300"/>
          </a:xfrm>
          <a:prstGeom prst="straightConnector1">
            <a:avLst/>
          </a:prstGeom>
          <a:noFill/>
          <a:ln w="76200" cap="flat" cmpd="sng">
            <a:solidFill>
              <a:srgbClr val="0432FF"/>
            </a:solidFill>
            <a:prstDash val="solid"/>
            <a:round/>
            <a:headEnd type="none" w="sm" len="sm"/>
            <a:tailEnd type="none" w="sm" len="sm"/>
          </a:ln>
        </p:spPr>
      </p:cxnSp>
      <p:cxnSp>
        <p:nvCxnSpPr>
          <p:cNvPr id="154" name="Google Shape;154;p56"/>
          <p:cNvCxnSpPr/>
          <p:nvPr/>
        </p:nvCxnSpPr>
        <p:spPr>
          <a:xfrm>
            <a:off x="2467304" y="4230416"/>
            <a:ext cx="6663559" cy="893379"/>
          </a:xfrm>
          <a:prstGeom prst="straightConnector1">
            <a:avLst/>
          </a:prstGeom>
          <a:noFill/>
          <a:ln w="57150" cap="flat" cmpd="sng">
            <a:solidFill>
              <a:srgbClr val="FF0000"/>
            </a:solidFill>
            <a:prstDash val="solid"/>
            <a:round/>
            <a:headEnd type="none" w="sm" len="sm"/>
            <a:tailEnd type="triangle" w="med" len="med"/>
          </a:ln>
        </p:spPr>
      </p:cxnSp>
      <p:cxnSp>
        <p:nvCxnSpPr>
          <p:cNvPr id="155" name="Google Shape;155;p56"/>
          <p:cNvCxnSpPr/>
          <p:nvPr/>
        </p:nvCxnSpPr>
        <p:spPr>
          <a:xfrm rot="10800000" flipH="1">
            <a:off x="2467303" y="3247699"/>
            <a:ext cx="6663560" cy="536027"/>
          </a:xfrm>
          <a:prstGeom prst="straightConnector1">
            <a:avLst/>
          </a:prstGeom>
          <a:noFill/>
          <a:ln w="57150" cap="flat" cmpd="sng">
            <a:solidFill>
              <a:srgbClr val="FF0000"/>
            </a:solidFill>
            <a:prstDash val="solid"/>
            <a:round/>
            <a:headEnd type="triangle" w="med" len="med"/>
            <a:tailEnd type="none" w="sm" len="sm"/>
          </a:ln>
        </p:spPr>
      </p:cxnSp>
      <p:sp>
        <p:nvSpPr>
          <p:cNvPr id="156" name="Google Shape;156;p56"/>
          <p:cNvSpPr txBox="1"/>
          <p:nvPr/>
        </p:nvSpPr>
        <p:spPr>
          <a:xfrm>
            <a:off x="1836682" y="1936204"/>
            <a:ext cx="126124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Client </a:t>
            </a:r>
            <a:endParaRPr sz="2800" b="1" i="0" u="none" strike="noStrike" cap="none">
              <a:solidFill>
                <a:srgbClr val="000000"/>
              </a:solidFill>
              <a:latin typeface="Arial"/>
              <a:ea typeface="Arial"/>
              <a:cs typeface="Arial"/>
              <a:sym typeface="Arial"/>
            </a:endParaRPr>
          </a:p>
        </p:txBody>
      </p:sp>
      <p:sp>
        <p:nvSpPr>
          <p:cNvPr id="157" name="Google Shape;157;p56"/>
          <p:cNvSpPr txBox="1"/>
          <p:nvPr/>
        </p:nvSpPr>
        <p:spPr>
          <a:xfrm>
            <a:off x="8500242" y="1936204"/>
            <a:ext cx="126124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Server </a:t>
            </a:r>
            <a:endParaRPr sz="2800" b="1" i="0" u="none" strike="noStrike" cap="none">
              <a:solidFill>
                <a:srgbClr val="000000"/>
              </a:solidFill>
              <a:latin typeface="Arial"/>
              <a:ea typeface="Arial"/>
              <a:cs typeface="Arial"/>
              <a:sym typeface="Arial"/>
            </a:endParaRPr>
          </a:p>
        </p:txBody>
      </p:sp>
      <p:sp>
        <p:nvSpPr>
          <p:cNvPr id="158" name="Google Shape;158;p56"/>
          <p:cNvSpPr txBox="1"/>
          <p:nvPr/>
        </p:nvSpPr>
        <p:spPr>
          <a:xfrm>
            <a:off x="3631326" y="2459424"/>
            <a:ext cx="4529953" cy="8771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HTTP/1.1 401 Unauthorized </a:t>
            </a:r>
            <a:endParaRPr sz="2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WWW-Authenticate: Basic </a:t>
            </a:r>
            <a:r>
              <a:rPr lang="en-US" sz="2800" b="0" i="0" u="none" strike="noStrike" cap="none">
                <a:solidFill>
                  <a:srgbClr val="000000"/>
                </a:solidFill>
                <a:latin typeface="Calibri"/>
                <a:ea typeface="Calibri"/>
                <a:cs typeface="Calibri"/>
                <a:sym typeface="Calibri"/>
              </a:rPr>
              <a:t> </a:t>
            </a:r>
            <a:endParaRPr sz="2800" b="0" i="0" u="none" strike="noStrike" cap="none">
              <a:solidFill>
                <a:srgbClr val="000000"/>
              </a:solidFill>
              <a:latin typeface="Arial"/>
              <a:ea typeface="Arial"/>
              <a:cs typeface="Arial"/>
              <a:sym typeface="Arial"/>
            </a:endParaRPr>
          </a:p>
        </p:txBody>
      </p:sp>
      <p:sp>
        <p:nvSpPr>
          <p:cNvPr id="159" name="Google Shape;159;p56"/>
          <p:cNvSpPr txBox="1"/>
          <p:nvPr/>
        </p:nvSpPr>
        <p:spPr>
          <a:xfrm>
            <a:off x="3631326" y="4962986"/>
            <a:ext cx="5612522"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GET /index.html HTTP/1.1</a:t>
            </a:r>
            <a:br>
              <a:rPr lang="en-US" sz="1800" b="0" i="0" u="none" strike="noStrike" cap="none">
                <a:solidFill>
                  <a:srgbClr val="000000"/>
                </a:solidFill>
                <a:latin typeface="Calibri"/>
                <a:ea typeface="Calibri"/>
                <a:cs typeface="Calibri"/>
                <a:sym typeface="Calibri"/>
              </a:rPr>
            </a:br>
            <a:r>
              <a:rPr lang="en-US" sz="1800" b="0" i="0" u="none" strike="noStrike" cap="none">
                <a:solidFill>
                  <a:srgbClr val="000000"/>
                </a:solidFill>
                <a:latin typeface="Calibri"/>
                <a:ea typeface="Calibri"/>
                <a:cs typeface="Calibri"/>
                <a:sym typeface="Calibri"/>
              </a:rPr>
              <a:t>Authorization: Basic QWxhZGRpbjpvcGVuIHNlc2FtZQ== Host: www.fpt.edu.vn </a:t>
            </a: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DA51E2A9-4E7A-22B6-14AB-7AAC77364B84}"/>
            </a:ext>
          </a:extLst>
        </p:cNvPr>
        <p:cNvGrpSpPr/>
        <p:nvPr/>
      </p:nvGrpSpPr>
      <p:grpSpPr>
        <a:xfrm>
          <a:off x="0" y="0"/>
          <a:ext cx="0" cy="0"/>
          <a:chOff x="0" y="0"/>
          <a:chExt cx="0" cy="0"/>
        </a:xfrm>
      </p:grpSpPr>
      <p:sp>
        <p:nvSpPr>
          <p:cNvPr id="406" name="Google Shape;406;p109">
            <a:extLst>
              <a:ext uri="{FF2B5EF4-FFF2-40B4-BE49-F238E27FC236}">
                <a16:creationId xmlns:a16="http://schemas.microsoft.com/office/drawing/2014/main" id="{3126234D-1C1F-C6CA-FBC1-30C07FEA8404}"/>
              </a:ext>
            </a:extLst>
          </p:cNvPr>
          <p:cNvSpPr txBox="1">
            <a:spLocks noGrp="1"/>
          </p:cNvSpPr>
          <p:nvPr>
            <p:ph type="ctrTitle"/>
          </p:nvPr>
        </p:nvSpPr>
        <p:spPr>
          <a:xfrm>
            <a:off x="1161393" y="2241458"/>
            <a:ext cx="9869214"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400" b="1" dirty="0">
                <a:solidFill>
                  <a:srgbClr val="002060"/>
                </a:solidFill>
                <a:latin typeface="Arial"/>
                <a:ea typeface="Arial"/>
                <a:cs typeface="Arial"/>
                <a:sym typeface="Arial"/>
              </a:rPr>
              <a:t>Passport</a:t>
            </a:r>
            <a:endParaRPr sz="4400" b="1" dirty="0">
              <a:solidFill>
                <a:srgbClr val="002060"/>
              </a:solidFill>
              <a:latin typeface="Arial"/>
              <a:ea typeface="Arial"/>
              <a:cs typeface="Arial"/>
              <a:sym typeface="Arial"/>
            </a:endParaRPr>
          </a:p>
        </p:txBody>
      </p:sp>
    </p:spTree>
    <p:extLst>
      <p:ext uri="{BB962C8B-B14F-4D97-AF65-F5344CB8AC3E}">
        <p14:creationId xmlns:p14="http://schemas.microsoft.com/office/powerpoint/2010/main" val="383593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110"/>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What is Passport?</a:t>
            </a:r>
            <a:endParaRPr/>
          </a:p>
        </p:txBody>
      </p:sp>
      <p:sp>
        <p:nvSpPr>
          <p:cNvPr id="412" name="Google Shape;412;p110"/>
          <p:cNvSpPr txBox="1">
            <a:spLocks noGrp="1"/>
          </p:cNvSpPr>
          <p:nvPr>
            <p:ph type="body" idx="1"/>
          </p:nvPr>
        </p:nvSpPr>
        <p:spPr>
          <a:xfrm>
            <a:off x="838200" y="1195642"/>
            <a:ext cx="10515600" cy="4944889"/>
          </a:xfrm>
          <a:prstGeom prst="rect">
            <a:avLst/>
          </a:prstGeom>
          <a:noFill/>
          <a:ln>
            <a:noFill/>
          </a:ln>
        </p:spPr>
        <p:txBody>
          <a:bodyPr spcFirstLastPara="1" wrap="square" lIns="91425" tIns="45700" rIns="91425" bIns="45700" anchor="t" anchorCtr="0">
            <a:normAutofit lnSpcReduction="10000"/>
          </a:bodyPr>
          <a:lstStyle/>
          <a:p>
            <a:pPr>
              <a:lnSpc>
                <a:spcPct val="150000"/>
              </a:lnSpc>
            </a:pPr>
            <a:r>
              <a:rPr lang="en-GB" b="1" dirty="0" err="1">
                <a:solidFill>
                  <a:schemeClr val="tx1"/>
                </a:solidFill>
              </a:rPr>
              <a:t>Passport.js</a:t>
            </a:r>
            <a:r>
              <a:rPr lang="en-GB" dirty="0">
                <a:solidFill>
                  <a:schemeClr val="tx1"/>
                </a:solidFill>
              </a:rPr>
              <a:t> is authentication middleware for Node.js that works with Express.</a:t>
            </a:r>
          </a:p>
          <a:p>
            <a:pPr>
              <a:lnSpc>
                <a:spcPct val="150000"/>
              </a:lnSpc>
            </a:pPr>
            <a:r>
              <a:rPr lang="en-GB" dirty="0">
                <a:solidFill>
                  <a:schemeClr val="tx1"/>
                </a:solidFill>
              </a:rPr>
              <a:t>It authenticates requests using plugins called </a:t>
            </a:r>
            <a:r>
              <a:rPr lang="en-GB" b="1" dirty="0">
                <a:solidFill>
                  <a:schemeClr val="tx1"/>
                </a:solidFill>
              </a:rPr>
              <a:t>strategies</a:t>
            </a:r>
            <a:r>
              <a:rPr lang="en-GB" dirty="0">
                <a:solidFill>
                  <a:schemeClr val="tx1"/>
                </a:solidFill>
              </a:rPr>
              <a:t>.</a:t>
            </a:r>
          </a:p>
          <a:p>
            <a:pPr>
              <a:lnSpc>
                <a:spcPct val="150000"/>
              </a:lnSpc>
            </a:pPr>
            <a:r>
              <a:rPr lang="en-GB" dirty="0">
                <a:solidFill>
                  <a:schemeClr val="tx1"/>
                </a:solidFill>
              </a:rPr>
              <a:t>Passport does not define routes or require a specific database schema. Developers control these parts of the application.</a:t>
            </a:r>
          </a:p>
          <a:p>
            <a:pPr>
              <a:lnSpc>
                <a:spcPct val="150000"/>
              </a:lnSpc>
            </a:pPr>
            <a:r>
              <a:rPr lang="en-GB" dirty="0">
                <a:solidFill>
                  <a:schemeClr val="tx1"/>
                </a:solidFill>
              </a:rPr>
              <a:t>It allows developers to specify what happens when authentication </a:t>
            </a:r>
            <a:r>
              <a:rPr lang="en-GB" b="1" dirty="0">
                <a:solidFill>
                  <a:schemeClr val="tx1"/>
                </a:solidFill>
              </a:rPr>
              <a:t>succeeds or fails</a:t>
            </a:r>
            <a:r>
              <a:rPr lang="en-GB" dirty="0">
                <a:solidFill>
                  <a:schemeClr val="tx1"/>
                </a:solidFill>
              </a:rPr>
              <a:t>.</a:t>
            </a:r>
          </a:p>
        </p:txBody>
      </p:sp>
      <p:sp>
        <p:nvSpPr>
          <p:cNvPr id="413" name="Google Shape;413;p110"/>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0">
          <a:extLst>
            <a:ext uri="{FF2B5EF4-FFF2-40B4-BE49-F238E27FC236}">
              <a16:creationId xmlns:a16="http://schemas.microsoft.com/office/drawing/2014/main" id="{A032FE4B-E223-733D-6557-17463A1B9417}"/>
            </a:ext>
          </a:extLst>
        </p:cNvPr>
        <p:cNvGrpSpPr/>
        <p:nvPr/>
      </p:nvGrpSpPr>
      <p:grpSpPr>
        <a:xfrm>
          <a:off x="0" y="0"/>
          <a:ext cx="0" cy="0"/>
          <a:chOff x="0" y="0"/>
          <a:chExt cx="0" cy="0"/>
        </a:xfrm>
      </p:grpSpPr>
      <p:sp>
        <p:nvSpPr>
          <p:cNvPr id="411" name="Google Shape;411;p110">
            <a:extLst>
              <a:ext uri="{FF2B5EF4-FFF2-40B4-BE49-F238E27FC236}">
                <a16:creationId xmlns:a16="http://schemas.microsoft.com/office/drawing/2014/main" id="{07300806-0A72-468A-106A-25F23C5E3C0E}"/>
              </a:ext>
            </a:extLst>
          </p:cNvPr>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What is Passport?</a:t>
            </a:r>
            <a:endParaRPr/>
          </a:p>
        </p:txBody>
      </p:sp>
      <p:sp>
        <p:nvSpPr>
          <p:cNvPr id="412" name="Google Shape;412;p110">
            <a:extLst>
              <a:ext uri="{FF2B5EF4-FFF2-40B4-BE49-F238E27FC236}">
                <a16:creationId xmlns:a16="http://schemas.microsoft.com/office/drawing/2014/main" id="{3452F882-AE2F-DB5E-FEAB-9C71C3D843A1}"/>
              </a:ext>
            </a:extLst>
          </p:cNvPr>
          <p:cNvSpPr txBox="1">
            <a:spLocks noGrp="1"/>
          </p:cNvSpPr>
          <p:nvPr>
            <p:ph type="body" idx="1"/>
          </p:nvPr>
        </p:nvSpPr>
        <p:spPr>
          <a:xfrm>
            <a:off x="838200" y="1195642"/>
            <a:ext cx="10515600" cy="4944889"/>
          </a:xfrm>
          <a:prstGeom prst="rect">
            <a:avLst/>
          </a:prstGeom>
          <a:noFill/>
          <a:ln>
            <a:noFill/>
          </a:ln>
        </p:spPr>
        <p:txBody>
          <a:bodyPr spcFirstLastPara="1" wrap="square" lIns="91425" tIns="45700" rIns="91425" bIns="45700" anchor="t" anchorCtr="0">
            <a:normAutofit/>
          </a:bodyPr>
          <a:lstStyle/>
          <a:p>
            <a:pPr marL="114300" indent="0">
              <a:lnSpc>
                <a:spcPct val="150000"/>
              </a:lnSpc>
              <a:buNone/>
            </a:pPr>
            <a:r>
              <a:rPr lang="en-GB" dirty="0">
                <a:solidFill>
                  <a:schemeClr val="tx1"/>
                </a:solidFill>
              </a:rPr>
              <a:t>Common authentication strategies include:</a:t>
            </a:r>
          </a:p>
          <a:p>
            <a:pPr>
              <a:lnSpc>
                <a:spcPct val="150000"/>
              </a:lnSpc>
            </a:pPr>
            <a:r>
              <a:rPr lang="en-GB" b="1" dirty="0">
                <a:solidFill>
                  <a:schemeClr val="tx1"/>
                </a:solidFill>
              </a:rPr>
              <a:t>Local:</a:t>
            </a:r>
            <a:r>
              <a:rPr lang="en-GB" dirty="0">
                <a:solidFill>
                  <a:schemeClr val="tx1"/>
                </a:solidFill>
              </a:rPr>
              <a:t> Authenticate using a username and password.</a:t>
            </a:r>
          </a:p>
          <a:p>
            <a:pPr>
              <a:lnSpc>
                <a:spcPct val="150000"/>
              </a:lnSpc>
            </a:pPr>
            <a:r>
              <a:rPr lang="en-GB" b="1" dirty="0">
                <a:solidFill>
                  <a:schemeClr val="tx1"/>
                </a:solidFill>
              </a:rPr>
              <a:t>OpenID Connect:</a:t>
            </a:r>
            <a:r>
              <a:rPr lang="en-GB" dirty="0">
                <a:solidFill>
                  <a:schemeClr val="tx1"/>
                </a:solidFill>
              </a:rPr>
              <a:t> Authenticate through an identity provider.</a:t>
            </a:r>
          </a:p>
          <a:p>
            <a:pPr>
              <a:lnSpc>
                <a:spcPct val="150000"/>
              </a:lnSpc>
            </a:pPr>
            <a:r>
              <a:rPr lang="en-GB" b="1" dirty="0">
                <a:solidFill>
                  <a:schemeClr val="tx1"/>
                </a:solidFill>
              </a:rPr>
              <a:t>OAuth-based strategies:</a:t>
            </a:r>
            <a:r>
              <a:rPr lang="en-GB" dirty="0">
                <a:solidFill>
                  <a:schemeClr val="tx1"/>
                </a:solidFill>
              </a:rPr>
              <a:t> Support sign-in through providers such as Google or Facebook.</a:t>
            </a:r>
          </a:p>
        </p:txBody>
      </p:sp>
      <p:sp>
        <p:nvSpPr>
          <p:cNvPr id="413" name="Google Shape;413;p110">
            <a:extLst>
              <a:ext uri="{FF2B5EF4-FFF2-40B4-BE49-F238E27FC236}">
                <a16:creationId xmlns:a16="http://schemas.microsoft.com/office/drawing/2014/main" id="{DA79E0B5-B4FB-E232-7F73-DB006FDA7225}"/>
              </a:ext>
            </a:extLst>
          </p:cNvPr>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Tree>
    <p:extLst>
      <p:ext uri="{BB962C8B-B14F-4D97-AF65-F5344CB8AC3E}">
        <p14:creationId xmlns:p14="http://schemas.microsoft.com/office/powerpoint/2010/main" val="2137578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111"/>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05/03/2024</a:t>
            </a:r>
            <a:endParaRPr/>
          </a:p>
        </p:txBody>
      </p:sp>
      <p:sp>
        <p:nvSpPr>
          <p:cNvPr id="419" name="Google Shape;419;p111"/>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420" name="Google Shape;420;p111"/>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Passport-Local </a:t>
            </a:r>
            <a:endParaRPr/>
          </a:p>
        </p:txBody>
      </p:sp>
      <p:sp>
        <p:nvSpPr>
          <p:cNvPr id="421" name="Google Shape;421;p111"/>
          <p:cNvSpPr txBox="1">
            <a:spLocks noGrp="1"/>
          </p:cNvSpPr>
          <p:nvPr>
            <p:ph type="body" idx="1"/>
          </p:nvPr>
        </p:nvSpPr>
        <p:spPr>
          <a:xfrm>
            <a:off x="838200" y="1168126"/>
            <a:ext cx="10515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150000"/>
              </a:lnSpc>
              <a:spcBef>
                <a:spcPts val="1000"/>
              </a:spcBef>
              <a:spcAft>
                <a:spcPts val="0"/>
              </a:spcAft>
              <a:buClr>
                <a:schemeClr val="dk1"/>
              </a:buClr>
              <a:buSzPts val="1800"/>
              <a:buNone/>
            </a:pPr>
            <a:r>
              <a:rPr lang="en-US" dirty="0">
                <a:solidFill>
                  <a:schemeClr val="tx1"/>
                </a:solidFill>
              </a:rPr>
              <a:t>Passport strategy for authenticating a user with a username and password </a:t>
            </a:r>
            <a:endParaRPr dirty="0">
              <a:solidFill>
                <a:schemeClr val="tx1"/>
              </a:solidFill>
            </a:endParaRPr>
          </a:p>
          <a:p>
            <a:pPr marL="114300" lvl="0" indent="0" algn="l" rtl="0">
              <a:lnSpc>
                <a:spcPct val="150000"/>
              </a:lnSpc>
              <a:spcBef>
                <a:spcPts val="1000"/>
              </a:spcBef>
              <a:spcAft>
                <a:spcPts val="0"/>
              </a:spcAft>
              <a:buClr>
                <a:schemeClr val="dk1"/>
              </a:buClr>
              <a:buSzPts val="1800"/>
              <a:buNone/>
            </a:pPr>
            <a:r>
              <a:rPr lang="en-US" dirty="0">
                <a:solidFill>
                  <a:schemeClr val="tx1"/>
                </a:solidFill>
              </a:rPr>
              <a:t>Installing:</a:t>
            </a:r>
          </a:p>
          <a:p>
            <a:pPr>
              <a:lnSpc>
                <a:spcPct val="150000"/>
              </a:lnSpc>
            </a:pPr>
            <a:r>
              <a:rPr lang="en-US" b="1" dirty="0" err="1">
                <a:solidFill>
                  <a:schemeClr val="tx1"/>
                </a:solidFill>
                <a:latin typeface="Courier New"/>
                <a:ea typeface="Courier New"/>
                <a:cs typeface="Courier New"/>
                <a:sym typeface="Courier New"/>
              </a:rPr>
              <a:t>npm</a:t>
            </a:r>
            <a:r>
              <a:rPr lang="en-US" b="1" dirty="0">
                <a:solidFill>
                  <a:schemeClr val="tx1"/>
                </a:solidFill>
                <a:latin typeface="Courier New"/>
                <a:ea typeface="Courier New"/>
                <a:cs typeface="Courier New"/>
                <a:sym typeface="Courier New"/>
              </a:rPr>
              <a:t> install passport-local --save</a:t>
            </a:r>
            <a:endParaRPr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91"/>
          <p:cNvSpPr txBox="1">
            <a:spLocks noGrp="1"/>
          </p:cNvSpPr>
          <p:nvPr>
            <p:ph type="ctrTitle"/>
          </p:nvPr>
        </p:nvSpPr>
        <p:spPr>
          <a:xfrm>
            <a:off x="1161393" y="2241458"/>
            <a:ext cx="9869214"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400" b="1" dirty="0">
                <a:solidFill>
                  <a:srgbClr val="002060"/>
                </a:solidFill>
                <a:latin typeface="Arial"/>
                <a:ea typeface="Arial"/>
                <a:cs typeface="Arial"/>
                <a:sym typeface="Arial"/>
              </a:rPr>
              <a:t>Session</a:t>
            </a:r>
            <a:endParaRPr sz="4400" b="1" dirty="0">
              <a:solidFill>
                <a:srgbClr val="00206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67"/>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05/03/2024</a:t>
            </a:r>
            <a:endParaRPr/>
          </a:p>
        </p:txBody>
      </p:sp>
      <p:sp>
        <p:nvSpPr>
          <p:cNvPr id="286" name="Google Shape;286;p6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287" name="Google Shape;287;p67"/>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Express Sessions </a:t>
            </a:r>
            <a:endParaRPr/>
          </a:p>
        </p:txBody>
      </p:sp>
      <p:sp>
        <p:nvSpPr>
          <p:cNvPr id="288" name="Google Shape;288;p67"/>
          <p:cNvSpPr txBox="1">
            <a:spLocks noGrp="1"/>
          </p:cNvSpPr>
          <p:nvPr>
            <p:ph type="body" idx="1"/>
          </p:nvPr>
        </p:nvSpPr>
        <p:spPr>
          <a:xfrm>
            <a:off x="838200" y="1144375"/>
            <a:ext cx="10515600" cy="5227368"/>
          </a:xfrm>
          <a:prstGeom prst="rect">
            <a:avLst/>
          </a:prstGeom>
          <a:noFill/>
          <a:ln>
            <a:noFill/>
          </a:ln>
        </p:spPr>
        <p:txBody>
          <a:bodyPr spcFirstLastPara="1" wrap="square" lIns="91425" tIns="45700" rIns="91425" bIns="45700" anchor="t" anchorCtr="0">
            <a:normAutofit/>
          </a:bodyPr>
          <a:lstStyle/>
          <a:p>
            <a:pPr marL="114300" indent="0">
              <a:lnSpc>
                <a:spcPct val="150000"/>
              </a:lnSpc>
              <a:buNone/>
            </a:pPr>
            <a:r>
              <a:rPr lang="en-GB" sz="2400" dirty="0">
                <a:solidFill>
                  <a:schemeClr val="tx1"/>
                </a:solidFill>
              </a:rPr>
              <a:t>Tracks a user’s login state across requests. The browser stores a </a:t>
            </a:r>
            <a:r>
              <a:rPr lang="en-GB" sz="2400" b="1" dirty="0">
                <a:solidFill>
                  <a:schemeClr val="tx1"/>
                </a:solidFill>
              </a:rPr>
              <a:t>session ID in a cookie,</a:t>
            </a:r>
            <a:r>
              <a:rPr lang="en-GB" sz="2400" dirty="0">
                <a:solidFill>
                  <a:schemeClr val="tx1"/>
                </a:solidFill>
              </a:rPr>
              <a:t> the server stores the corresponding session data.</a:t>
            </a:r>
          </a:p>
          <a:p>
            <a:pPr marL="114300" indent="0">
              <a:lnSpc>
                <a:spcPct val="150000"/>
              </a:lnSpc>
              <a:buNone/>
            </a:pPr>
            <a:r>
              <a:rPr lang="en-GB" sz="2400" dirty="0">
                <a:solidFill>
                  <a:schemeClr val="tx1"/>
                </a:solidFill>
              </a:rPr>
              <a:t>Session data can be stored in:</a:t>
            </a:r>
          </a:p>
          <a:p>
            <a:pPr>
              <a:lnSpc>
                <a:spcPct val="150000"/>
              </a:lnSpc>
            </a:pPr>
            <a:r>
              <a:rPr lang="en-GB" sz="2400" b="1" dirty="0">
                <a:solidFill>
                  <a:schemeClr val="tx1"/>
                </a:solidFill>
              </a:rPr>
              <a:t>Memory:</a:t>
            </a:r>
            <a:r>
              <a:rPr lang="en-GB" sz="2400" dirty="0">
                <a:solidFill>
                  <a:schemeClr val="tx1"/>
                </a:solidFill>
              </a:rPr>
              <a:t> Lost when the server restarts.</a:t>
            </a:r>
          </a:p>
          <a:p>
            <a:pPr>
              <a:lnSpc>
                <a:spcPct val="150000"/>
              </a:lnSpc>
            </a:pPr>
            <a:r>
              <a:rPr lang="en-GB" sz="2400" b="1" dirty="0">
                <a:solidFill>
                  <a:schemeClr val="tx1"/>
                </a:solidFill>
              </a:rPr>
              <a:t>Persistent storage:</a:t>
            </a:r>
            <a:r>
              <a:rPr lang="en-GB" sz="2400" dirty="0">
                <a:solidFill>
                  <a:schemeClr val="tx1"/>
                </a:solidFill>
              </a:rPr>
              <a:t> A database or another durable store.</a:t>
            </a:r>
          </a:p>
          <a:p>
            <a:pPr>
              <a:lnSpc>
                <a:spcPct val="150000"/>
              </a:lnSpc>
            </a:pPr>
            <a:r>
              <a:rPr lang="en-GB" sz="2400" b="1" dirty="0">
                <a:solidFill>
                  <a:schemeClr val="tx1"/>
                </a:solidFill>
              </a:rPr>
              <a:t>A shared session store:</a:t>
            </a:r>
            <a:r>
              <a:rPr lang="en-GB" sz="2400" dirty="0">
                <a:solidFill>
                  <a:schemeClr val="tx1"/>
                </a:solidFill>
              </a:rPr>
              <a:t> Allows multiple server instances to access the same sessions.</a:t>
            </a:r>
          </a:p>
        </p:txBody>
      </p:sp>
    </p:spTree>
    <p:extLst>
      <p:ext uri="{BB962C8B-B14F-4D97-AF65-F5344CB8AC3E}">
        <p14:creationId xmlns:p14="http://schemas.microsoft.com/office/powerpoint/2010/main" val="668994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97"/>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How do Sessions work?</a:t>
            </a:r>
            <a:endParaRPr/>
          </a:p>
        </p:txBody>
      </p:sp>
      <p:sp>
        <p:nvSpPr>
          <p:cNvPr id="294" name="Google Shape;294;p97"/>
          <p:cNvSpPr txBox="1">
            <a:spLocks noGrp="1"/>
          </p:cNvSpPr>
          <p:nvPr>
            <p:ph type="body" idx="1"/>
          </p:nvPr>
        </p:nvSpPr>
        <p:spPr>
          <a:xfrm>
            <a:off x="838200" y="1253330"/>
            <a:ext cx="7478027" cy="5227369"/>
          </a:xfrm>
          <a:prstGeom prst="rect">
            <a:avLst/>
          </a:prstGeom>
          <a:noFill/>
          <a:ln>
            <a:noFill/>
          </a:ln>
        </p:spPr>
        <p:txBody>
          <a:bodyPr spcFirstLastPara="1" wrap="square" lIns="91425" tIns="45700" rIns="91425" bIns="45700" anchor="t" anchorCtr="0">
            <a:normAutofit fontScale="62500" lnSpcReduction="20000"/>
          </a:bodyPr>
          <a:lstStyle/>
          <a:p>
            <a:pPr marL="457200" lvl="0" indent="-342900" algn="just" rtl="0">
              <a:lnSpc>
                <a:spcPct val="170000"/>
              </a:lnSpc>
              <a:spcBef>
                <a:spcPts val="1000"/>
              </a:spcBef>
              <a:spcAft>
                <a:spcPts val="0"/>
              </a:spcAft>
              <a:buSzPct val="82949"/>
              <a:buChar char="•"/>
            </a:pPr>
            <a:r>
              <a:rPr lang="en-US" b="1" dirty="0">
                <a:solidFill>
                  <a:schemeClr val="tx1"/>
                </a:solidFill>
              </a:rPr>
              <a:t>Initialization</a:t>
            </a:r>
            <a:r>
              <a:rPr lang="en-US" dirty="0">
                <a:solidFill>
                  <a:schemeClr val="tx1"/>
                </a:solidFill>
              </a:rPr>
              <a:t>: When a user visits your application, a session is started. The server generates a unique session ID for the session.</a:t>
            </a:r>
            <a:endParaRPr dirty="0">
              <a:solidFill>
                <a:schemeClr val="tx1"/>
              </a:solidFill>
            </a:endParaRPr>
          </a:p>
          <a:p>
            <a:pPr marL="457200" lvl="0" indent="-342900" algn="just" rtl="0">
              <a:lnSpc>
                <a:spcPct val="170000"/>
              </a:lnSpc>
              <a:spcBef>
                <a:spcPts val="1000"/>
              </a:spcBef>
              <a:spcAft>
                <a:spcPts val="0"/>
              </a:spcAft>
              <a:buSzPct val="82949"/>
              <a:buChar char="•"/>
            </a:pPr>
            <a:r>
              <a:rPr lang="en-US" b="1" dirty="0">
                <a:solidFill>
                  <a:schemeClr val="tx1"/>
                </a:solidFill>
              </a:rPr>
              <a:t>Storage</a:t>
            </a:r>
            <a:r>
              <a:rPr lang="en-US" dirty="0">
                <a:solidFill>
                  <a:schemeClr val="tx1"/>
                </a:solidFill>
              </a:rPr>
              <a:t>: This session ID is sent to the client as a cookie, and the server maintains a session store where it associates this session ID with the session data.</a:t>
            </a:r>
            <a:endParaRPr dirty="0">
              <a:solidFill>
                <a:schemeClr val="tx1"/>
              </a:solidFill>
            </a:endParaRPr>
          </a:p>
          <a:p>
            <a:pPr marL="457200" lvl="0" indent="-342900" algn="just" rtl="0">
              <a:lnSpc>
                <a:spcPct val="170000"/>
              </a:lnSpc>
              <a:spcBef>
                <a:spcPts val="1000"/>
              </a:spcBef>
              <a:spcAft>
                <a:spcPts val="0"/>
              </a:spcAft>
              <a:buSzPct val="82949"/>
              <a:buChar char="•"/>
            </a:pPr>
            <a:r>
              <a:rPr lang="en-US" b="1" dirty="0">
                <a:solidFill>
                  <a:schemeClr val="tx1"/>
                </a:solidFill>
              </a:rPr>
              <a:t>Usage</a:t>
            </a:r>
            <a:r>
              <a:rPr lang="en-US" dirty="0">
                <a:solidFill>
                  <a:schemeClr val="tx1"/>
                </a:solidFill>
              </a:rPr>
              <a:t>: On subsequent requests, the browser sends the session ID cookie back to the server. The server uses this ID to retrieve the session data from the session store, thus recognizing the user.</a:t>
            </a:r>
            <a:endParaRPr dirty="0">
              <a:solidFill>
                <a:schemeClr val="tx1"/>
              </a:solidFill>
            </a:endParaRPr>
          </a:p>
          <a:p>
            <a:pPr marL="457200" lvl="0" indent="-342900" algn="just" rtl="0">
              <a:lnSpc>
                <a:spcPct val="170000"/>
              </a:lnSpc>
              <a:spcBef>
                <a:spcPts val="1000"/>
              </a:spcBef>
              <a:spcAft>
                <a:spcPts val="0"/>
              </a:spcAft>
              <a:buSzPct val="82949"/>
              <a:buChar char="•"/>
            </a:pPr>
            <a:r>
              <a:rPr lang="en-US" b="1" dirty="0">
                <a:solidFill>
                  <a:schemeClr val="tx1"/>
                </a:solidFill>
              </a:rPr>
              <a:t>Expiration</a:t>
            </a:r>
            <a:r>
              <a:rPr lang="en-US" dirty="0">
                <a:solidFill>
                  <a:schemeClr val="tx1"/>
                </a:solidFill>
              </a:rPr>
              <a:t>: Sessions are typically configured to expire after a certain period of inactivity, after which the session data is deleted.</a:t>
            </a:r>
            <a:endParaRPr dirty="0">
              <a:solidFill>
                <a:schemeClr val="tx1"/>
              </a:solidFill>
            </a:endParaRPr>
          </a:p>
        </p:txBody>
      </p:sp>
      <p:sp>
        <p:nvSpPr>
          <p:cNvPr id="295" name="Google Shape;295;p9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pic>
        <p:nvPicPr>
          <p:cNvPr id="296" name="Google Shape;296;p97"/>
          <p:cNvPicPr preferRelativeResize="0"/>
          <p:nvPr/>
        </p:nvPicPr>
        <p:blipFill rotWithShape="1">
          <a:blip r:embed="rId3">
            <a:alphaModFix/>
          </a:blip>
          <a:srcRect/>
          <a:stretch/>
        </p:blipFill>
        <p:spPr>
          <a:xfrm>
            <a:off x="8686060" y="1685290"/>
            <a:ext cx="3487420" cy="3487420"/>
          </a:xfrm>
          <a:prstGeom prst="rect">
            <a:avLst/>
          </a:prstGeom>
          <a:noFill/>
          <a:ln>
            <a:noFill/>
          </a:ln>
        </p:spPr>
      </p:pic>
    </p:spTree>
    <p:extLst>
      <p:ext uri="{BB962C8B-B14F-4D97-AF65-F5344CB8AC3E}">
        <p14:creationId xmlns:p14="http://schemas.microsoft.com/office/powerpoint/2010/main" val="2091034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69"/>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05/03/2024</a:t>
            </a:r>
            <a:endParaRPr/>
          </a:p>
        </p:txBody>
      </p:sp>
      <p:sp>
        <p:nvSpPr>
          <p:cNvPr id="310" name="Google Shape;310;p69"/>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311" name="Google Shape;311;p69"/>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Express Session </a:t>
            </a:r>
            <a:endParaRPr/>
          </a:p>
        </p:txBody>
      </p:sp>
      <p:graphicFrame>
        <p:nvGraphicFramePr>
          <p:cNvPr id="4" name="Table 3">
            <a:extLst>
              <a:ext uri="{FF2B5EF4-FFF2-40B4-BE49-F238E27FC236}">
                <a16:creationId xmlns:a16="http://schemas.microsoft.com/office/drawing/2014/main" id="{B1399863-D6A3-0E7F-7928-4F8444F115B2}"/>
              </a:ext>
            </a:extLst>
          </p:cNvPr>
          <p:cNvGraphicFramePr>
            <a:graphicFrameLocks noGrp="1"/>
          </p:cNvGraphicFramePr>
          <p:nvPr>
            <p:extLst>
              <p:ext uri="{D42A27DB-BD31-4B8C-83A1-F6EECF244321}">
                <p14:modId xmlns:p14="http://schemas.microsoft.com/office/powerpoint/2010/main" val="53485468"/>
              </p:ext>
            </p:extLst>
          </p:nvPr>
        </p:nvGraphicFramePr>
        <p:xfrm>
          <a:off x="838200" y="1195642"/>
          <a:ext cx="10515600" cy="5051240"/>
        </p:xfrm>
        <a:graphic>
          <a:graphicData uri="http://schemas.openxmlformats.org/drawingml/2006/table">
            <a:tbl>
              <a:tblPr>
                <a:tableStyleId>{3C2FFA5D-87B4-456A-9821-1D502468CF0F}</a:tableStyleId>
              </a:tblPr>
              <a:tblGrid>
                <a:gridCol w="5257800">
                  <a:extLst>
                    <a:ext uri="{9D8B030D-6E8A-4147-A177-3AD203B41FA5}">
                      <a16:colId xmlns:a16="http://schemas.microsoft.com/office/drawing/2014/main" val="3468523003"/>
                    </a:ext>
                  </a:extLst>
                </a:gridCol>
                <a:gridCol w="5257800">
                  <a:extLst>
                    <a:ext uri="{9D8B030D-6E8A-4147-A177-3AD203B41FA5}">
                      <a16:colId xmlns:a16="http://schemas.microsoft.com/office/drawing/2014/main" val="823738143"/>
                    </a:ext>
                  </a:extLst>
                </a:gridCol>
              </a:tblGrid>
              <a:tr h="0">
                <a:tc>
                  <a:txBody>
                    <a:bodyPr/>
                    <a:lstStyle/>
                    <a:p>
                      <a:pPr>
                        <a:lnSpc>
                          <a:spcPct val="150000"/>
                        </a:lnSpc>
                      </a:pPr>
                      <a:r>
                        <a:rPr lang="en-GB" b="1" dirty="0"/>
                        <a:t>Option</a:t>
                      </a:r>
                    </a:p>
                  </a:txBody>
                  <a:tcPr anchor="ctr"/>
                </a:tc>
                <a:tc>
                  <a:txBody>
                    <a:bodyPr/>
                    <a:lstStyle/>
                    <a:p>
                      <a:pPr>
                        <a:lnSpc>
                          <a:spcPct val="150000"/>
                        </a:lnSpc>
                      </a:pPr>
                      <a:r>
                        <a:rPr lang="en-GB" b="1" dirty="0"/>
                        <a:t>Description</a:t>
                      </a:r>
                    </a:p>
                  </a:txBody>
                  <a:tcPr anchor="ctr"/>
                </a:tc>
                <a:extLst>
                  <a:ext uri="{0D108BD9-81ED-4DB2-BD59-A6C34878D82A}">
                    <a16:rowId xmlns:a16="http://schemas.microsoft.com/office/drawing/2014/main" val="2152183936"/>
                  </a:ext>
                </a:extLst>
              </a:tr>
              <a:tr h="0">
                <a:tc>
                  <a:txBody>
                    <a:bodyPr/>
                    <a:lstStyle/>
                    <a:p>
                      <a:pPr>
                        <a:lnSpc>
                          <a:spcPct val="150000"/>
                        </a:lnSpc>
                      </a:pPr>
                      <a:r>
                        <a:rPr lang="en-GB" b="0" dirty="0"/>
                        <a:t>cookie</a:t>
                      </a:r>
                    </a:p>
                  </a:txBody>
                  <a:tcPr anchor="ctr"/>
                </a:tc>
                <a:tc>
                  <a:txBody>
                    <a:bodyPr/>
                    <a:lstStyle/>
                    <a:p>
                      <a:pPr>
                        <a:lnSpc>
                          <a:spcPct val="150000"/>
                        </a:lnSpc>
                      </a:pPr>
                      <a:r>
                        <a:rPr lang="en-GB"/>
                        <a:t>Cookie settings, such as httpOnly, secure, and maxAge.</a:t>
                      </a:r>
                    </a:p>
                  </a:txBody>
                  <a:tcPr anchor="ctr"/>
                </a:tc>
                <a:extLst>
                  <a:ext uri="{0D108BD9-81ED-4DB2-BD59-A6C34878D82A}">
                    <a16:rowId xmlns:a16="http://schemas.microsoft.com/office/drawing/2014/main" val="3657869290"/>
                  </a:ext>
                </a:extLst>
              </a:tr>
              <a:tr h="0">
                <a:tc>
                  <a:txBody>
                    <a:bodyPr/>
                    <a:lstStyle/>
                    <a:p>
                      <a:pPr>
                        <a:lnSpc>
                          <a:spcPct val="150000"/>
                        </a:lnSpc>
                      </a:pPr>
                      <a:r>
                        <a:rPr lang="en-GB" b="0" dirty="0" err="1"/>
                        <a:t>genid</a:t>
                      </a:r>
                      <a:endParaRPr lang="en-GB" b="0" dirty="0"/>
                    </a:p>
                  </a:txBody>
                  <a:tcPr anchor="ctr"/>
                </a:tc>
                <a:tc>
                  <a:txBody>
                    <a:bodyPr/>
                    <a:lstStyle/>
                    <a:p>
                      <a:pPr>
                        <a:lnSpc>
                          <a:spcPct val="150000"/>
                        </a:lnSpc>
                      </a:pPr>
                      <a:r>
                        <a:rPr lang="en-GB"/>
                        <a:t>Function that generates session IDs. Uses </a:t>
                      </a:r>
                      <a:r>
                        <a:rPr lang="en-GB" b="1"/>
                        <a:t>uid-safe</a:t>
                      </a:r>
                      <a:r>
                        <a:rPr lang="en-GB"/>
                        <a:t> by default, not UUID.</a:t>
                      </a:r>
                    </a:p>
                  </a:txBody>
                  <a:tcPr anchor="ctr"/>
                </a:tc>
                <a:extLst>
                  <a:ext uri="{0D108BD9-81ED-4DB2-BD59-A6C34878D82A}">
                    <a16:rowId xmlns:a16="http://schemas.microsoft.com/office/drawing/2014/main" val="3786379799"/>
                  </a:ext>
                </a:extLst>
              </a:tr>
              <a:tr h="0">
                <a:tc>
                  <a:txBody>
                    <a:bodyPr/>
                    <a:lstStyle/>
                    <a:p>
                      <a:pPr>
                        <a:lnSpc>
                          <a:spcPct val="150000"/>
                        </a:lnSpc>
                      </a:pPr>
                      <a:r>
                        <a:rPr lang="en-GB" b="0" dirty="0"/>
                        <a:t>name</a:t>
                      </a:r>
                    </a:p>
                  </a:txBody>
                  <a:tcPr anchor="ctr"/>
                </a:tc>
                <a:tc>
                  <a:txBody>
                    <a:bodyPr/>
                    <a:lstStyle/>
                    <a:p>
                      <a:pPr>
                        <a:lnSpc>
                          <a:spcPct val="150000"/>
                        </a:lnSpc>
                      </a:pPr>
                      <a:r>
                        <a:rPr lang="en-GB"/>
                        <a:t>Session cookie name. Default: "connect.sid".</a:t>
                      </a:r>
                    </a:p>
                  </a:txBody>
                  <a:tcPr anchor="ctr"/>
                </a:tc>
                <a:extLst>
                  <a:ext uri="{0D108BD9-81ED-4DB2-BD59-A6C34878D82A}">
                    <a16:rowId xmlns:a16="http://schemas.microsoft.com/office/drawing/2014/main" val="3619927818"/>
                  </a:ext>
                </a:extLst>
              </a:tr>
              <a:tr h="0">
                <a:tc>
                  <a:txBody>
                    <a:bodyPr/>
                    <a:lstStyle/>
                    <a:p>
                      <a:pPr>
                        <a:lnSpc>
                          <a:spcPct val="150000"/>
                        </a:lnSpc>
                      </a:pPr>
                      <a:r>
                        <a:rPr lang="en-GB" b="0" dirty="0"/>
                        <a:t>proxy</a:t>
                      </a:r>
                    </a:p>
                  </a:txBody>
                  <a:tcPr anchor="ctr"/>
                </a:tc>
                <a:tc>
                  <a:txBody>
                    <a:bodyPr/>
                    <a:lstStyle/>
                    <a:p>
                      <a:pPr>
                        <a:lnSpc>
                          <a:spcPct val="150000"/>
                        </a:lnSpc>
                      </a:pPr>
                      <a:r>
                        <a:rPr lang="en-GB"/>
                        <a:t>Controls whether to trust proxy headers when detecting HTTPS.</a:t>
                      </a:r>
                    </a:p>
                  </a:txBody>
                  <a:tcPr anchor="ctr"/>
                </a:tc>
                <a:extLst>
                  <a:ext uri="{0D108BD9-81ED-4DB2-BD59-A6C34878D82A}">
                    <a16:rowId xmlns:a16="http://schemas.microsoft.com/office/drawing/2014/main" val="4236773976"/>
                  </a:ext>
                </a:extLst>
              </a:tr>
              <a:tr h="0">
                <a:tc>
                  <a:txBody>
                    <a:bodyPr/>
                    <a:lstStyle/>
                    <a:p>
                      <a:pPr>
                        <a:lnSpc>
                          <a:spcPct val="150000"/>
                        </a:lnSpc>
                      </a:pPr>
                      <a:r>
                        <a:rPr lang="en-GB" b="0" dirty="0"/>
                        <a:t>resave</a:t>
                      </a:r>
                    </a:p>
                  </a:txBody>
                  <a:tcPr anchor="ctr"/>
                </a:tc>
                <a:tc>
                  <a:txBody>
                    <a:bodyPr/>
                    <a:lstStyle/>
                    <a:p>
                      <a:pPr>
                        <a:lnSpc>
                          <a:spcPct val="150000"/>
                        </a:lnSpc>
                      </a:pPr>
                      <a:r>
                        <a:rPr lang="en-GB"/>
                        <a:t>Saves the session even when unchanged, if true.</a:t>
                      </a:r>
                    </a:p>
                  </a:txBody>
                  <a:tcPr anchor="ctr"/>
                </a:tc>
                <a:extLst>
                  <a:ext uri="{0D108BD9-81ED-4DB2-BD59-A6C34878D82A}">
                    <a16:rowId xmlns:a16="http://schemas.microsoft.com/office/drawing/2014/main" val="3849354187"/>
                  </a:ext>
                </a:extLst>
              </a:tr>
              <a:tr h="0">
                <a:tc>
                  <a:txBody>
                    <a:bodyPr/>
                    <a:lstStyle/>
                    <a:p>
                      <a:pPr>
                        <a:lnSpc>
                          <a:spcPct val="150000"/>
                        </a:lnSpc>
                      </a:pPr>
                      <a:r>
                        <a:rPr lang="en-GB" b="0" dirty="0"/>
                        <a:t>rolling</a:t>
                      </a:r>
                    </a:p>
                  </a:txBody>
                  <a:tcPr anchor="ctr"/>
                </a:tc>
                <a:tc>
                  <a:txBody>
                    <a:bodyPr/>
                    <a:lstStyle/>
                    <a:p>
                      <a:pPr>
                        <a:lnSpc>
                          <a:spcPct val="150000"/>
                        </a:lnSpc>
                      </a:pPr>
                      <a:r>
                        <a:rPr lang="en-GB"/>
                        <a:t>Resends the cookie for an existing session on every response, resetting its expiration.</a:t>
                      </a:r>
                    </a:p>
                  </a:txBody>
                  <a:tcPr anchor="ctr"/>
                </a:tc>
                <a:extLst>
                  <a:ext uri="{0D108BD9-81ED-4DB2-BD59-A6C34878D82A}">
                    <a16:rowId xmlns:a16="http://schemas.microsoft.com/office/drawing/2014/main" val="2585823905"/>
                  </a:ext>
                </a:extLst>
              </a:tr>
              <a:tr h="0">
                <a:tc>
                  <a:txBody>
                    <a:bodyPr/>
                    <a:lstStyle/>
                    <a:p>
                      <a:pPr>
                        <a:lnSpc>
                          <a:spcPct val="150000"/>
                        </a:lnSpc>
                      </a:pPr>
                      <a:r>
                        <a:rPr lang="en-GB" b="0" dirty="0" err="1"/>
                        <a:t>saveUninitialized</a:t>
                      </a:r>
                      <a:endParaRPr lang="en-GB" b="0" dirty="0"/>
                    </a:p>
                  </a:txBody>
                  <a:tcPr anchor="ctr"/>
                </a:tc>
                <a:tc>
                  <a:txBody>
                    <a:bodyPr/>
                    <a:lstStyle/>
                    <a:p>
                      <a:pPr>
                        <a:lnSpc>
                          <a:spcPct val="150000"/>
                        </a:lnSpc>
                      </a:pPr>
                      <a:r>
                        <a:rPr lang="en-GB"/>
                        <a:t>Saves new, unmodified sessions, if true.</a:t>
                      </a:r>
                    </a:p>
                  </a:txBody>
                  <a:tcPr anchor="ctr"/>
                </a:tc>
                <a:extLst>
                  <a:ext uri="{0D108BD9-81ED-4DB2-BD59-A6C34878D82A}">
                    <a16:rowId xmlns:a16="http://schemas.microsoft.com/office/drawing/2014/main" val="3925436324"/>
                  </a:ext>
                </a:extLst>
              </a:tr>
              <a:tr h="0">
                <a:tc>
                  <a:txBody>
                    <a:bodyPr/>
                    <a:lstStyle/>
                    <a:p>
                      <a:pPr>
                        <a:lnSpc>
                          <a:spcPct val="150000"/>
                        </a:lnSpc>
                      </a:pPr>
                      <a:r>
                        <a:rPr lang="en-GB" b="0" dirty="0"/>
                        <a:t>secret</a:t>
                      </a:r>
                    </a:p>
                  </a:txBody>
                  <a:tcPr anchor="ctr"/>
                </a:tc>
                <a:tc>
                  <a:txBody>
                    <a:bodyPr/>
                    <a:lstStyle/>
                    <a:p>
                      <a:pPr>
                        <a:lnSpc>
                          <a:spcPct val="150000"/>
                        </a:lnSpc>
                      </a:pPr>
                      <a:r>
                        <a:rPr lang="en-GB"/>
                        <a:t>Secret used to </a:t>
                      </a:r>
                      <a:r>
                        <a:rPr lang="en-GB" b="1"/>
                        <a:t>sign</a:t>
                      </a:r>
                      <a:r>
                        <a:rPr lang="en-GB"/>
                        <a:t> the session ID cookie, not encrypt it.</a:t>
                      </a:r>
                    </a:p>
                  </a:txBody>
                  <a:tcPr anchor="ctr"/>
                </a:tc>
                <a:extLst>
                  <a:ext uri="{0D108BD9-81ED-4DB2-BD59-A6C34878D82A}">
                    <a16:rowId xmlns:a16="http://schemas.microsoft.com/office/drawing/2014/main" val="2702353531"/>
                  </a:ext>
                </a:extLst>
              </a:tr>
              <a:tr h="0">
                <a:tc>
                  <a:txBody>
                    <a:bodyPr/>
                    <a:lstStyle/>
                    <a:p>
                      <a:pPr>
                        <a:lnSpc>
                          <a:spcPct val="150000"/>
                        </a:lnSpc>
                      </a:pPr>
                      <a:r>
                        <a:rPr lang="en-GB" b="0" dirty="0"/>
                        <a:t>store</a:t>
                      </a:r>
                    </a:p>
                  </a:txBody>
                  <a:tcPr anchor="ctr"/>
                </a:tc>
                <a:tc>
                  <a:txBody>
                    <a:bodyPr/>
                    <a:lstStyle/>
                    <a:p>
                      <a:pPr>
                        <a:lnSpc>
                          <a:spcPct val="150000"/>
                        </a:lnSpc>
                      </a:pPr>
                      <a:r>
                        <a:rPr lang="en-GB"/>
                        <a:t>Server-side session storage. Default: MemoryStore.</a:t>
                      </a:r>
                    </a:p>
                  </a:txBody>
                  <a:tcPr anchor="ctr"/>
                </a:tc>
                <a:extLst>
                  <a:ext uri="{0D108BD9-81ED-4DB2-BD59-A6C34878D82A}">
                    <a16:rowId xmlns:a16="http://schemas.microsoft.com/office/drawing/2014/main" val="792466789"/>
                  </a:ext>
                </a:extLst>
              </a:tr>
              <a:tr h="0">
                <a:tc>
                  <a:txBody>
                    <a:bodyPr/>
                    <a:lstStyle/>
                    <a:p>
                      <a:pPr>
                        <a:lnSpc>
                          <a:spcPct val="150000"/>
                        </a:lnSpc>
                      </a:pPr>
                      <a:r>
                        <a:rPr lang="en-GB" b="0" dirty="0"/>
                        <a:t>unset</a:t>
                      </a:r>
                    </a:p>
                  </a:txBody>
                  <a:tcPr anchor="ctr"/>
                </a:tc>
                <a:tc>
                  <a:txBody>
                    <a:bodyPr/>
                    <a:lstStyle/>
                    <a:p>
                      <a:pPr>
                        <a:lnSpc>
                          <a:spcPct val="150000"/>
                        </a:lnSpc>
                      </a:pPr>
                      <a:r>
                        <a:rPr lang="en-GB" dirty="0" err="1"/>
                        <a:t>Behavior</a:t>
                      </a:r>
                      <a:r>
                        <a:rPr lang="en-GB" dirty="0"/>
                        <a:t> when </a:t>
                      </a:r>
                      <a:r>
                        <a:rPr lang="en-GB" dirty="0" err="1"/>
                        <a:t>req.session</a:t>
                      </a:r>
                      <a:r>
                        <a:rPr lang="en-GB" dirty="0"/>
                        <a:t> is unset: "destroy" or "keep" (default).</a:t>
                      </a:r>
                    </a:p>
                  </a:txBody>
                  <a:tcPr anchor="ctr"/>
                </a:tc>
                <a:extLst>
                  <a:ext uri="{0D108BD9-81ED-4DB2-BD59-A6C34878D82A}">
                    <a16:rowId xmlns:a16="http://schemas.microsoft.com/office/drawing/2014/main" val="380672534"/>
                  </a:ext>
                </a:extLst>
              </a:tr>
            </a:tbl>
          </a:graphicData>
        </a:graphic>
      </p:graphicFrame>
    </p:spTree>
    <p:extLst>
      <p:ext uri="{BB962C8B-B14F-4D97-AF65-F5344CB8AC3E}">
        <p14:creationId xmlns:p14="http://schemas.microsoft.com/office/powerpoint/2010/main" val="4081749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98"/>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Implementing Sessions in Node.js</a:t>
            </a:r>
            <a:endParaRPr/>
          </a:p>
        </p:txBody>
      </p:sp>
      <p:sp>
        <p:nvSpPr>
          <p:cNvPr id="318" name="Google Shape;318;p98"/>
          <p:cNvSpPr txBox="1">
            <a:spLocks noGrp="1"/>
          </p:cNvSpPr>
          <p:nvPr>
            <p:ph type="body" idx="1"/>
          </p:nvPr>
        </p:nvSpPr>
        <p:spPr>
          <a:xfrm>
            <a:off x="838200" y="1253331"/>
            <a:ext cx="10515600" cy="4351338"/>
          </a:xfrm>
          <a:prstGeom prst="rect">
            <a:avLst/>
          </a:prstGeom>
          <a:noFill/>
          <a:ln>
            <a:noFill/>
          </a:ln>
        </p:spPr>
        <p:txBody>
          <a:bodyPr spcFirstLastPara="1" wrap="square" lIns="91425" tIns="45700" rIns="91425" bIns="45700" anchor="t" anchorCtr="0">
            <a:normAutofit/>
          </a:bodyPr>
          <a:lstStyle/>
          <a:p>
            <a:pPr marL="114300" lvl="0" indent="0" algn="just" rtl="0">
              <a:lnSpc>
                <a:spcPct val="150000"/>
              </a:lnSpc>
              <a:spcBef>
                <a:spcPts val="1000"/>
              </a:spcBef>
              <a:spcAft>
                <a:spcPts val="0"/>
              </a:spcAft>
              <a:buSzPts val="1800"/>
              <a:buNone/>
            </a:pPr>
            <a:r>
              <a:rPr lang="en-US" dirty="0">
                <a:solidFill>
                  <a:schemeClr val="tx1"/>
                </a:solidFill>
              </a:rPr>
              <a:t>To implement session management in Node.js applications, you need to use a session management middleware. A middleware is a function that sits between the client and the server, processing requests and responses.</a:t>
            </a:r>
            <a:endParaRPr dirty="0">
              <a:solidFill>
                <a:schemeClr val="tx1"/>
              </a:solidFill>
            </a:endParaRPr>
          </a:p>
          <a:p>
            <a:pPr marL="114300" lvl="0" indent="0" algn="just" rtl="0">
              <a:lnSpc>
                <a:spcPct val="150000"/>
              </a:lnSpc>
              <a:spcBef>
                <a:spcPts val="1000"/>
              </a:spcBef>
              <a:spcAft>
                <a:spcPts val="0"/>
              </a:spcAft>
              <a:buSzPts val="1800"/>
              <a:buNone/>
            </a:pPr>
            <a:r>
              <a:rPr lang="en-US" dirty="0" err="1">
                <a:solidFill>
                  <a:schemeClr val="tx1"/>
                </a:solidFill>
                <a:latin typeface="Courier New"/>
                <a:ea typeface="Courier New"/>
                <a:cs typeface="Courier New"/>
                <a:sym typeface="Courier New"/>
              </a:rPr>
              <a:t>npm</a:t>
            </a:r>
            <a:r>
              <a:rPr lang="en-US" dirty="0">
                <a:solidFill>
                  <a:schemeClr val="tx1"/>
                </a:solidFill>
                <a:latin typeface="Courier New"/>
                <a:ea typeface="Courier New"/>
                <a:cs typeface="Courier New"/>
                <a:sym typeface="Courier New"/>
              </a:rPr>
              <a:t> install express-session</a:t>
            </a:r>
            <a:endParaRPr dirty="0">
              <a:solidFill>
                <a:schemeClr val="tx1"/>
              </a:solidFill>
            </a:endParaRPr>
          </a:p>
          <a:p>
            <a:pPr marL="457200" lvl="0" indent="-228600" algn="just" rtl="0">
              <a:lnSpc>
                <a:spcPct val="150000"/>
              </a:lnSpc>
              <a:spcBef>
                <a:spcPts val="1000"/>
              </a:spcBef>
              <a:spcAft>
                <a:spcPts val="0"/>
              </a:spcAft>
              <a:buSzPts val="1800"/>
              <a:buNone/>
            </a:pPr>
            <a:endParaRPr dirty="0">
              <a:solidFill>
                <a:schemeClr val="tx1"/>
              </a:solidFill>
            </a:endParaRPr>
          </a:p>
        </p:txBody>
      </p:sp>
      <p:sp>
        <p:nvSpPr>
          <p:cNvPr id="319" name="Google Shape;319;p9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Tree>
    <p:extLst>
      <p:ext uri="{BB962C8B-B14F-4D97-AF65-F5344CB8AC3E}">
        <p14:creationId xmlns:p14="http://schemas.microsoft.com/office/powerpoint/2010/main" val="1807294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105"/>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Securing session data</a:t>
            </a:r>
            <a:endParaRPr/>
          </a:p>
        </p:txBody>
      </p:sp>
      <p:sp>
        <p:nvSpPr>
          <p:cNvPr id="375" name="Google Shape;375;p105"/>
          <p:cNvSpPr txBox="1">
            <a:spLocks noGrp="1"/>
          </p:cNvSpPr>
          <p:nvPr>
            <p:ph type="body" idx="1"/>
          </p:nvPr>
        </p:nvSpPr>
        <p:spPr>
          <a:xfrm>
            <a:off x="838200" y="1253331"/>
            <a:ext cx="10515600" cy="4351338"/>
          </a:xfrm>
          <a:prstGeom prst="rect">
            <a:avLst/>
          </a:prstGeom>
          <a:noFill/>
          <a:ln>
            <a:noFill/>
          </a:ln>
        </p:spPr>
        <p:txBody>
          <a:bodyPr spcFirstLastPara="1" wrap="square" lIns="91425" tIns="45700" rIns="91425" bIns="45700" anchor="t" anchorCtr="0">
            <a:normAutofit/>
          </a:bodyPr>
          <a:lstStyle/>
          <a:p>
            <a:pPr marL="457200" lvl="0" indent="-342900" algn="just" rtl="0">
              <a:lnSpc>
                <a:spcPct val="90000"/>
              </a:lnSpc>
              <a:spcBef>
                <a:spcPts val="1000"/>
              </a:spcBef>
              <a:spcAft>
                <a:spcPts val="0"/>
              </a:spcAft>
              <a:buSzPts val="1800"/>
              <a:buChar char="•"/>
            </a:pPr>
            <a:r>
              <a:rPr lang="en-US" dirty="0">
                <a:solidFill>
                  <a:schemeClr val="tx1"/>
                </a:solidFill>
              </a:rPr>
              <a:t>It is crucial to secure session data to prevent unauthorized access or tampering. </a:t>
            </a:r>
            <a:endParaRPr dirty="0">
              <a:solidFill>
                <a:schemeClr val="tx1"/>
              </a:solidFill>
            </a:endParaRPr>
          </a:p>
          <a:p>
            <a:pPr marL="457200" lvl="0" indent="-342900" algn="just" rtl="0">
              <a:lnSpc>
                <a:spcPct val="90000"/>
              </a:lnSpc>
              <a:spcBef>
                <a:spcPts val="1000"/>
              </a:spcBef>
              <a:spcAft>
                <a:spcPts val="0"/>
              </a:spcAft>
              <a:buSzPts val="1800"/>
              <a:buChar char="•"/>
            </a:pPr>
            <a:r>
              <a:rPr lang="en-US" dirty="0">
                <a:solidFill>
                  <a:schemeClr val="tx1"/>
                </a:solidFill>
              </a:rPr>
              <a:t>You can secure session data by using secure cookies, encrypting session data, and implementing HTTPS encryption.</a:t>
            </a:r>
            <a:endParaRPr dirty="0">
              <a:solidFill>
                <a:schemeClr val="tx1"/>
              </a:solidFill>
            </a:endParaRPr>
          </a:p>
        </p:txBody>
      </p:sp>
      <p:sp>
        <p:nvSpPr>
          <p:cNvPr id="376" name="Google Shape;376;p105"/>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pic>
        <p:nvPicPr>
          <p:cNvPr id="377" name="Google Shape;377;p105"/>
          <p:cNvPicPr preferRelativeResize="0"/>
          <p:nvPr/>
        </p:nvPicPr>
        <p:blipFill rotWithShape="1">
          <a:blip r:embed="rId3">
            <a:alphaModFix/>
          </a:blip>
          <a:srcRect/>
          <a:stretch/>
        </p:blipFill>
        <p:spPr>
          <a:xfrm>
            <a:off x="2206893" y="3511900"/>
            <a:ext cx="7378680" cy="2907536"/>
          </a:xfrm>
          <a:prstGeom prst="rect">
            <a:avLst/>
          </a:prstGeom>
          <a:noFill/>
          <a:ln>
            <a:noFill/>
          </a:ln>
        </p:spPr>
      </p:pic>
    </p:spTree>
    <p:extLst>
      <p:ext uri="{BB962C8B-B14F-4D97-AF65-F5344CB8AC3E}">
        <p14:creationId xmlns:p14="http://schemas.microsoft.com/office/powerpoint/2010/main" val="468258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96"/>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Session</a:t>
            </a:r>
            <a:endParaRPr/>
          </a:p>
        </p:txBody>
      </p:sp>
      <p:sp>
        <p:nvSpPr>
          <p:cNvPr id="279" name="Google Shape;279;p96"/>
          <p:cNvSpPr txBox="1">
            <a:spLocks noGrp="1"/>
          </p:cNvSpPr>
          <p:nvPr>
            <p:ph type="body" idx="1"/>
          </p:nvPr>
        </p:nvSpPr>
        <p:spPr>
          <a:xfrm>
            <a:off x="838200" y="1253331"/>
            <a:ext cx="10515600" cy="4351338"/>
          </a:xfrm>
          <a:prstGeom prst="rect">
            <a:avLst/>
          </a:prstGeom>
          <a:noFill/>
          <a:ln>
            <a:noFill/>
          </a:ln>
        </p:spPr>
        <p:txBody>
          <a:bodyPr spcFirstLastPara="1" wrap="square" lIns="91425" tIns="45700" rIns="91425" bIns="45700" anchor="t" anchorCtr="0">
            <a:normAutofit/>
          </a:bodyPr>
          <a:lstStyle/>
          <a:p>
            <a:pPr marL="457200" lvl="0" indent="-342900" algn="just" rtl="0">
              <a:lnSpc>
                <a:spcPct val="150000"/>
              </a:lnSpc>
              <a:spcBef>
                <a:spcPts val="1000"/>
              </a:spcBef>
              <a:spcAft>
                <a:spcPts val="0"/>
              </a:spcAft>
              <a:buSzPts val="1800"/>
              <a:buChar char="•"/>
            </a:pPr>
            <a:r>
              <a:rPr lang="en-US" dirty="0">
                <a:solidFill>
                  <a:schemeClr val="tx1"/>
                </a:solidFill>
              </a:rPr>
              <a:t>Sessions are used to store information about a user across multiple requests. </a:t>
            </a:r>
            <a:endParaRPr dirty="0">
              <a:solidFill>
                <a:schemeClr val="tx1"/>
              </a:solidFill>
            </a:endParaRPr>
          </a:p>
          <a:p>
            <a:pPr marL="457200" lvl="0" indent="-342900" algn="just" rtl="0">
              <a:lnSpc>
                <a:spcPct val="150000"/>
              </a:lnSpc>
              <a:spcBef>
                <a:spcPts val="1000"/>
              </a:spcBef>
              <a:spcAft>
                <a:spcPts val="0"/>
              </a:spcAft>
              <a:buSzPts val="1800"/>
              <a:buChar char="•"/>
            </a:pPr>
            <a:r>
              <a:rPr lang="en-US" dirty="0">
                <a:solidFill>
                  <a:schemeClr val="tx1"/>
                </a:solidFill>
              </a:rPr>
              <a:t>Implementing sessions allows your application to recognize users and provide a personalized experience for them.</a:t>
            </a:r>
            <a:endParaRPr dirty="0">
              <a:solidFill>
                <a:schemeClr val="tx1"/>
              </a:solidFill>
            </a:endParaRPr>
          </a:p>
          <a:p>
            <a:pPr marL="457200" lvl="0" indent="-228600" algn="just" rtl="0">
              <a:lnSpc>
                <a:spcPct val="150000"/>
              </a:lnSpc>
              <a:spcBef>
                <a:spcPts val="1000"/>
              </a:spcBef>
              <a:spcAft>
                <a:spcPts val="0"/>
              </a:spcAft>
              <a:buSzPts val="1800"/>
              <a:buNone/>
            </a:pPr>
            <a:endParaRPr dirty="0">
              <a:solidFill>
                <a:schemeClr val="tx1"/>
              </a:solidFill>
            </a:endParaRPr>
          </a:p>
        </p:txBody>
      </p:sp>
      <p:sp>
        <p:nvSpPr>
          <p:cNvPr id="280" name="Google Shape;280;p9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Tree>
    <p:extLst>
      <p:ext uri="{BB962C8B-B14F-4D97-AF65-F5344CB8AC3E}">
        <p14:creationId xmlns:p14="http://schemas.microsoft.com/office/powerpoint/2010/main" val="11547802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38F8F0FE-71A5-7681-1F18-596B0E56E63F}"/>
            </a:ext>
          </a:extLst>
        </p:cNvPr>
        <p:cNvGrpSpPr/>
        <p:nvPr/>
      </p:nvGrpSpPr>
      <p:grpSpPr>
        <a:xfrm>
          <a:off x="0" y="0"/>
          <a:ext cx="0" cy="0"/>
          <a:chOff x="0" y="0"/>
          <a:chExt cx="0" cy="0"/>
        </a:xfrm>
      </p:grpSpPr>
      <p:sp>
        <p:nvSpPr>
          <p:cNvPr id="204" name="Google Shape;204;p91">
            <a:extLst>
              <a:ext uri="{FF2B5EF4-FFF2-40B4-BE49-F238E27FC236}">
                <a16:creationId xmlns:a16="http://schemas.microsoft.com/office/drawing/2014/main" id="{A3FBE297-9F01-1BC6-1DEF-0F615F4DE1FF}"/>
              </a:ext>
            </a:extLst>
          </p:cNvPr>
          <p:cNvSpPr txBox="1">
            <a:spLocks noGrp="1"/>
          </p:cNvSpPr>
          <p:nvPr>
            <p:ph type="ctrTitle"/>
          </p:nvPr>
        </p:nvSpPr>
        <p:spPr>
          <a:xfrm>
            <a:off x="1161393" y="2241458"/>
            <a:ext cx="9869214"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400" b="1">
                <a:solidFill>
                  <a:srgbClr val="002060"/>
                </a:solidFill>
                <a:latin typeface="Arial"/>
                <a:ea typeface="Arial"/>
                <a:cs typeface="Arial"/>
                <a:sym typeface="Arial"/>
              </a:rPr>
              <a:t>Cookie</a:t>
            </a:r>
            <a:endParaRPr sz="4400" b="1">
              <a:solidFill>
                <a:srgbClr val="002060"/>
              </a:solidFill>
              <a:latin typeface="Arial"/>
              <a:ea typeface="Arial"/>
              <a:cs typeface="Arial"/>
              <a:sym typeface="Arial"/>
            </a:endParaRPr>
          </a:p>
        </p:txBody>
      </p:sp>
    </p:spTree>
    <p:extLst>
      <p:ext uri="{BB962C8B-B14F-4D97-AF65-F5344CB8AC3E}">
        <p14:creationId xmlns:p14="http://schemas.microsoft.com/office/powerpoint/2010/main" val="2827355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119"/>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05/03/2024</a:t>
            </a:r>
            <a:endParaRPr/>
          </a:p>
        </p:txBody>
      </p:sp>
      <p:sp>
        <p:nvSpPr>
          <p:cNvPr id="482" name="Google Shape;482;p119"/>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sp>
        <p:nvSpPr>
          <p:cNvPr id="483" name="Google Shape;483;p119"/>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dirty="0"/>
              <a:t>Cookies</a:t>
            </a:r>
            <a:endParaRPr dirty="0"/>
          </a:p>
        </p:txBody>
      </p:sp>
      <p:sp>
        <p:nvSpPr>
          <p:cNvPr id="484" name="Google Shape;484;p119"/>
          <p:cNvSpPr txBox="1">
            <a:spLocks noGrp="1"/>
          </p:cNvSpPr>
          <p:nvPr>
            <p:ph type="body" idx="1"/>
          </p:nvPr>
        </p:nvSpPr>
        <p:spPr>
          <a:xfrm>
            <a:off x="838200" y="1195642"/>
            <a:ext cx="105156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150000"/>
              </a:lnSpc>
              <a:spcBef>
                <a:spcPts val="1000"/>
              </a:spcBef>
              <a:spcAft>
                <a:spcPts val="0"/>
              </a:spcAft>
              <a:buSzPts val="1800"/>
              <a:buChar char="•"/>
            </a:pPr>
            <a:r>
              <a:rPr lang="en-US" dirty="0">
                <a:solidFill>
                  <a:schemeClr val="tx1"/>
                </a:solidFill>
              </a:rPr>
              <a:t>Cookies set on the client side by the server </a:t>
            </a:r>
            <a:endParaRPr dirty="0">
              <a:solidFill>
                <a:schemeClr val="tx1"/>
              </a:solidFill>
            </a:endParaRPr>
          </a:p>
          <a:p>
            <a:pPr marL="457200" lvl="0" indent="-342900" algn="l" rtl="0">
              <a:lnSpc>
                <a:spcPct val="150000"/>
              </a:lnSpc>
              <a:spcBef>
                <a:spcPts val="1000"/>
              </a:spcBef>
              <a:spcAft>
                <a:spcPts val="0"/>
              </a:spcAft>
              <a:buSzPts val="1800"/>
              <a:buChar char="•"/>
            </a:pPr>
            <a:r>
              <a:rPr lang="en-US" dirty="0">
                <a:solidFill>
                  <a:schemeClr val="tx1"/>
                </a:solidFill>
              </a:rPr>
              <a:t>Cookies used as a storage for session ID that is used as an index into server-side storage of session information </a:t>
            </a:r>
            <a:endParaRPr dirty="0">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92"/>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Cookies</a:t>
            </a:r>
            <a:endParaRPr/>
          </a:p>
        </p:txBody>
      </p:sp>
      <p:sp>
        <p:nvSpPr>
          <p:cNvPr id="210" name="Google Shape;210;p92"/>
          <p:cNvSpPr txBox="1">
            <a:spLocks noGrp="1"/>
          </p:cNvSpPr>
          <p:nvPr>
            <p:ph type="body" idx="1"/>
          </p:nvPr>
        </p:nvSpPr>
        <p:spPr>
          <a:xfrm>
            <a:off x="838200" y="1108298"/>
            <a:ext cx="10515600" cy="4944889"/>
          </a:xfrm>
          <a:prstGeom prst="rect">
            <a:avLst/>
          </a:prstGeom>
          <a:noFill/>
          <a:ln>
            <a:noFill/>
          </a:ln>
        </p:spPr>
        <p:txBody>
          <a:bodyPr spcFirstLastPara="1" wrap="square" lIns="91425" tIns="45700" rIns="91425" bIns="45700" anchor="t" anchorCtr="0">
            <a:normAutofit lnSpcReduction="10000"/>
          </a:bodyPr>
          <a:lstStyle/>
          <a:p>
            <a:pPr marL="457200" lvl="0" indent="-342900" algn="just" rtl="0">
              <a:lnSpc>
                <a:spcPct val="150000"/>
              </a:lnSpc>
              <a:spcBef>
                <a:spcPts val="1000"/>
              </a:spcBef>
              <a:spcAft>
                <a:spcPts val="0"/>
              </a:spcAft>
              <a:buSzPts val="1800"/>
              <a:buChar char="•"/>
            </a:pPr>
            <a:r>
              <a:rPr lang="en-US" dirty="0">
                <a:solidFill>
                  <a:schemeClr val="tx1"/>
                </a:solidFill>
              </a:rPr>
              <a:t>Cookies are used to store data on the client's computer and are sent back to the server with each request. </a:t>
            </a:r>
            <a:endParaRPr dirty="0">
              <a:solidFill>
                <a:schemeClr val="tx1"/>
              </a:solidFill>
            </a:endParaRPr>
          </a:p>
          <a:p>
            <a:pPr marL="457200" lvl="0" indent="-342900" algn="just" rtl="0">
              <a:lnSpc>
                <a:spcPct val="150000"/>
              </a:lnSpc>
              <a:spcBef>
                <a:spcPts val="1000"/>
              </a:spcBef>
              <a:spcAft>
                <a:spcPts val="0"/>
              </a:spcAft>
              <a:buSzPts val="1800"/>
              <a:buChar char="•"/>
            </a:pPr>
            <a:r>
              <a:rPr lang="en-US" dirty="0">
                <a:solidFill>
                  <a:schemeClr val="tx1"/>
                </a:solidFill>
              </a:rPr>
              <a:t>This allows the server to maintain state or session information for the client. </a:t>
            </a:r>
            <a:endParaRPr dirty="0">
              <a:solidFill>
                <a:schemeClr val="tx1"/>
              </a:solidFill>
            </a:endParaRPr>
          </a:p>
          <a:p>
            <a:pPr marL="457200" lvl="0" indent="-342900" algn="just" rtl="0">
              <a:lnSpc>
                <a:spcPct val="150000"/>
              </a:lnSpc>
              <a:spcBef>
                <a:spcPts val="1000"/>
              </a:spcBef>
              <a:spcAft>
                <a:spcPts val="0"/>
              </a:spcAft>
              <a:buSzPts val="1800"/>
              <a:buChar char="•"/>
            </a:pPr>
            <a:r>
              <a:rPr lang="en-US" dirty="0">
                <a:solidFill>
                  <a:schemeClr val="tx1"/>
                </a:solidFill>
              </a:rPr>
              <a:t>Managing cookies involves setting them from the server side, often in response to HTTP requests, and then accessing them on subsequent requests from the client.</a:t>
            </a:r>
            <a:endParaRPr dirty="0">
              <a:solidFill>
                <a:schemeClr val="tx1"/>
              </a:solidFill>
            </a:endParaRPr>
          </a:p>
        </p:txBody>
      </p:sp>
      <p:sp>
        <p:nvSpPr>
          <p:cNvPr id="211" name="Google Shape;211;p9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93"/>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How do Cookies work?</a:t>
            </a:r>
            <a:endParaRPr/>
          </a:p>
        </p:txBody>
      </p:sp>
      <p:sp>
        <p:nvSpPr>
          <p:cNvPr id="217" name="Google Shape;217;p93"/>
          <p:cNvSpPr txBox="1">
            <a:spLocks noGrp="1"/>
          </p:cNvSpPr>
          <p:nvPr>
            <p:ph type="body" idx="1"/>
          </p:nvPr>
        </p:nvSpPr>
        <p:spPr>
          <a:xfrm>
            <a:off x="913660" y="1160879"/>
            <a:ext cx="10515600" cy="2846582"/>
          </a:xfrm>
          <a:prstGeom prst="rect">
            <a:avLst/>
          </a:prstGeom>
          <a:noFill/>
          <a:ln>
            <a:noFill/>
          </a:ln>
        </p:spPr>
        <p:txBody>
          <a:bodyPr spcFirstLastPara="1" wrap="square" lIns="91425" tIns="45700" rIns="91425" bIns="45700" anchor="t" anchorCtr="0">
            <a:normAutofit fontScale="92500"/>
          </a:bodyPr>
          <a:lstStyle/>
          <a:p>
            <a:pPr lvl="0" algn="just">
              <a:lnSpc>
                <a:spcPct val="150000"/>
              </a:lnSpc>
            </a:pPr>
            <a:r>
              <a:rPr lang="en-GB" sz="2400" b="1" dirty="0" err="1">
                <a:solidFill>
                  <a:schemeClr val="tx1"/>
                </a:solidFill>
              </a:rPr>
              <a:t>HttpOnly</a:t>
            </a:r>
            <a:r>
              <a:rPr lang="en-GB" sz="2400" dirty="0">
                <a:solidFill>
                  <a:schemeClr val="tx1"/>
                </a:solidFill>
              </a:rPr>
              <a:t>: Blocks JavaScript access to cookies, reducing cookie theft through </a:t>
            </a:r>
          </a:p>
          <a:p>
            <a:pPr lvl="0" algn="just">
              <a:lnSpc>
                <a:spcPct val="150000"/>
              </a:lnSpc>
            </a:pPr>
            <a:r>
              <a:rPr lang="en-GB" sz="2400" dirty="0" err="1">
                <a:solidFill>
                  <a:schemeClr val="tx1"/>
                </a:solidFill>
              </a:rPr>
              <a:t>XSS.</a:t>
            </a:r>
            <a:r>
              <a:rPr lang="en-GB" sz="2400" b="1" dirty="0" err="1">
                <a:solidFill>
                  <a:schemeClr val="tx1"/>
                </a:solidFill>
              </a:rPr>
              <a:t>Secure</a:t>
            </a:r>
            <a:r>
              <a:rPr lang="en-GB" sz="2400" dirty="0">
                <a:solidFill>
                  <a:schemeClr val="tx1"/>
                </a:solidFill>
              </a:rPr>
              <a:t>: Sends cookies only over </a:t>
            </a:r>
          </a:p>
          <a:p>
            <a:pPr lvl="0" algn="just">
              <a:lnSpc>
                <a:spcPct val="150000"/>
              </a:lnSpc>
            </a:pPr>
            <a:r>
              <a:rPr lang="en-GB" sz="2400" dirty="0" err="1">
                <a:solidFill>
                  <a:schemeClr val="tx1"/>
                </a:solidFill>
              </a:rPr>
              <a:t>HTTPS.</a:t>
            </a:r>
            <a:r>
              <a:rPr lang="en-GB" sz="2400" b="1" dirty="0" err="1">
                <a:solidFill>
                  <a:schemeClr val="tx1"/>
                </a:solidFill>
              </a:rPr>
              <a:t>SameSite</a:t>
            </a:r>
            <a:r>
              <a:rPr lang="en-GB" sz="2400" dirty="0">
                <a:solidFill>
                  <a:schemeClr val="tx1"/>
                </a:solidFill>
              </a:rPr>
              <a:t>: Controls cross-site cookie sending to reduce CSRF risk: Strict, Lax, or None (requires Secure).</a:t>
            </a:r>
            <a:endParaRPr dirty="0">
              <a:solidFill>
                <a:schemeClr val="tx1"/>
              </a:solidFill>
            </a:endParaRPr>
          </a:p>
        </p:txBody>
      </p:sp>
      <p:sp>
        <p:nvSpPr>
          <p:cNvPr id="218" name="Google Shape;218;p93"/>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pic>
        <p:nvPicPr>
          <p:cNvPr id="219" name="Google Shape;219;p93" descr="Cookie Authentication | Session Authentication in Nodejs"/>
          <p:cNvPicPr preferRelativeResize="0"/>
          <p:nvPr/>
        </p:nvPicPr>
        <p:blipFill rotWithShape="1">
          <a:blip r:embed="rId3">
            <a:alphaModFix/>
          </a:blip>
          <a:srcRect t="6369" b="2490"/>
          <a:stretch/>
        </p:blipFill>
        <p:spPr>
          <a:xfrm>
            <a:off x="412972" y="3789063"/>
            <a:ext cx="5381224" cy="2344661"/>
          </a:xfrm>
          <a:prstGeom prst="rect">
            <a:avLst/>
          </a:prstGeom>
          <a:noFill/>
          <a:ln>
            <a:noFill/>
          </a:ln>
        </p:spPr>
      </p:pic>
      <p:pic>
        <p:nvPicPr>
          <p:cNvPr id="220" name="Google Shape;220;p93"/>
          <p:cNvPicPr preferRelativeResize="0"/>
          <p:nvPr/>
        </p:nvPicPr>
        <p:blipFill rotWithShape="1">
          <a:blip r:embed="rId4">
            <a:alphaModFix/>
          </a:blip>
          <a:srcRect/>
          <a:stretch/>
        </p:blipFill>
        <p:spPr>
          <a:xfrm>
            <a:off x="6543323" y="3893131"/>
            <a:ext cx="4974891" cy="234466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64"/>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05/03/2024</a:t>
            </a:r>
            <a:endParaRPr/>
          </a:p>
        </p:txBody>
      </p:sp>
      <p:sp>
        <p:nvSpPr>
          <p:cNvPr id="226" name="Google Shape;226;p6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sp>
        <p:nvSpPr>
          <p:cNvPr id="227" name="Google Shape;227;p64"/>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HTTP Cookies </a:t>
            </a:r>
            <a:endParaRPr/>
          </a:p>
        </p:txBody>
      </p:sp>
      <p:sp>
        <p:nvSpPr>
          <p:cNvPr id="228" name="Google Shape;228;p64"/>
          <p:cNvSpPr txBox="1">
            <a:spLocks noGrp="1"/>
          </p:cNvSpPr>
          <p:nvPr>
            <p:ph type="body" idx="1"/>
          </p:nvPr>
        </p:nvSpPr>
        <p:spPr>
          <a:xfrm>
            <a:off x="838200" y="1147694"/>
            <a:ext cx="105156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150000"/>
              </a:lnSpc>
              <a:spcBef>
                <a:spcPts val="1000"/>
              </a:spcBef>
              <a:spcAft>
                <a:spcPts val="0"/>
              </a:spcAft>
              <a:buClr>
                <a:schemeClr val="dk1"/>
              </a:buClr>
              <a:buSzPts val="1800"/>
              <a:buChar char="•"/>
            </a:pPr>
            <a:r>
              <a:rPr lang="en-US" sz="2400" dirty="0">
                <a:solidFill>
                  <a:schemeClr val="tx1"/>
                </a:solidFill>
              </a:rPr>
              <a:t>Small piece of data sent from a web server and stored on the client side </a:t>
            </a:r>
            <a:endParaRPr sz="2400"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sz="2400" dirty="0">
                <a:solidFill>
                  <a:schemeClr val="tx1"/>
                </a:solidFill>
              </a:rPr>
              <a:t>Each subsequent request from the client side should include the cookie in the request header </a:t>
            </a:r>
            <a:endParaRPr sz="2400" dirty="0">
              <a:solidFill>
                <a:schemeClr val="tx1"/>
              </a:solidFill>
            </a:endParaRPr>
          </a:p>
        </p:txBody>
      </p:sp>
      <p:cxnSp>
        <p:nvCxnSpPr>
          <p:cNvPr id="229" name="Google Shape;229;p64"/>
          <p:cNvCxnSpPr/>
          <p:nvPr/>
        </p:nvCxnSpPr>
        <p:spPr>
          <a:xfrm>
            <a:off x="2354318" y="3951890"/>
            <a:ext cx="0" cy="2333296"/>
          </a:xfrm>
          <a:prstGeom prst="straightConnector1">
            <a:avLst/>
          </a:prstGeom>
          <a:noFill/>
          <a:ln w="76200" cap="flat" cmpd="sng">
            <a:solidFill>
              <a:srgbClr val="7030A0"/>
            </a:solidFill>
            <a:prstDash val="solid"/>
            <a:round/>
            <a:headEnd type="none" w="sm" len="sm"/>
            <a:tailEnd type="none" w="sm" len="sm"/>
          </a:ln>
        </p:spPr>
      </p:cxnSp>
      <p:cxnSp>
        <p:nvCxnSpPr>
          <p:cNvPr id="230" name="Google Shape;230;p64"/>
          <p:cNvCxnSpPr/>
          <p:nvPr/>
        </p:nvCxnSpPr>
        <p:spPr>
          <a:xfrm>
            <a:off x="9243848" y="3783726"/>
            <a:ext cx="5255" cy="2501460"/>
          </a:xfrm>
          <a:prstGeom prst="straightConnector1">
            <a:avLst/>
          </a:prstGeom>
          <a:noFill/>
          <a:ln w="76200" cap="flat" cmpd="sng">
            <a:solidFill>
              <a:srgbClr val="0432FF"/>
            </a:solidFill>
            <a:prstDash val="solid"/>
            <a:round/>
            <a:headEnd type="none" w="sm" len="sm"/>
            <a:tailEnd type="none" w="sm" len="sm"/>
          </a:ln>
        </p:spPr>
      </p:cxnSp>
      <p:cxnSp>
        <p:nvCxnSpPr>
          <p:cNvPr id="231" name="Google Shape;231;p64"/>
          <p:cNvCxnSpPr/>
          <p:nvPr/>
        </p:nvCxnSpPr>
        <p:spPr>
          <a:xfrm>
            <a:off x="2467302" y="5187286"/>
            <a:ext cx="6663561" cy="372686"/>
          </a:xfrm>
          <a:prstGeom prst="straightConnector1">
            <a:avLst/>
          </a:prstGeom>
          <a:noFill/>
          <a:ln w="57150" cap="flat" cmpd="sng">
            <a:solidFill>
              <a:srgbClr val="FF0000"/>
            </a:solidFill>
            <a:prstDash val="solid"/>
            <a:round/>
            <a:headEnd type="none" w="sm" len="sm"/>
            <a:tailEnd type="triangle" w="med" len="med"/>
          </a:ln>
        </p:spPr>
      </p:cxnSp>
      <p:cxnSp>
        <p:nvCxnSpPr>
          <p:cNvPr id="232" name="Google Shape;232;p64"/>
          <p:cNvCxnSpPr/>
          <p:nvPr/>
        </p:nvCxnSpPr>
        <p:spPr>
          <a:xfrm rot="10800000" flipH="1">
            <a:off x="2467303" y="4667857"/>
            <a:ext cx="6663560" cy="329811"/>
          </a:xfrm>
          <a:prstGeom prst="straightConnector1">
            <a:avLst/>
          </a:prstGeom>
          <a:noFill/>
          <a:ln w="57150" cap="flat" cmpd="sng">
            <a:solidFill>
              <a:srgbClr val="FF0000"/>
            </a:solidFill>
            <a:prstDash val="solid"/>
            <a:round/>
            <a:headEnd type="triangle" w="med" len="med"/>
            <a:tailEnd type="none" w="sm" len="sm"/>
          </a:ln>
        </p:spPr>
      </p:cxnSp>
      <p:sp>
        <p:nvSpPr>
          <p:cNvPr id="233" name="Google Shape;233;p64"/>
          <p:cNvSpPr txBox="1"/>
          <p:nvPr/>
        </p:nvSpPr>
        <p:spPr>
          <a:xfrm>
            <a:off x="1836682" y="3428674"/>
            <a:ext cx="126124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Calibri"/>
                <a:ea typeface="Calibri"/>
                <a:cs typeface="Calibri"/>
                <a:sym typeface="Calibri"/>
              </a:rPr>
              <a:t>Client </a:t>
            </a:r>
            <a:endParaRPr sz="2800" b="1" i="0" u="none" strike="noStrike" cap="none">
              <a:solidFill>
                <a:srgbClr val="000000"/>
              </a:solidFill>
              <a:latin typeface="Arial"/>
              <a:ea typeface="Arial"/>
              <a:cs typeface="Arial"/>
              <a:sym typeface="Arial"/>
            </a:endParaRPr>
          </a:p>
        </p:txBody>
      </p:sp>
      <p:sp>
        <p:nvSpPr>
          <p:cNvPr id="234" name="Google Shape;234;p64"/>
          <p:cNvSpPr txBox="1"/>
          <p:nvPr/>
        </p:nvSpPr>
        <p:spPr>
          <a:xfrm>
            <a:off x="8720959" y="3260506"/>
            <a:ext cx="126124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000000"/>
                </a:solidFill>
                <a:latin typeface="Calibri"/>
                <a:ea typeface="Calibri"/>
                <a:cs typeface="Calibri"/>
                <a:sym typeface="Calibri"/>
              </a:rPr>
              <a:t>Server </a:t>
            </a:r>
            <a:endParaRPr sz="2800" b="1" i="0" u="none" strike="noStrike" cap="none" dirty="0">
              <a:solidFill>
                <a:srgbClr val="000000"/>
              </a:solidFill>
              <a:latin typeface="Arial"/>
              <a:ea typeface="Arial"/>
              <a:cs typeface="Arial"/>
              <a:sym typeface="Arial"/>
            </a:endParaRPr>
          </a:p>
        </p:txBody>
      </p:sp>
      <p:sp>
        <p:nvSpPr>
          <p:cNvPr id="235" name="Google Shape;235;p64"/>
          <p:cNvSpPr txBox="1"/>
          <p:nvPr/>
        </p:nvSpPr>
        <p:spPr>
          <a:xfrm>
            <a:off x="4080647" y="3871294"/>
            <a:ext cx="4529953" cy="8771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dirty="0">
                <a:solidFill>
                  <a:srgbClr val="000000"/>
                </a:solidFill>
                <a:latin typeface="Calibri"/>
                <a:ea typeface="Calibri"/>
                <a:cs typeface="Calibri"/>
                <a:sym typeface="Calibri"/>
              </a:rPr>
              <a:t>HTTP/1.1 401 Unauthorized </a:t>
            </a:r>
            <a:endParaRPr sz="23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300"/>
              <a:buFont typeface="Arial"/>
              <a:buNone/>
            </a:pPr>
            <a:r>
              <a:rPr lang="en-US" sz="2300" b="0" i="0" u="none" strike="noStrike" cap="none" dirty="0">
                <a:solidFill>
                  <a:srgbClr val="000000"/>
                </a:solidFill>
                <a:latin typeface="Calibri"/>
                <a:ea typeface="Calibri"/>
                <a:cs typeface="Calibri"/>
                <a:sym typeface="Calibri"/>
              </a:rPr>
              <a:t>Set-Cookie: xxx… </a:t>
            </a:r>
            <a:r>
              <a:rPr lang="en-US" sz="2800" b="0" i="0" u="none" strike="noStrike" cap="none" dirty="0">
                <a:solidFill>
                  <a:srgbClr val="000000"/>
                </a:solidFill>
                <a:latin typeface="Calibri"/>
                <a:ea typeface="Calibri"/>
                <a:cs typeface="Calibri"/>
                <a:sym typeface="Calibri"/>
              </a:rPr>
              <a:t> </a:t>
            </a:r>
            <a:endParaRPr sz="2800" b="0" i="0" u="none" strike="noStrike" cap="none" dirty="0">
              <a:solidFill>
                <a:srgbClr val="000000"/>
              </a:solidFill>
              <a:latin typeface="Arial"/>
              <a:ea typeface="Arial"/>
              <a:cs typeface="Arial"/>
              <a:sym typeface="Arial"/>
            </a:endParaRPr>
          </a:p>
        </p:txBody>
      </p:sp>
      <p:sp>
        <p:nvSpPr>
          <p:cNvPr id="236" name="Google Shape;236;p64"/>
          <p:cNvSpPr txBox="1"/>
          <p:nvPr/>
        </p:nvSpPr>
        <p:spPr>
          <a:xfrm>
            <a:off x="4104291" y="5465427"/>
            <a:ext cx="5612522"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GET /index.html HTTP/1.1</a:t>
            </a:r>
            <a:br>
              <a:rPr lang="en-US" sz="1800" b="0" i="0" u="none" strike="noStrike" cap="none">
                <a:solidFill>
                  <a:srgbClr val="000000"/>
                </a:solidFill>
                <a:latin typeface="Calibri"/>
                <a:ea typeface="Calibri"/>
                <a:cs typeface="Calibri"/>
                <a:sym typeface="Calibri"/>
              </a:rPr>
            </a:br>
            <a:r>
              <a:rPr lang="en-US" sz="1800" b="0" i="0" u="none" strike="noStrike" cap="none">
                <a:solidFill>
                  <a:srgbClr val="000000"/>
                </a:solidFill>
                <a:latin typeface="Calibri"/>
                <a:ea typeface="Calibri"/>
                <a:cs typeface="Calibri"/>
                <a:sym typeface="Calibri"/>
              </a:rPr>
              <a:t>Cookie: xxx…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Host: www.</a:t>
            </a:r>
            <a:r>
              <a:rPr lang="en-US" sz="1400" b="0" i="0" u="none" strike="noStrike" cap="none">
                <a:solidFill>
                  <a:srgbClr val="000000"/>
                </a:solidFill>
                <a:latin typeface="Calibri"/>
                <a:ea typeface="Calibri"/>
                <a:cs typeface="Calibri"/>
                <a:sym typeface="Calibri"/>
              </a:rPr>
              <a:t>fpt</a:t>
            </a:r>
            <a:r>
              <a:rPr lang="en-US" sz="1800" b="0" i="0" u="none" strike="noStrike" cap="none">
                <a:solidFill>
                  <a:srgbClr val="000000"/>
                </a:solidFill>
                <a:latin typeface="Calibri"/>
                <a:ea typeface="Calibri"/>
                <a:cs typeface="Calibri"/>
                <a:sym typeface="Calibri"/>
              </a:rPr>
              <a:t>.edu.vn </a:t>
            </a: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65"/>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05/03/2024</a:t>
            </a:r>
            <a:endParaRPr/>
          </a:p>
        </p:txBody>
      </p:sp>
      <p:sp>
        <p:nvSpPr>
          <p:cNvPr id="242" name="Google Shape;242;p65"/>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sp>
        <p:nvSpPr>
          <p:cNvPr id="243" name="Google Shape;243;p65"/>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Express and Cookies </a:t>
            </a:r>
            <a:endParaRPr/>
          </a:p>
        </p:txBody>
      </p:sp>
      <p:sp>
        <p:nvSpPr>
          <p:cNvPr id="244" name="Google Shape;244;p65"/>
          <p:cNvSpPr txBox="1">
            <a:spLocks noGrp="1"/>
          </p:cNvSpPr>
          <p:nvPr>
            <p:ph type="body" idx="1"/>
          </p:nvPr>
        </p:nvSpPr>
        <p:spPr>
          <a:xfrm>
            <a:off x="838200" y="1195641"/>
            <a:ext cx="10515600" cy="5285057"/>
          </a:xfrm>
          <a:prstGeom prst="rect">
            <a:avLst/>
          </a:prstGeom>
          <a:noFill/>
          <a:ln>
            <a:noFill/>
          </a:ln>
        </p:spPr>
        <p:txBody>
          <a:bodyPr spcFirstLastPara="1" wrap="square" lIns="91425" tIns="45700" rIns="91425" bIns="45700" anchor="t" anchorCtr="0">
            <a:normAutofit fontScale="85000" lnSpcReduction="10000"/>
          </a:bodyPr>
          <a:lstStyle/>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Server can set a cookie as follows in any of the middleware: 	</a:t>
            </a:r>
            <a:r>
              <a:rPr lang="en-US" b="1" dirty="0" err="1">
                <a:solidFill>
                  <a:schemeClr val="tx1"/>
                </a:solidFill>
              </a:rPr>
              <a:t>res.cookie</a:t>
            </a:r>
            <a:r>
              <a:rPr lang="en-US" b="1" dirty="0">
                <a:solidFill>
                  <a:schemeClr val="tx1"/>
                </a:solidFill>
              </a:rPr>
              <a:t>(</a:t>
            </a:r>
            <a:r>
              <a:rPr lang="en-US" b="1" dirty="0" err="1">
                <a:solidFill>
                  <a:schemeClr val="tx1"/>
                </a:solidFill>
              </a:rPr>
              <a:t>name,value,options</a:t>
            </a:r>
            <a:r>
              <a:rPr lang="en-US" b="1" dirty="0">
                <a:solidFill>
                  <a:schemeClr val="tx1"/>
                </a:solidFill>
              </a:rPr>
              <a:t>)</a:t>
            </a:r>
            <a:r>
              <a:rPr lang="en-US" dirty="0">
                <a:solidFill>
                  <a:schemeClr val="tx1"/>
                </a:solidFill>
              </a:rPr>
              <a:t> </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Cookies are parsed in Express server using the cookie-parser middleware </a:t>
            </a:r>
            <a:endParaRPr dirty="0">
              <a:solidFill>
                <a:schemeClr val="tx1"/>
              </a:solidFill>
            </a:endParaRPr>
          </a:p>
          <a:p>
            <a:pPr marL="0" lvl="0" indent="0" algn="l" rtl="0">
              <a:lnSpc>
                <a:spcPct val="150000"/>
              </a:lnSpc>
              <a:spcBef>
                <a:spcPts val="1000"/>
              </a:spcBef>
              <a:spcAft>
                <a:spcPts val="0"/>
              </a:spcAft>
              <a:buSzPts val="1800"/>
              <a:buNone/>
            </a:pPr>
            <a:r>
              <a:rPr lang="en-US" dirty="0">
                <a:solidFill>
                  <a:schemeClr val="tx1"/>
                </a:solidFill>
              </a:rPr>
              <a:t>	</a:t>
            </a:r>
            <a:r>
              <a:rPr lang="en-US" b="1" dirty="0">
                <a:solidFill>
                  <a:schemeClr val="tx1"/>
                </a:solidFill>
              </a:rPr>
              <a:t>var </a:t>
            </a:r>
            <a:r>
              <a:rPr lang="en-US" b="1" dirty="0" err="1">
                <a:solidFill>
                  <a:schemeClr val="tx1"/>
                </a:solidFill>
              </a:rPr>
              <a:t>cookieParser</a:t>
            </a:r>
            <a:r>
              <a:rPr lang="en-US" b="1" dirty="0">
                <a:solidFill>
                  <a:schemeClr val="tx1"/>
                </a:solidFill>
              </a:rPr>
              <a:t> = require(‘cookie-parser’); </a:t>
            </a:r>
            <a:endParaRPr dirty="0">
              <a:solidFill>
                <a:schemeClr val="tx1"/>
              </a:solidFill>
            </a:endParaRPr>
          </a:p>
          <a:p>
            <a:pPr marL="0" lvl="0" indent="0" algn="l" rtl="0">
              <a:lnSpc>
                <a:spcPct val="150000"/>
              </a:lnSpc>
              <a:spcBef>
                <a:spcPts val="1000"/>
              </a:spcBef>
              <a:spcAft>
                <a:spcPts val="0"/>
              </a:spcAft>
              <a:buSzPts val="1800"/>
              <a:buNone/>
            </a:pPr>
            <a:r>
              <a:rPr lang="en-US" b="1" dirty="0">
                <a:solidFill>
                  <a:schemeClr val="tx1"/>
                </a:solidFill>
              </a:rPr>
              <a:t>	</a:t>
            </a:r>
            <a:r>
              <a:rPr lang="en-US" b="1" dirty="0" err="1">
                <a:solidFill>
                  <a:schemeClr val="tx1"/>
                </a:solidFill>
              </a:rPr>
              <a:t>app.use</a:t>
            </a:r>
            <a:r>
              <a:rPr lang="en-US" b="1" dirty="0">
                <a:solidFill>
                  <a:schemeClr val="tx1"/>
                </a:solidFill>
              </a:rPr>
              <a:t>(</a:t>
            </a:r>
            <a:r>
              <a:rPr lang="en-US" b="1" dirty="0" err="1">
                <a:solidFill>
                  <a:schemeClr val="tx1"/>
                </a:solidFill>
              </a:rPr>
              <a:t>cookieParser</a:t>
            </a:r>
            <a:r>
              <a:rPr lang="en-US" b="1" dirty="0">
                <a:solidFill>
                  <a:schemeClr val="tx1"/>
                </a:solidFill>
              </a:rPr>
              <a:t>()); </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Cookie-parser parses incoming cookies and attaches them to request </a:t>
            </a:r>
            <a:endParaRPr dirty="0">
              <a:solidFill>
                <a:schemeClr val="tx1"/>
              </a:solidFill>
            </a:endParaRPr>
          </a:p>
          <a:p>
            <a:pPr marL="0" lvl="0" indent="0" algn="l" rtl="0">
              <a:lnSpc>
                <a:spcPct val="150000"/>
              </a:lnSpc>
              <a:spcBef>
                <a:spcPts val="1000"/>
              </a:spcBef>
              <a:spcAft>
                <a:spcPts val="0"/>
              </a:spcAft>
              <a:buSzPts val="1800"/>
              <a:buNone/>
            </a:pPr>
            <a:r>
              <a:rPr lang="en-US" dirty="0">
                <a:solidFill>
                  <a:schemeClr val="tx1"/>
                </a:solidFill>
              </a:rPr>
              <a:t>	</a:t>
            </a:r>
            <a:r>
              <a:rPr lang="en-US" b="1" dirty="0" err="1">
                <a:solidFill>
                  <a:schemeClr val="tx1"/>
                </a:solidFill>
              </a:rPr>
              <a:t>req.cookies.name</a:t>
            </a:r>
            <a:r>
              <a:rPr lang="en-US" b="1" dirty="0">
                <a:solidFill>
                  <a:schemeClr val="tx1"/>
                </a:solidFill>
              </a:rPr>
              <a:t> </a:t>
            </a:r>
            <a:endParaRPr dirty="0">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71"/>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05/03/2024</a:t>
            </a:r>
            <a:endParaRPr/>
          </a:p>
        </p:txBody>
      </p:sp>
      <p:sp>
        <p:nvSpPr>
          <p:cNvPr id="258" name="Google Shape;258;p71"/>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sp>
        <p:nvSpPr>
          <p:cNvPr id="259" name="Google Shape;259;p71"/>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Using cookie-parser </a:t>
            </a:r>
            <a:endParaRPr/>
          </a:p>
        </p:txBody>
      </p:sp>
      <p:sp>
        <p:nvSpPr>
          <p:cNvPr id="260" name="Google Shape;260;p71"/>
          <p:cNvSpPr txBox="1">
            <a:spLocks noGrp="1"/>
          </p:cNvSpPr>
          <p:nvPr>
            <p:ph type="body" idx="1"/>
          </p:nvPr>
        </p:nvSpPr>
        <p:spPr>
          <a:xfrm>
            <a:off x="838200" y="1195642"/>
            <a:ext cx="10515600" cy="4351338"/>
          </a:xfrm>
          <a:prstGeom prst="rect">
            <a:avLst/>
          </a:prstGeom>
          <a:noFill/>
          <a:ln>
            <a:noFill/>
          </a:ln>
        </p:spPr>
        <p:txBody>
          <a:bodyPr spcFirstLastPara="1" wrap="square" lIns="91425" tIns="45700" rIns="91425" bIns="45700" anchor="t" anchorCtr="0">
            <a:normAutofit/>
          </a:bodyPr>
          <a:lstStyle/>
          <a:p>
            <a:pPr marL="457200" lvl="0" indent="-342900" algn="just" rtl="0">
              <a:lnSpc>
                <a:spcPct val="150000"/>
              </a:lnSpc>
              <a:spcBef>
                <a:spcPts val="1000"/>
              </a:spcBef>
              <a:spcAft>
                <a:spcPts val="0"/>
              </a:spcAft>
              <a:buSzPts val="1800"/>
              <a:buChar char="•"/>
            </a:pPr>
            <a:r>
              <a:rPr lang="en-US" dirty="0">
                <a:solidFill>
                  <a:schemeClr val="tx1"/>
                </a:solidFill>
              </a:rPr>
              <a:t>The </a:t>
            </a:r>
            <a:r>
              <a:rPr lang="en-US" b="1" dirty="0">
                <a:solidFill>
                  <a:schemeClr val="tx1"/>
                </a:solidFill>
              </a:rPr>
              <a:t>cookie-parser</a:t>
            </a:r>
            <a:r>
              <a:rPr lang="en-US" dirty="0">
                <a:solidFill>
                  <a:schemeClr val="tx1"/>
                </a:solidFill>
              </a:rPr>
              <a:t> Express middleware is already included in the Express REST API application. </a:t>
            </a:r>
            <a:endParaRPr dirty="0">
              <a:solidFill>
                <a:schemeClr val="tx1"/>
              </a:solidFill>
            </a:endParaRPr>
          </a:p>
          <a:p>
            <a:pPr marL="457200" lvl="0" indent="-342900" algn="just" rtl="0">
              <a:lnSpc>
                <a:spcPct val="150000"/>
              </a:lnSpc>
              <a:spcBef>
                <a:spcPts val="1000"/>
              </a:spcBef>
              <a:spcAft>
                <a:spcPts val="0"/>
              </a:spcAft>
              <a:buSzPts val="1800"/>
              <a:buChar char="•"/>
            </a:pPr>
            <a:r>
              <a:rPr lang="en-US" dirty="0">
                <a:solidFill>
                  <a:schemeClr val="tx1"/>
                </a:solidFill>
              </a:rPr>
              <a:t>If you need to add Cookie parser middleware then you can install the NPM module as follows: </a:t>
            </a:r>
            <a:endParaRPr dirty="0">
              <a:solidFill>
                <a:schemeClr val="tx1"/>
              </a:solidFill>
            </a:endParaRPr>
          </a:p>
        </p:txBody>
      </p:sp>
      <p:sp>
        <p:nvSpPr>
          <p:cNvPr id="261" name="Google Shape;261;p71"/>
          <p:cNvSpPr txBox="1"/>
          <p:nvPr/>
        </p:nvSpPr>
        <p:spPr>
          <a:xfrm>
            <a:off x="1227258" y="4150867"/>
            <a:ext cx="8085083"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err="1">
                <a:solidFill>
                  <a:schemeClr val="tx1"/>
                </a:solidFill>
                <a:latin typeface="Arial"/>
                <a:ea typeface="Arial"/>
                <a:cs typeface="Arial"/>
                <a:sym typeface="Arial"/>
              </a:rPr>
              <a:t>npm</a:t>
            </a:r>
            <a:r>
              <a:rPr lang="en-US" sz="2800" b="1" i="0" u="none" strike="noStrike" cap="none" dirty="0">
                <a:solidFill>
                  <a:schemeClr val="tx1"/>
                </a:solidFill>
                <a:latin typeface="Arial"/>
                <a:ea typeface="Arial"/>
                <a:cs typeface="Arial"/>
                <a:sym typeface="Arial"/>
              </a:rPr>
              <a:t> install cookie-parser</a:t>
            </a:r>
            <a:endParaRPr sz="2800" b="1" i="0" u="none" strike="noStrike" cap="none" dirty="0">
              <a:solidFill>
                <a:schemeClr val="tx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8CF74A96-9BBC-BB43-88B4-D96DEDEA2BA4}"/>
            </a:ext>
          </a:extLst>
        </p:cNvPr>
        <p:cNvGrpSpPr/>
        <p:nvPr/>
      </p:nvGrpSpPr>
      <p:grpSpPr>
        <a:xfrm>
          <a:off x="0" y="0"/>
          <a:ext cx="0" cy="0"/>
          <a:chOff x="0" y="0"/>
          <a:chExt cx="0" cy="0"/>
        </a:xfrm>
      </p:grpSpPr>
      <p:sp>
        <p:nvSpPr>
          <p:cNvPr id="406" name="Google Shape;406;p109">
            <a:extLst>
              <a:ext uri="{FF2B5EF4-FFF2-40B4-BE49-F238E27FC236}">
                <a16:creationId xmlns:a16="http://schemas.microsoft.com/office/drawing/2014/main" id="{EC52BA57-6860-125F-3490-596D9773D4BC}"/>
              </a:ext>
            </a:extLst>
          </p:cNvPr>
          <p:cNvSpPr txBox="1">
            <a:spLocks noGrp="1"/>
          </p:cNvSpPr>
          <p:nvPr>
            <p:ph type="ctrTitle"/>
          </p:nvPr>
        </p:nvSpPr>
        <p:spPr>
          <a:xfrm>
            <a:off x="1161393" y="2241458"/>
            <a:ext cx="9869214"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lvl="0">
              <a:buSzPts val="4400"/>
            </a:pPr>
            <a:r>
              <a:rPr lang="en-US" sz="4400" b="1" dirty="0"/>
              <a:t>Database Encryption</a:t>
            </a:r>
            <a:endParaRPr sz="4400" b="1" dirty="0">
              <a:solidFill>
                <a:srgbClr val="002060"/>
              </a:solidFill>
              <a:latin typeface="Arial"/>
              <a:ea typeface="Arial"/>
              <a:cs typeface="Arial"/>
              <a:sym typeface="Arial"/>
            </a:endParaRPr>
          </a:p>
        </p:txBody>
      </p:sp>
    </p:spTree>
    <p:extLst>
      <p:ext uri="{BB962C8B-B14F-4D97-AF65-F5344CB8AC3E}">
        <p14:creationId xmlns:p14="http://schemas.microsoft.com/office/powerpoint/2010/main" val="930973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9428F54D-2290-8A95-B714-930F4660DFA3}"/>
            </a:ext>
          </a:extLst>
        </p:cNvPr>
        <p:cNvGrpSpPr/>
        <p:nvPr/>
      </p:nvGrpSpPr>
      <p:grpSpPr>
        <a:xfrm>
          <a:off x="0" y="0"/>
          <a:ext cx="0" cy="0"/>
          <a:chOff x="0" y="0"/>
          <a:chExt cx="0" cy="0"/>
        </a:xfrm>
      </p:grpSpPr>
      <p:sp>
        <p:nvSpPr>
          <p:cNvPr id="127" name="Google Shape;127;p89">
            <a:extLst>
              <a:ext uri="{FF2B5EF4-FFF2-40B4-BE49-F238E27FC236}">
                <a16:creationId xmlns:a16="http://schemas.microsoft.com/office/drawing/2014/main" id="{AE7B0D91-193A-C731-3573-47886449F817}"/>
              </a:ext>
            </a:extLst>
          </p:cNvPr>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dirty="0"/>
              <a:t>Why Do I Need Database Encryption?</a:t>
            </a:r>
            <a:endParaRPr dirty="0"/>
          </a:p>
        </p:txBody>
      </p:sp>
      <p:sp>
        <p:nvSpPr>
          <p:cNvPr id="128" name="Google Shape;128;p89">
            <a:extLst>
              <a:ext uri="{FF2B5EF4-FFF2-40B4-BE49-F238E27FC236}">
                <a16:creationId xmlns:a16="http://schemas.microsoft.com/office/drawing/2014/main" id="{7ACCFD21-F00E-7D9D-AFBA-ECC3937A34E7}"/>
              </a:ext>
            </a:extLst>
          </p:cNvPr>
          <p:cNvSpPr txBox="1">
            <a:spLocks noGrp="1"/>
          </p:cNvSpPr>
          <p:nvPr>
            <p:ph type="body" idx="1"/>
          </p:nvPr>
        </p:nvSpPr>
        <p:spPr>
          <a:xfrm>
            <a:off x="838200" y="1195642"/>
            <a:ext cx="10515600" cy="4944889"/>
          </a:xfrm>
          <a:prstGeom prst="rect">
            <a:avLst/>
          </a:prstGeom>
          <a:noFill/>
          <a:ln>
            <a:noFill/>
          </a:ln>
        </p:spPr>
        <p:txBody>
          <a:bodyPr spcFirstLastPara="1" wrap="square" lIns="91425" tIns="45700" rIns="91425" bIns="45700" anchor="t" anchorCtr="0">
            <a:normAutofit fontScale="77500" lnSpcReduction="20000"/>
          </a:bodyPr>
          <a:lstStyle/>
          <a:p>
            <a:pPr>
              <a:lnSpc>
                <a:spcPct val="170000"/>
              </a:lnSpc>
            </a:pPr>
            <a:r>
              <a:rPr lang="en-GB" dirty="0">
                <a:solidFill>
                  <a:schemeClr val="tx1"/>
                </a:solidFill>
              </a:rPr>
              <a:t>Database encryption uses an algorithm and an encryption key to transform readable data, known as plaintext, into unreadable data called ciphertext. An authorized user can recover the original data using the appropriate decryption key.</a:t>
            </a:r>
          </a:p>
          <a:p>
            <a:pPr>
              <a:lnSpc>
                <a:spcPct val="170000"/>
              </a:lnSpc>
            </a:pPr>
            <a:r>
              <a:rPr lang="en-GB" dirty="0">
                <a:solidFill>
                  <a:schemeClr val="tx1"/>
                </a:solidFill>
              </a:rPr>
              <a:t>Encryption helps protect sensitive information, particularly in industries such as finance, healthcare, and e-commerce. Cyberattacks, data theft, and data breaches have increased public concern about privacy. People expect organizations to keep their personal information secure and use it only for its intended purposes.</a:t>
            </a:r>
          </a:p>
        </p:txBody>
      </p:sp>
      <p:sp>
        <p:nvSpPr>
          <p:cNvPr id="129" name="Google Shape;129;p89">
            <a:extLst>
              <a:ext uri="{FF2B5EF4-FFF2-40B4-BE49-F238E27FC236}">
                <a16:creationId xmlns:a16="http://schemas.microsoft.com/office/drawing/2014/main" id="{17704339-8411-C0A2-69F4-F258E19BEA25}"/>
              </a:ext>
            </a:extLst>
          </p:cNvPr>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spTree>
    <p:extLst>
      <p:ext uri="{BB962C8B-B14F-4D97-AF65-F5344CB8AC3E}">
        <p14:creationId xmlns:p14="http://schemas.microsoft.com/office/powerpoint/2010/main" val="3979139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90"/>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Advantages of database encryption</a:t>
            </a:r>
            <a:endParaRPr/>
          </a:p>
        </p:txBody>
      </p:sp>
      <p:sp>
        <p:nvSpPr>
          <p:cNvPr id="135" name="Google Shape;135;p90"/>
          <p:cNvSpPr txBox="1">
            <a:spLocks noGrp="1"/>
          </p:cNvSpPr>
          <p:nvPr>
            <p:ph type="body" idx="1"/>
          </p:nvPr>
        </p:nvSpPr>
        <p:spPr>
          <a:xfrm>
            <a:off x="838200" y="1253331"/>
            <a:ext cx="105156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Avoid Security Attacks</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Compliance with Security Regulations</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Protecting Sensitive Data</a:t>
            </a:r>
            <a:endParaRPr dirty="0">
              <a:solidFill>
                <a:schemeClr val="tx1"/>
              </a:solidFill>
            </a:endParaRPr>
          </a:p>
        </p:txBody>
      </p:sp>
      <p:sp>
        <p:nvSpPr>
          <p:cNvPr id="136" name="Google Shape;136;p90"/>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C98DF4AB-284C-59A0-CC52-8F294B75CD33}"/>
            </a:ext>
          </a:extLst>
        </p:cNvPr>
        <p:cNvGrpSpPr/>
        <p:nvPr/>
      </p:nvGrpSpPr>
      <p:grpSpPr>
        <a:xfrm>
          <a:off x="0" y="0"/>
          <a:ext cx="0" cy="0"/>
          <a:chOff x="0" y="0"/>
          <a:chExt cx="0" cy="0"/>
        </a:xfrm>
      </p:grpSpPr>
      <p:sp>
        <p:nvSpPr>
          <p:cNvPr id="134" name="Google Shape;134;p90">
            <a:extLst>
              <a:ext uri="{FF2B5EF4-FFF2-40B4-BE49-F238E27FC236}">
                <a16:creationId xmlns:a16="http://schemas.microsoft.com/office/drawing/2014/main" id="{6E199510-7821-7E71-95C2-8B6DEDC14072}"/>
              </a:ext>
            </a:extLst>
          </p:cNvPr>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dirty="0" err="1"/>
              <a:t>Bcrypt</a:t>
            </a:r>
            <a:endParaRPr dirty="0"/>
          </a:p>
        </p:txBody>
      </p:sp>
      <p:sp>
        <p:nvSpPr>
          <p:cNvPr id="135" name="Google Shape;135;p90">
            <a:extLst>
              <a:ext uri="{FF2B5EF4-FFF2-40B4-BE49-F238E27FC236}">
                <a16:creationId xmlns:a16="http://schemas.microsoft.com/office/drawing/2014/main" id="{ADE6024D-CFEE-8436-D0ED-232CFBE88DBF}"/>
              </a:ext>
            </a:extLst>
          </p:cNvPr>
          <p:cNvSpPr txBox="1">
            <a:spLocks noGrp="1"/>
          </p:cNvSpPr>
          <p:nvPr>
            <p:ph type="body" idx="1"/>
          </p:nvPr>
        </p:nvSpPr>
        <p:spPr>
          <a:xfrm>
            <a:off x="838200" y="1132500"/>
            <a:ext cx="10515600" cy="5227369"/>
          </a:xfrm>
          <a:prstGeom prst="rect">
            <a:avLst/>
          </a:prstGeom>
          <a:noFill/>
          <a:ln>
            <a:noFill/>
          </a:ln>
        </p:spPr>
        <p:txBody>
          <a:bodyPr spcFirstLastPara="1" wrap="square" lIns="91425" tIns="45700" rIns="91425" bIns="45700" anchor="t" anchorCtr="0">
            <a:normAutofit fontScale="92500" lnSpcReduction="10000"/>
          </a:bodyPr>
          <a:lstStyle/>
          <a:p>
            <a:pPr>
              <a:lnSpc>
                <a:spcPct val="150000"/>
              </a:lnSpc>
            </a:pPr>
            <a:r>
              <a:rPr lang="en-GB" b="1" dirty="0" err="1">
                <a:solidFill>
                  <a:schemeClr val="tx1"/>
                </a:solidFill>
              </a:rPr>
              <a:t>bcrypt</a:t>
            </a:r>
            <a:r>
              <a:rPr lang="en-GB" dirty="0">
                <a:solidFill>
                  <a:schemeClr val="tx1"/>
                </a:solidFill>
              </a:rPr>
              <a:t> is a password-hashing algorithm used to protect passwords before storing them in a database.</a:t>
            </a:r>
          </a:p>
          <a:p>
            <a:pPr>
              <a:lnSpc>
                <a:spcPct val="150000"/>
              </a:lnSpc>
            </a:pPr>
            <a:r>
              <a:rPr lang="en-GB" dirty="0">
                <a:solidFill>
                  <a:schemeClr val="tx1"/>
                </a:solidFill>
              </a:rPr>
              <a:t>It adds a random </a:t>
            </a:r>
            <a:r>
              <a:rPr lang="en-GB" b="1" dirty="0">
                <a:solidFill>
                  <a:schemeClr val="tx1"/>
                </a:solidFill>
              </a:rPr>
              <a:t>salt</a:t>
            </a:r>
            <a:r>
              <a:rPr lang="en-GB" dirty="0">
                <a:solidFill>
                  <a:schemeClr val="tx1"/>
                </a:solidFill>
              </a:rPr>
              <a:t>, so the same password can produce different hashes.</a:t>
            </a:r>
          </a:p>
          <a:p>
            <a:pPr>
              <a:lnSpc>
                <a:spcPct val="150000"/>
              </a:lnSpc>
            </a:pPr>
            <a:r>
              <a:rPr lang="en-GB" dirty="0">
                <a:solidFill>
                  <a:schemeClr val="tx1"/>
                </a:solidFill>
              </a:rPr>
              <a:t>Hashing is </a:t>
            </a:r>
            <a:r>
              <a:rPr lang="en-GB" b="1" dirty="0">
                <a:solidFill>
                  <a:schemeClr val="tx1"/>
                </a:solidFill>
              </a:rPr>
              <a:t>one-way</a:t>
            </a:r>
            <a:r>
              <a:rPr lang="en-GB" dirty="0">
                <a:solidFill>
                  <a:schemeClr val="tx1"/>
                </a:solidFill>
              </a:rPr>
              <a:t>: hashes cannot be decrypted to recover the original password.</a:t>
            </a:r>
          </a:p>
          <a:p>
            <a:pPr>
              <a:lnSpc>
                <a:spcPct val="150000"/>
              </a:lnSpc>
            </a:pPr>
            <a:r>
              <a:rPr lang="en-GB" dirty="0">
                <a:solidFill>
                  <a:schemeClr val="tx1"/>
                </a:solidFill>
              </a:rPr>
              <a:t>During login, </a:t>
            </a:r>
            <a:r>
              <a:rPr lang="en-GB" dirty="0" err="1">
                <a:solidFill>
                  <a:schemeClr val="tx1"/>
                </a:solidFill>
              </a:rPr>
              <a:t>bcrypt.compare</a:t>
            </a:r>
            <a:r>
              <a:rPr lang="en-GB" dirty="0">
                <a:solidFill>
                  <a:schemeClr val="tx1"/>
                </a:solidFill>
              </a:rPr>
              <a:t>() checks whether the entered password matches the stored hash.</a:t>
            </a:r>
          </a:p>
        </p:txBody>
      </p:sp>
      <p:sp>
        <p:nvSpPr>
          <p:cNvPr id="136" name="Google Shape;136;p90">
            <a:extLst>
              <a:ext uri="{FF2B5EF4-FFF2-40B4-BE49-F238E27FC236}">
                <a16:creationId xmlns:a16="http://schemas.microsoft.com/office/drawing/2014/main" id="{61773117-7EC5-324D-25BF-BEF3D6A09C40}"/>
              </a:ext>
            </a:extLst>
          </p:cNvPr>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spTree>
    <p:extLst>
      <p:ext uri="{BB962C8B-B14F-4D97-AF65-F5344CB8AC3E}">
        <p14:creationId xmlns:p14="http://schemas.microsoft.com/office/powerpoint/2010/main" val="1550939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226C7E76-BEFE-061B-3ED7-4EC242C2E502}"/>
            </a:ext>
          </a:extLst>
        </p:cNvPr>
        <p:cNvGrpSpPr/>
        <p:nvPr/>
      </p:nvGrpSpPr>
      <p:grpSpPr>
        <a:xfrm>
          <a:off x="0" y="0"/>
          <a:ext cx="0" cy="0"/>
          <a:chOff x="0" y="0"/>
          <a:chExt cx="0" cy="0"/>
        </a:xfrm>
      </p:grpSpPr>
      <p:sp>
        <p:nvSpPr>
          <p:cNvPr id="134" name="Google Shape;134;p90">
            <a:extLst>
              <a:ext uri="{FF2B5EF4-FFF2-40B4-BE49-F238E27FC236}">
                <a16:creationId xmlns:a16="http://schemas.microsoft.com/office/drawing/2014/main" id="{BD6CFCC5-12C4-0FB9-4875-3F79A6EEAA28}"/>
              </a:ext>
            </a:extLst>
          </p:cNvPr>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dirty="0" err="1"/>
              <a:t>Bcrypt</a:t>
            </a:r>
            <a:endParaRPr dirty="0"/>
          </a:p>
        </p:txBody>
      </p:sp>
      <p:sp>
        <p:nvSpPr>
          <p:cNvPr id="135" name="Google Shape;135;p90">
            <a:extLst>
              <a:ext uri="{FF2B5EF4-FFF2-40B4-BE49-F238E27FC236}">
                <a16:creationId xmlns:a16="http://schemas.microsoft.com/office/drawing/2014/main" id="{6F04495D-627D-D15C-3655-7D15E48ABA11}"/>
              </a:ext>
            </a:extLst>
          </p:cNvPr>
          <p:cNvSpPr txBox="1">
            <a:spLocks noGrp="1"/>
          </p:cNvSpPr>
          <p:nvPr>
            <p:ph type="body" idx="1"/>
          </p:nvPr>
        </p:nvSpPr>
        <p:spPr>
          <a:xfrm>
            <a:off x="838200" y="1132500"/>
            <a:ext cx="10515600" cy="5227369"/>
          </a:xfrm>
          <a:prstGeom prst="rect">
            <a:avLst/>
          </a:prstGeom>
          <a:noFill/>
          <a:ln>
            <a:noFill/>
          </a:ln>
        </p:spPr>
        <p:txBody>
          <a:bodyPr spcFirstLastPara="1" wrap="square" lIns="91425" tIns="45700" rIns="91425" bIns="45700" anchor="t" anchorCtr="0">
            <a:normAutofit/>
          </a:bodyPr>
          <a:lstStyle/>
          <a:p>
            <a:pPr>
              <a:lnSpc>
                <a:spcPct val="150000"/>
              </a:lnSpc>
            </a:pPr>
            <a:r>
              <a:rPr lang="en-GB" dirty="0" err="1">
                <a:solidFill>
                  <a:schemeClr val="tx1"/>
                </a:solidFill>
              </a:rPr>
              <a:t>npm</a:t>
            </a:r>
            <a:r>
              <a:rPr lang="en-GB" dirty="0">
                <a:solidFill>
                  <a:schemeClr val="tx1"/>
                </a:solidFill>
              </a:rPr>
              <a:t> </a:t>
            </a:r>
            <a:r>
              <a:rPr lang="en-GB" dirty="0" err="1">
                <a:solidFill>
                  <a:schemeClr val="tx1"/>
                </a:solidFill>
              </a:rPr>
              <a:t>i</a:t>
            </a:r>
            <a:r>
              <a:rPr lang="en-GB" dirty="0">
                <a:solidFill>
                  <a:schemeClr val="tx1"/>
                </a:solidFill>
              </a:rPr>
              <a:t> </a:t>
            </a:r>
            <a:r>
              <a:rPr lang="en-GB" dirty="0" err="1">
                <a:solidFill>
                  <a:schemeClr val="tx1"/>
                </a:solidFill>
              </a:rPr>
              <a:t>bcrypt</a:t>
            </a:r>
            <a:endParaRPr lang="en-GB" dirty="0">
              <a:solidFill>
                <a:schemeClr val="tx1"/>
              </a:solidFill>
            </a:endParaRPr>
          </a:p>
        </p:txBody>
      </p:sp>
      <p:sp>
        <p:nvSpPr>
          <p:cNvPr id="136" name="Google Shape;136;p90">
            <a:extLst>
              <a:ext uri="{FF2B5EF4-FFF2-40B4-BE49-F238E27FC236}">
                <a16:creationId xmlns:a16="http://schemas.microsoft.com/office/drawing/2014/main" id="{F69C47D1-5B81-6E62-B026-A4CC1AC62773}"/>
              </a:ext>
            </a:extLst>
          </p:cNvPr>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31</a:t>
            </a:fld>
            <a:endParaRPr/>
          </a:p>
        </p:txBody>
      </p:sp>
    </p:spTree>
    <p:extLst>
      <p:ext uri="{BB962C8B-B14F-4D97-AF65-F5344CB8AC3E}">
        <p14:creationId xmlns:p14="http://schemas.microsoft.com/office/powerpoint/2010/main" val="41178584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2F39C217-1E9A-0CEC-07B6-2E39D3335BB3}"/>
            </a:ext>
          </a:extLst>
        </p:cNvPr>
        <p:cNvGrpSpPr/>
        <p:nvPr/>
      </p:nvGrpSpPr>
      <p:grpSpPr>
        <a:xfrm>
          <a:off x="0" y="0"/>
          <a:ext cx="0" cy="0"/>
          <a:chOff x="0" y="0"/>
          <a:chExt cx="0" cy="0"/>
        </a:xfrm>
      </p:grpSpPr>
      <p:sp>
        <p:nvSpPr>
          <p:cNvPr id="134" name="Google Shape;134;p90">
            <a:extLst>
              <a:ext uri="{FF2B5EF4-FFF2-40B4-BE49-F238E27FC236}">
                <a16:creationId xmlns:a16="http://schemas.microsoft.com/office/drawing/2014/main" id="{DF29AFCC-258F-F23A-EB62-EC212A7BD3B7}"/>
              </a:ext>
            </a:extLst>
          </p:cNvPr>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dirty="0" err="1"/>
              <a:t>Bcrypt</a:t>
            </a:r>
            <a:endParaRPr dirty="0"/>
          </a:p>
        </p:txBody>
      </p:sp>
      <p:sp>
        <p:nvSpPr>
          <p:cNvPr id="136" name="Google Shape;136;p90">
            <a:extLst>
              <a:ext uri="{FF2B5EF4-FFF2-40B4-BE49-F238E27FC236}">
                <a16:creationId xmlns:a16="http://schemas.microsoft.com/office/drawing/2014/main" id="{F00EEE78-28FE-2DF9-126B-3309B340B90D}"/>
              </a:ext>
            </a:extLst>
          </p:cNvPr>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32</a:t>
            </a:fld>
            <a:endParaRPr/>
          </a:p>
        </p:txBody>
      </p:sp>
      <p:pic>
        <p:nvPicPr>
          <p:cNvPr id="2" name="Picture 1">
            <a:extLst>
              <a:ext uri="{FF2B5EF4-FFF2-40B4-BE49-F238E27FC236}">
                <a16:creationId xmlns:a16="http://schemas.microsoft.com/office/drawing/2014/main" id="{6C0B1017-20E1-9A45-C166-41B781E0FCB7}"/>
              </a:ext>
            </a:extLst>
          </p:cNvPr>
          <p:cNvPicPr>
            <a:picLocks noChangeAspect="1"/>
          </p:cNvPicPr>
          <p:nvPr/>
        </p:nvPicPr>
        <p:blipFill>
          <a:blip r:embed="rId3"/>
          <a:stretch>
            <a:fillRect/>
          </a:stretch>
        </p:blipFill>
        <p:spPr>
          <a:xfrm>
            <a:off x="1664650" y="1713843"/>
            <a:ext cx="8862700" cy="2155792"/>
          </a:xfrm>
          <a:prstGeom prst="rect">
            <a:avLst/>
          </a:prstGeom>
        </p:spPr>
      </p:pic>
    </p:spTree>
    <p:extLst>
      <p:ext uri="{BB962C8B-B14F-4D97-AF65-F5344CB8AC3E}">
        <p14:creationId xmlns:p14="http://schemas.microsoft.com/office/powerpoint/2010/main" val="4013721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1AC34307-C67E-0096-99BB-9A9D396D3BD6}"/>
            </a:ext>
          </a:extLst>
        </p:cNvPr>
        <p:cNvGrpSpPr/>
        <p:nvPr/>
      </p:nvGrpSpPr>
      <p:grpSpPr>
        <a:xfrm>
          <a:off x="0" y="0"/>
          <a:ext cx="0" cy="0"/>
          <a:chOff x="0" y="0"/>
          <a:chExt cx="0" cy="0"/>
        </a:xfrm>
      </p:grpSpPr>
      <p:sp>
        <p:nvSpPr>
          <p:cNvPr id="134" name="Google Shape;134;p90">
            <a:extLst>
              <a:ext uri="{FF2B5EF4-FFF2-40B4-BE49-F238E27FC236}">
                <a16:creationId xmlns:a16="http://schemas.microsoft.com/office/drawing/2014/main" id="{06D10BF5-72BD-7AA6-5315-F0346FE4FB9C}"/>
              </a:ext>
            </a:extLst>
          </p:cNvPr>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dirty="0" err="1"/>
              <a:t>Bcrypt</a:t>
            </a:r>
            <a:endParaRPr dirty="0"/>
          </a:p>
        </p:txBody>
      </p:sp>
      <p:sp>
        <p:nvSpPr>
          <p:cNvPr id="136" name="Google Shape;136;p90">
            <a:extLst>
              <a:ext uri="{FF2B5EF4-FFF2-40B4-BE49-F238E27FC236}">
                <a16:creationId xmlns:a16="http://schemas.microsoft.com/office/drawing/2014/main" id="{DC078B8B-DDFC-6505-4650-2E49451B0AF1}"/>
              </a:ext>
            </a:extLst>
          </p:cNvPr>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33</a:t>
            </a:fld>
            <a:endParaRPr/>
          </a:p>
        </p:txBody>
      </p:sp>
      <p:graphicFrame>
        <p:nvGraphicFramePr>
          <p:cNvPr id="3" name="Table 2">
            <a:extLst>
              <a:ext uri="{FF2B5EF4-FFF2-40B4-BE49-F238E27FC236}">
                <a16:creationId xmlns:a16="http://schemas.microsoft.com/office/drawing/2014/main" id="{154B8A25-7703-24FB-D210-D690E95531E4}"/>
              </a:ext>
            </a:extLst>
          </p:cNvPr>
          <p:cNvGraphicFramePr>
            <a:graphicFrameLocks noGrp="1"/>
          </p:cNvGraphicFramePr>
          <p:nvPr>
            <p:extLst>
              <p:ext uri="{D42A27DB-BD31-4B8C-83A1-F6EECF244321}">
                <p14:modId xmlns:p14="http://schemas.microsoft.com/office/powerpoint/2010/main" val="1558921999"/>
              </p:ext>
            </p:extLst>
          </p:nvPr>
        </p:nvGraphicFramePr>
        <p:xfrm>
          <a:off x="838200" y="1373772"/>
          <a:ext cx="10515600" cy="2671765"/>
        </p:xfrm>
        <a:graphic>
          <a:graphicData uri="http://schemas.openxmlformats.org/drawingml/2006/table">
            <a:tbl>
              <a:tblPr>
                <a:tableStyleId>{3C2FFA5D-87B4-456A-9821-1D502468CF0F}</a:tableStyleId>
              </a:tblPr>
              <a:tblGrid>
                <a:gridCol w="2332512">
                  <a:extLst>
                    <a:ext uri="{9D8B030D-6E8A-4147-A177-3AD203B41FA5}">
                      <a16:colId xmlns:a16="http://schemas.microsoft.com/office/drawing/2014/main" val="1402565923"/>
                    </a:ext>
                  </a:extLst>
                </a:gridCol>
                <a:gridCol w="3942607">
                  <a:extLst>
                    <a:ext uri="{9D8B030D-6E8A-4147-A177-3AD203B41FA5}">
                      <a16:colId xmlns:a16="http://schemas.microsoft.com/office/drawing/2014/main" val="2187822084"/>
                    </a:ext>
                  </a:extLst>
                </a:gridCol>
                <a:gridCol w="4240481">
                  <a:extLst>
                    <a:ext uri="{9D8B030D-6E8A-4147-A177-3AD203B41FA5}">
                      <a16:colId xmlns:a16="http://schemas.microsoft.com/office/drawing/2014/main" val="2521885554"/>
                    </a:ext>
                  </a:extLst>
                </a:gridCol>
              </a:tblGrid>
              <a:tr h="0">
                <a:tc>
                  <a:txBody>
                    <a:bodyPr/>
                    <a:lstStyle/>
                    <a:p>
                      <a:pPr>
                        <a:lnSpc>
                          <a:spcPct val="150000"/>
                        </a:lnSpc>
                      </a:pPr>
                      <a:r>
                        <a:rPr lang="en-GB" sz="1800"/>
                        <a:t>Part</a:t>
                      </a:r>
                    </a:p>
                  </a:txBody>
                  <a:tcPr anchor="ctr"/>
                </a:tc>
                <a:tc>
                  <a:txBody>
                    <a:bodyPr/>
                    <a:lstStyle/>
                    <a:p>
                      <a:pPr>
                        <a:lnSpc>
                          <a:spcPct val="150000"/>
                        </a:lnSpc>
                      </a:pPr>
                      <a:r>
                        <a:rPr lang="en-GB" sz="1800"/>
                        <a:t>Value</a:t>
                      </a:r>
                    </a:p>
                  </a:txBody>
                  <a:tcPr anchor="ctr"/>
                </a:tc>
                <a:tc>
                  <a:txBody>
                    <a:bodyPr/>
                    <a:lstStyle/>
                    <a:p>
                      <a:pPr>
                        <a:lnSpc>
                          <a:spcPct val="150000"/>
                        </a:lnSpc>
                      </a:pPr>
                      <a:r>
                        <a:rPr lang="en-GB" sz="1800"/>
                        <a:t>Meaning</a:t>
                      </a:r>
                    </a:p>
                  </a:txBody>
                  <a:tcPr anchor="ctr"/>
                </a:tc>
                <a:extLst>
                  <a:ext uri="{0D108BD9-81ED-4DB2-BD59-A6C34878D82A}">
                    <a16:rowId xmlns:a16="http://schemas.microsoft.com/office/drawing/2014/main" val="566478218"/>
                  </a:ext>
                </a:extLst>
              </a:tr>
              <a:tr h="0">
                <a:tc>
                  <a:txBody>
                    <a:bodyPr/>
                    <a:lstStyle/>
                    <a:p>
                      <a:pPr>
                        <a:lnSpc>
                          <a:spcPct val="150000"/>
                        </a:lnSpc>
                      </a:pPr>
                      <a:r>
                        <a:rPr lang="en-GB" sz="1800" dirty="0"/>
                        <a:t>Version</a:t>
                      </a:r>
                    </a:p>
                  </a:txBody>
                  <a:tcPr anchor="ctr"/>
                </a:tc>
                <a:tc>
                  <a:txBody>
                    <a:bodyPr/>
                    <a:lstStyle/>
                    <a:p>
                      <a:pPr>
                        <a:lnSpc>
                          <a:spcPct val="150000"/>
                        </a:lnSpc>
                      </a:pPr>
                      <a:r>
                        <a:rPr lang="en-GB" sz="1800"/>
                        <a:t>$2b$</a:t>
                      </a:r>
                    </a:p>
                  </a:txBody>
                  <a:tcPr anchor="ctr"/>
                </a:tc>
                <a:tc>
                  <a:txBody>
                    <a:bodyPr/>
                    <a:lstStyle/>
                    <a:p>
                      <a:pPr>
                        <a:lnSpc>
                          <a:spcPct val="150000"/>
                        </a:lnSpc>
                      </a:pPr>
                      <a:r>
                        <a:rPr lang="en-GB" sz="1800"/>
                        <a:t>bcrypt version</a:t>
                      </a:r>
                    </a:p>
                  </a:txBody>
                  <a:tcPr anchor="ctr"/>
                </a:tc>
                <a:extLst>
                  <a:ext uri="{0D108BD9-81ED-4DB2-BD59-A6C34878D82A}">
                    <a16:rowId xmlns:a16="http://schemas.microsoft.com/office/drawing/2014/main" val="689399115"/>
                  </a:ext>
                </a:extLst>
              </a:tr>
              <a:tr h="0">
                <a:tc>
                  <a:txBody>
                    <a:bodyPr/>
                    <a:lstStyle/>
                    <a:p>
                      <a:pPr>
                        <a:lnSpc>
                          <a:spcPct val="150000"/>
                        </a:lnSpc>
                      </a:pPr>
                      <a:r>
                        <a:rPr lang="en-GB" sz="1800"/>
                        <a:t>Cost</a:t>
                      </a:r>
                    </a:p>
                  </a:txBody>
                  <a:tcPr anchor="ctr"/>
                </a:tc>
                <a:tc>
                  <a:txBody>
                    <a:bodyPr/>
                    <a:lstStyle/>
                    <a:p>
                      <a:pPr>
                        <a:lnSpc>
                          <a:spcPct val="150000"/>
                        </a:lnSpc>
                      </a:pPr>
                      <a:r>
                        <a:rPr lang="en-GB" sz="1800" dirty="0"/>
                        <a:t>10$</a:t>
                      </a:r>
                    </a:p>
                  </a:txBody>
                  <a:tcPr anchor="ctr"/>
                </a:tc>
                <a:tc>
                  <a:txBody>
                    <a:bodyPr/>
                    <a:lstStyle/>
                    <a:p>
                      <a:pPr>
                        <a:lnSpc>
                          <a:spcPct val="150000"/>
                        </a:lnSpc>
                      </a:pPr>
                      <a:r>
                        <a:rPr lang="en-GB" sz="1800"/>
                        <a:t>Computational cost factor</a:t>
                      </a:r>
                    </a:p>
                  </a:txBody>
                  <a:tcPr anchor="ctr"/>
                </a:tc>
                <a:extLst>
                  <a:ext uri="{0D108BD9-81ED-4DB2-BD59-A6C34878D82A}">
                    <a16:rowId xmlns:a16="http://schemas.microsoft.com/office/drawing/2014/main" val="2733725803"/>
                  </a:ext>
                </a:extLst>
              </a:tr>
              <a:tr h="0">
                <a:tc>
                  <a:txBody>
                    <a:bodyPr/>
                    <a:lstStyle/>
                    <a:p>
                      <a:pPr>
                        <a:lnSpc>
                          <a:spcPct val="150000"/>
                        </a:lnSpc>
                      </a:pPr>
                      <a:r>
                        <a:rPr lang="en-GB" sz="1800"/>
                        <a:t>Salt</a:t>
                      </a:r>
                    </a:p>
                  </a:txBody>
                  <a:tcPr anchor="ctr"/>
                </a:tc>
                <a:tc>
                  <a:txBody>
                    <a:bodyPr/>
                    <a:lstStyle/>
                    <a:p>
                      <a:pPr>
                        <a:lnSpc>
                          <a:spcPct val="150000"/>
                        </a:lnSpc>
                      </a:pPr>
                      <a:r>
                        <a:rPr lang="en-GB" sz="1800" dirty="0"/>
                        <a:t>N9qo8uLOickgx2ZMRZoMye</a:t>
                      </a:r>
                    </a:p>
                  </a:txBody>
                  <a:tcPr anchor="ctr"/>
                </a:tc>
                <a:tc>
                  <a:txBody>
                    <a:bodyPr/>
                    <a:lstStyle/>
                    <a:p>
                      <a:pPr>
                        <a:lnSpc>
                          <a:spcPct val="150000"/>
                        </a:lnSpc>
                      </a:pPr>
                      <a:r>
                        <a:rPr lang="en-GB" sz="1800"/>
                        <a:t>22 characters representing the salt</a:t>
                      </a:r>
                    </a:p>
                  </a:txBody>
                  <a:tcPr anchor="ctr"/>
                </a:tc>
                <a:extLst>
                  <a:ext uri="{0D108BD9-81ED-4DB2-BD59-A6C34878D82A}">
                    <a16:rowId xmlns:a16="http://schemas.microsoft.com/office/drawing/2014/main" val="1205252280"/>
                  </a:ext>
                </a:extLst>
              </a:tr>
              <a:tr h="0">
                <a:tc>
                  <a:txBody>
                    <a:bodyPr/>
                    <a:lstStyle/>
                    <a:p>
                      <a:pPr>
                        <a:lnSpc>
                          <a:spcPct val="150000"/>
                        </a:lnSpc>
                      </a:pPr>
                      <a:r>
                        <a:rPr lang="en-GB" sz="1800"/>
                        <a:t>Hash result</a:t>
                      </a:r>
                    </a:p>
                  </a:txBody>
                  <a:tcPr anchor="ctr"/>
                </a:tc>
                <a:tc>
                  <a:txBody>
                    <a:bodyPr/>
                    <a:lstStyle/>
                    <a:p>
                      <a:pPr>
                        <a:lnSpc>
                          <a:spcPct val="150000"/>
                        </a:lnSpc>
                      </a:pPr>
                      <a:r>
                        <a:rPr lang="en-GB" sz="1800"/>
                        <a:t>IjZAgcfl7p92ldGxad68LJZdL17lhWy</a:t>
                      </a:r>
                    </a:p>
                  </a:txBody>
                  <a:tcPr anchor="ctr"/>
                </a:tc>
                <a:tc>
                  <a:txBody>
                    <a:bodyPr/>
                    <a:lstStyle/>
                    <a:p>
                      <a:pPr>
                        <a:lnSpc>
                          <a:spcPct val="150000"/>
                        </a:lnSpc>
                      </a:pPr>
                      <a:r>
                        <a:rPr lang="en-GB" sz="1800" dirty="0"/>
                        <a:t>31 characters representing the hashed output</a:t>
                      </a:r>
                    </a:p>
                  </a:txBody>
                  <a:tcPr anchor="ctr"/>
                </a:tc>
                <a:extLst>
                  <a:ext uri="{0D108BD9-81ED-4DB2-BD59-A6C34878D82A}">
                    <a16:rowId xmlns:a16="http://schemas.microsoft.com/office/drawing/2014/main" val="3479259935"/>
                  </a:ext>
                </a:extLst>
              </a:tr>
            </a:tbl>
          </a:graphicData>
        </a:graphic>
      </p:graphicFrame>
    </p:spTree>
    <p:extLst>
      <p:ext uri="{BB962C8B-B14F-4D97-AF65-F5344CB8AC3E}">
        <p14:creationId xmlns:p14="http://schemas.microsoft.com/office/powerpoint/2010/main" val="562129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6C0049D6-DFD2-F3F6-3D25-90ED83789B81}"/>
            </a:ext>
          </a:extLst>
        </p:cNvPr>
        <p:cNvGrpSpPr/>
        <p:nvPr/>
      </p:nvGrpSpPr>
      <p:grpSpPr>
        <a:xfrm>
          <a:off x="0" y="0"/>
          <a:ext cx="0" cy="0"/>
          <a:chOff x="0" y="0"/>
          <a:chExt cx="0" cy="0"/>
        </a:xfrm>
      </p:grpSpPr>
      <p:sp>
        <p:nvSpPr>
          <p:cNvPr id="406" name="Google Shape;406;p109">
            <a:extLst>
              <a:ext uri="{FF2B5EF4-FFF2-40B4-BE49-F238E27FC236}">
                <a16:creationId xmlns:a16="http://schemas.microsoft.com/office/drawing/2014/main" id="{DE337F4B-0C7B-A746-802E-E5A241C63C8D}"/>
              </a:ext>
            </a:extLst>
          </p:cNvPr>
          <p:cNvSpPr txBox="1">
            <a:spLocks noGrp="1"/>
          </p:cNvSpPr>
          <p:nvPr>
            <p:ph type="ctrTitle"/>
          </p:nvPr>
        </p:nvSpPr>
        <p:spPr>
          <a:xfrm>
            <a:off x="1161393" y="2241458"/>
            <a:ext cx="9869214"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400" b="1" dirty="0">
                <a:solidFill>
                  <a:srgbClr val="002060"/>
                </a:solidFill>
                <a:latin typeface="Arial"/>
                <a:ea typeface="Arial"/>
                <a:cs typeface="Arial"/>
                <a:sym typeface="Arial"/>
              </a:rPr>
              <a:t>Token-Based</a:t>
            </a:r>
            <a:endParaRPr sz="4400" b="1" dirty="0">
              <a:solidFill>
                <a:srgbClr val="002060"/>
              </a:solidFill>
              <a:latin typeface="Arial"/>
              <a:ea typeface="Arial"/>
              <a:cs typeface="Arial"/>
              <a:sym typeface="Arial"/>
            </a:endParaRPr>
          </a:p>
        </p:txBody>
      </p:sp>
    </p:spTree>
    <p:extLst>
      <p:ext uri="{BB962C8B-B14F-4D97-AF65-F5344CB8AC3E}">
        <p14:creationId xmlns:p14="http://schemas.microsoft.com/office/powerpoint/2010/main" val="30235100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120"/>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05/03/2024</a:t>
            </a:r>
            <a:endParaRPr/>
          </a:p>
        </p:txBody>
      </p:sp>
      <p:sp>
        <p:nvSpPr>
          <p:cNvPr id="490" name="Google Shape;490;p120"/>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35</a:t>
            </a:fld>
            <a:endParaRPr/>
          </a:p>
        </p:txBody>
      </p:sp>
      <p:sp>
        <p:nvSpPr>
          <p:cNvPr id="491" name="Google Shape;491;p120"/>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Why Token-Based Authentication? </a:t>
            </a:r>
            <a:endParaRPr/>
          </a:p>
        </p:txBody>
      </p:sp>
      <p:sp>
        <p:nvSpPr>
          <p:cNvPr id="492" name="Google Shape;492;p120"/>
          <p:cNvSpPr txBox="1">
            <a:spLocks noGrp="1"/>
          </p:cNvSpPr>
          <p:nvPr>
            <p:ph type="body" idx="1"/>
          </p:nvPr>
        </p:nvSpPr>
        <p:spPr>
          <a:xfrm>
            <a:off x="838200" y="1195642"/>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Session authentication becomes a problem when we need stateless servers and scalability </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Mobile application platforms have a hard time handling cookies/sessions </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Sharing authentication with other applications not feasible </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Cross-origin resource sharing (CORS) problem </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Cross-site request forgery (CSRF)</a:t>
            </a:r>
            <a:endParaRPr dirty="0">
              <a:solidFill>
                <a:schemeClr val="tx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121"/>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05/03/2024</a:t>
            </a:r>
            <a:endParaRPr/>
          </a:p>
        </p:txBody>
      </p:sp>
      <p:sp>
        <p:nvSpPr>
          <p:cNvPr id="498" name="Google Shape;498;p121"/>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36</a:t>
            </a:fld>
            <a:endParaRPr/>
          </a:p>
        </p:txBody>
      </p:sp>
      <p:sp>
        <p:nvSpPr>
          <p:cNvPr id="499" name="Google Shape;499;p121"/>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Token-based Authentication </a:t>
            </a:r>
            <a:endParaRPr/>
          </a:p>
        </p:txBody>
      </p:sp>
      <p:sp>
        <p:nvSpPr>
          <p:cNvPr id="500" name="Google Shape;500;p121"/>
          <p:cNvSpPr txBox="1">
            <a:spLocks noGrp="1"/>
          </p:cNvSpPr>
          <p:nvPr>
            <p:ph type="body" idx="1"/>
          </p:nvPr>
        </p:nvSpPr>
        <p:spPr>
          <a:xfrm>
            <a:off x="913660" y="1253331"/>
            <a:ext cx="10515600" cy="4351338"/>
          </a:xfrm>
          <a:prstGeom prst="rect">
            <a:avLst/>
          </a:prstGeom>
          <a:noFill/>
          <a:ln>
            <a:noFill/>
          </a:ln>
        </p:spPr>
        <p:txBody>
          <a:bodyPr spcFirstLastPara="1" wrap="square" lIns="91425" tIns="45700" rIns="91425" bIns="45700" anchor="t" anchorCtr="0">
            <a:normAutofit fontScale="92500"/>
          </a:bodyPr>
          <a:lstStyle/>
          <a:p>
            <a:pPr marL="514350" lvl="0" indent="-514350" algn="l" rtl="0">
              <a:lnSpc>
                <a:spcPct val="150000"/>
              </a:lnSpc>
              <a:spcBef>
                <a:spcPts val="1000"/>
              </a:spcBef>
              <a:spcAft>
                <a:spcPts val="0"/>
              </a:spcAft>
              <a:buSzPts val="1800"/>
              <a:buFont typeface="Arial"/>
              <a:buAutoNum type="arabicPeriod"/>
            </a:pPr>
            <a:r>
              <a:rPr lang="en-US" dirty="0">
                <a:solidFill>
                  <a:schemeClr val="tx1"/>
                </a:solidFill>
              </a:rPr>
              <a:t>User requests access with their username and password</a:t>
            </a:r>
            <a:endParaRPr dirty="0">
              <a:solidFill>
                <a:schemeClr val="tx1"/>
              </a:solidFill>
            </a:endParaRPr>
          </a:p>
          <a:p>
            <a:pPr marL="514350" lvl="0" indent="-514350" algn="l" rtl="0">
              <a:lnSpc>
                <a:spcPct val="150000"/>
              </a:lnSpc>
              <a:spcBef>
                <a:spcPts val="1000"/>
              </a:spcBef>
              <a:spcAft>
                <a:spcPts val="0"/>
              </a:spcAft>
              <a:buSzPts val="1800"/>
              <a:buFont typeface="Arial"/>
              <a:buAutoNum type="arabicPeriod"/>
            </a:pPr>
            <a:r>
              <a:rPr lang="en-US" dirty="0">
                <a:solidFill>
                  <a:schemeClr val="tx1"/>
                </a:solidFill>
              </a:rPr>
              <a:t>Server validates credentials</a:t>
            </a:r>
            <a:endParaRPr dirty="0">
              <a:solidFill>
                <a:schemeClr val="tx1"/>
              </a:solidFill>
            </a:endParaRPr>
          </a:p>
          <a:p>
            <a:pPr marL="514350" lvl="0" indent="-514350" algn="l" rtl="0">
              <a:lnSpc>
                <a:spcPct val="150000"/>
              </a:lnSpc>
              <a:spcBef>
                <a:spcPts val="1000"/>
              </a:spcBef>
              <a:spcAft>
                <a:spcPts val="0"/>
              </a:spcAft>
              <a:buSzPts val="1800"/>
              <a:buFont typeface="Arial"/>
              <a:buAutoNum type="arabicPeriod"/>
            </a:pPr>
            <a:r>
              <a:rPr lang="en-US" dirty="0">
                <a:solidFill>
                  <a:schemeClr val="tx1"/>
                </a:solidFill>
              </a:rPr>
              <a:t>Server creates a signed token and sends it to the client </a:t>
            </a:r>
            <a:endParaRPr dirty="0">
              <a:solidFill>
                <a:schemeClr val="tx1"/>
              </a:solidFill>
            </a:endParaRPr>
          </a:p>
          <a:p>
            <a:pPr marL="344487" lvl="1" indent="0" algn="l" rtl="0">
              <a:lnSpc>
                <a:spcPct val="150000"/>
              </a:lnSpc>
              <a:spcBef>
                <a:spcPts val="500"/>
              </a:spcBef>
              <a:spcAft>
                <a:spcPts val="0"/>
              </a:spcAft>
              <a:buSzPts val="1800"/>
              <a:buNone/>
            </a:pPr>
            <a:r>
              <a:rPr lang="en-US" dirty="0">
                <a:solidFill>
                  <a:schemeClr val="tx1"/>
                </a:solidFill>
              </a:rPr>
              <a:t>  - Nothing stored on the server</a:t>
            </a:r>
            <a:endParaRPr dirty="0">
              <a:solidFill>
                <a:schemeClr val="tx1"/>
              </a:solidFill>
            </a:endParaRPr>
          </a:p>
          <a:p>
            <a:pPr marL="514350" lvl="0" indent="-514350" algn="l" rtl="0">
              <a:lnSpc>
                <a:spcPct val="150000"/>
              </a:lnSpc>
              <a:spcBef>
                <a:spcPts val="1000"/>
              </a:spcBef>
              <a:spcAft>
                <a:spcPts val="0"/>
              </a:spcAft>
              <a:buSzPts val="1800"/>
              <a:buFont typeface="Arial"/>
              <a:buAutoNum type="arabicPeriod"/>
            </a:pPr>
            <a:r>
              <a:rPr lang="en-US" dirty="0">
                <a:solidFill>
                  <a:schemeClr val="tx1"/>
                </a:solidFill>
              </a:rPr>
              <a:t>All subsequent requests from the client should include the token</a:t>
            </a:r>
            <a:endParaRPr dirty="0">
              <a:solidFill>
                <a:schemeClr val="tx1"/>
              </a:solidFill>
            </a:endParaRPr>
          </a:p>
          <a:p>
            <a:pPr marL="514350" lvl="0" indent="-514350" algn="l" rtl="0">
              <a:lnSpc>
                <a:spcPct val="150000"/>
              </a:lnSpc>
              <a:spcBef>
                <a:spcPts val="1000"/>
              </a:spcBef>
              <a:spcAft>
                <a:spcPts val="0"/>
              </a:spcAft>
              <a:buSzPts val="1800"/>
              <a:buFont typeface="Arial"/>
              <a:buAutoNum type="arabicPeriod"/>
            </a:pPr>
            <a:r>
              <a:rPr lang="en-US" dirty="0">
                <a:solidFill>
                  <a:schemeClr val="tx1"/>
                </a:solidFill>
              </a:rPr>
              <a:t>Server verifies the token and responds with data if validated </a:t>
            </a:r>
            <a:endParaRPr dirty="0">
              <a:solidFill>
                <a:schemeClr val="tx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122"/>
          <p:cNvSpPr txBox="1">
            <a:spLocks noGrp="1"/>
          </p:cNvSpPr>
          <p:nvPr>
            <p:ph type="ctrTitle"/>
          </p:nvPr>
        </p:nvSpPr>
        <p:spPr>
          <a:xfrm>
            <a:off x="1161393" y="2241458"/>
            <a:ext cx="9869214"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400" b="1">
                <a:solidFill>
                  <a:srgbClr val="002060"/>
                </a:solidFill>
                <a:latin typeface="Arial"/>
                <a:ea typeface="Arial"/>
                <a:cs typeface="Arial"/>
                <a:sym typeface="Arial"/>
              </a:rPr>
              <a:t>JWT Authentication</a:t>
            </a:r>
            <a:endParaRPr sz="4400" b="1">
              <a:solidFill>
                <a:srgbClr val="00206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125"/>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What is JWT Authentication?</a:t>
            </a:r>
            <a:endParaRPr/>
          </a:p>
        </p:txBody>
      </p:sp>
      <p:sp>
        <p:nvSpPr>
          <p:cNvPr id="534" name="Google Shape;534;p125"/>
          <p:cNvSpPr txBox="1">
            <a:spLocks noGrp="1"/>
          </p:cNvSpPr>
          <p:nvPr>
            <p:ph type="body" idx="1"/>
          </p:nvPr>
        </p:nvSpPr>
        <p:spPr>
          <a:xfrm>
            <a:off x="838200" y="1120624"/>
            <a:ext cx="10515600" cy="5227369"/>
          </a:xfrm>
          <a:prstGeom prst="rect">
            <a:avLst/>
          </a:prstGeom>
          <a:noFill/>
          <a:ln>
            <a:noFill/>
          </a:ln>
        </p:spPr>
        <p:txBody>
          <a:bodyPr spcFirstLastPara="1" wrap="square" lIns="91425" tIns="45700" rIns="91425" bIns="45700" anchor="t" anchorCtr="0">
            <a:normAutofit fontScale="85000" lnSpcReduction="10000"/>
          </a:bodyPr>
          <a:lstStyle/>
          <a:p>
            <a:pPr lvl="0" algn="just">
              <a:lnSpc>
                <a:spcPct val="150000"/>
              </a:lnSpc>
            </a:pPr>
            <a:r>
              <a:rPr lang="en-GB" b="1" dirty="0">
                <a:solidFill>
                  <a:schemeClr val="tx1"/>
                </a:solidFill>
              </a:rPr>
              <a:t>JWT (JSON Web Token)</a:t>
            </a:r>
            <a:r>
              <a:rPr lang="en-GB" dirty="0">
                <a:solidFill>
                  <a:schemeClr val="tx1"/>
                </a:solidFill>
              </a:rPr>
              <a:t> is an open standard for exchanging claims between parties. A signed JWT protects data integrity but does not encrypt its contents.</a:t>
            </a:r>
          </a:p>
          <a:p>
            <a:pPr lvl="0" algn="just">
              <a:lnSpc>
                <a:spcPct val="150000"/>
              </a:lnSpc>
            </a:pPr>
            <a:r>
              <a:rPr lang="en-GB" b="1" dirty="0">
                <a:solidFill>
                  <a:schemeClr val="tx1"/>
                </a:solidFill>
              </a:rPr>
              <a:t>JSON (JavaScript Object Notation)</a:t>
            </a:r>
            <a:r>
              <a:rPr lang="en-GB" dirty="0">
                <a:solidFill>
                  <a:schemeClr val="tx1"/>
                </a:solidFill>
              </a:rPr>
              <a:t> is a lightweight data format using key–value pairs and arrays.</a:t>
            </a:r>
          </a:p>
          <a:p>
            <a:pPr lvl="0" algn="just">
              <a:lnSpc>
                <a:spcPct val="150000"/>
              </a:lnSpc>
            </a:pPr>
            <a:r>
              <a:rPr lang="en-GB" b="1" dirty="0">
                <a:solidFill>
                  <a:schemeClr val="tx1"/>
                </a:solidFill>
              </a:rPr>
              <a:t>Stateless authentication:</a:t>
            </a:r>
            <a:r>
              <a:rPr lang="en-GB" dirty="0">
                <a:solidFill>
                  <a:schemeClr val="tx1"/>
                </a:solidFill>
              </a:rPr>
              <a:t> The client stores and sends the token with requests. The server verifies it without storing a login session for each user.</a:t>
            </a:r>
          </a:p>
          <a:p>
            <a:pPr lvl="0" algn="just">
              <a:lnSpc>
                <a:spcPct val="150000"/>
              </a:lnSpc>
            </a:pPr>
            <a:r>
              <a:rPr lang="en-US" dirty="0">
                <a:solidFill>
                  <a:schemeClr val="tx1"/>
                </a:solidFill>
              </a:rPr>
              <a:t>Installing required packages: </a:t>
            </a:r>
            <a:r>
              <a:rPr lang="en-US" dirty="0" err="1">
                <a:solidFill>
                  <a:schemeClr val="tx1"/>
                </a:solidFill>
                <a:latin typeface="Courier New"/>
                <a:ea typeface="Courier New"/>
                <a:cs typeface="Courier New"/>
                <a:sym typeface="Courier New"/>
              </a:rPr>
              <a:t>npm</a:t>
            </a:r>
            <a:r>
              <a:rPr lang="en-US" dirty="0">
                <a:solidFill>
                  <a:schemeClr val="tx1"/>
                </a:solidFill>
                <a:latin typeface="Courier New"/>
                <a:ea typeface="Courier New"/>
                <a:cs typeface="Courier New"/>
                <a:sym typeface="Courier New"/>
              </a:rPr>
              <a:t> </a:t>
            </a:r>
            <a:r>
              <a:rPr lang="en-US" dirty="0" err="1">
                <a:solidFill>
                  <a:schemeClr val="tx1"/>
                </a:solidFill>
                <a:latin typeface="Courier New"/>
                <a:ea typeface="Courier New"/>
                <a:cs typeface="Courier New"/>
                <a:sym typeface="Courier New"/>
              </a:rPr>
              <a:t>i</a:t>
            </a:r>
            <a:r>
              <a:rPr lang="en-US" dirty="0">
                <a:solidFill>
                  <a:schemeClr val="tx1"/>
                </a:solidFill>
                <a:latin typeface="Courier New"/>
                <a:ea typeface="Courier New"/>
                <a:cs typeface="Courier New"/>
                <a:sym typeface="Courier New"/>
              </a:rPr>
              <a:t> </a:t>
            </a:r>
            <a:r>
              <a:rPr lang="en-US" dirty="0" err="1">
                <a:solidFill>
                  <a:schemeClr val="tx1"/>
                </a:solidFill>
                <a:latin typeface="Courier New"/>
                <a:ea typeface="Courier New"/>
                <a:cs typeface="Courier New"/>
                <a:sym typeface="Courier New"/>
              </a:rPr>
              <a:t>jsonwebtoken</a:t>
            </a:r>
            <a:endParaRPr lang="en-US" dirty="0">
              <a:solidFill>
                <a:schemeClr val="tx1"/>
              </a:solidFill>
            </a:endParaRPr>
          </a:p>
        </p:txBody>
      </p:sp>
      <p:sp>
        <p:nvSpPr>
          <p:cNvPr id="535" name="Google Shape;535;p125"/>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124"/>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05/03/2024</a:t>
            </a:r>
            <a:endParaRPr/>
          </a:p>
        </p:txBody>
      </p:sp>
      <p:sp>
        <p:nvSpPr>
          <p:cNvPr id="526" name="Google Shape;526;p12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39</a:t>
            </a:fld>
            <a:endParaRPr/>
          </a:p>
        </p:txBody>
      </p:sp>
      <p:sp>
        <p:nvSpPr>
          <p:cNvPr id="527" name="Google Shape;527;p124"/>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JSON Web Tokens </a:t>
            </a:r>
            <a:endParaRPr/>
          </a:p>
        </p:txBody>
      </p:sp>
      <p:pic>
        <p:nvPicPr>
          <p:cNvPr id="528" name="Google Shape;528;p124"/>
          <p:cNvPicPr preferRelativeResize="0">
            <a:picLocks noGrp="1"/>
          </p:cNvPicPr>
          <p:nvPr>
            <p:ph type="body" idx="1"/>
          </p:nvPr>
        </p:nvPicPr>
        <p:blipFill rotWithShape="1">
          <a:blip r:embed="rId3">
            <a:alphaModFix/>
          </a:blip>
          <a:srcRect/>
          <a:stretch/>
        </p:blipFill>
        <p:spPr>
          <a:xfrm>
            <a:off x="276851" y="1767629"/>
            <a:ext cx="11638298" cy="332274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126"/>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JWT Structure</a:t>
            </a:r>
            <a:endParaRPr/>
          </a:p>
        </p:txBody>
      </p:sp>
      <p:sp>
        <p:nvSpPr>
          <p:cNvPr id="541" name="Google Shape;541;p126"/>
          <p:cNvSpPr txBox="1">
            <a:spLocks noGrp="1"/>
          </p:cNvSpPr>
          <p:nvPr>
            <p:ph type="body" idx="1"/>
          </p:nvPr>
        </p:nvSpPr>
        <p:spPr>
          <a:xfrm>
            <a:off x="838200" y="1535811"/>
            <a:ext cx="10515600" cy="4351338"/>
          </a:xfrm>
          <a:prstGeom prst="rect">
            <a:avLst/>
          </a:prstGeom>
          <a:noFill/>
          <a:ln>
            <a:noFill/>
          </a:ln>
        </p:spPr>
        <p:txBody>
          <a:bodyPr spcFirstLastPara="1" wrap="square" lIns="91425" tIns="45700" rIns="91425" bIns="45700" anchor="t" anchorCtr="0">
            <a:normAutofit fontScale="85000" lnSpcReduction="10000"/>
          </a:bodyPr>
          <a:lstStyle/>
          <a:p>
            <a:pPr marL="457200" lvl="0" indent="-342900" algn="just" rtl="0">
              <a:lnSpc>
                <a:spcPct val="150000"/>
              </a:lnSpc>
              <a:spcBef>
                <a:spcPts val="1000"/>
              </a:spcBef>
              <a:spcAft>
                <a:spcPts val="0"/>
              </a:spcAft>
              <a:buSzPts val="1800"/>
              <a:buChar char="•"/>
            </a:pPr>
            <a:r>
              <a:rPr lang="en-US" dirty="0">
                <a:solidFill>
                  <a:schemeClr val="tx1"/>
                </a:solidFill>
              </a:rPr>
              <a:t>It consists of three Base64-URL-encoded parts separated by dots (.) that form a serialized token:</a:t>
            </a:r>
            <a:endParaRPr dirty="0">
              <a:solidFill>
                <a:schemeClr val="tx1"/>
              </a:solidFill>
            </a:endParaRPr>
          </a:p>
          <a:p>
            <a:pPr marL="914400" lvl="1" indent="-342900" algn="just" rtl="0">
              <a:lnSpc>
                <a:spcPct val="150000"/>
              </a:lnSpc>
              <a:spcBef>
                <a:spcPts val="500"/>
              </a:spcBef>
              <a:spcAft>
                <a:spcPts val="0"/>
              </a:spcAft>
              <a:buSzPts val="1800"/>
              <a:buChar char="•"/>
            </a:pPr>
            <a:r>
              <a:rPr lang="en-US" dirty="0">
                <a:solidFill>
                  <a:schemeClr val="tx1"/>
                </a:solidFill>
              </a:rPr>
              <a:t>The header contains the type (JWT) and the hashing algorithm used, e.g. HMAC SHA256. </a:t>
            </a:r>
            <a:endParaRPr dirty="0">
              <a:solidFill>
                <a:schemeClr val="tx1"/>
              </a:solidFill>
            </a:endParaRPr>
          </a:p>
          <a:p>
            <a:pPr marL="914400" lvl="1" indent="-342900" algn="just" rtl="0">
              <a:lnSpc>
                <a:spcPct val="150000"/>
              </a:lnSpc>
              <a:spcBef>
                <a:spcPts val="500"/>
              </a:spcBef>
              <a:spcAft>
                <a:spcPts val="0"/>
              </a:spcAft>
              <a:buSzPts val="1800"/>
              <a:buChar char="•"/>
            </a:pPr>
            <a:r>
              <a:rPr lang="en-US" dirty="0">
                <a:solidFill>
                  <a:schemeClr val="tx1"/>
                </a:solidFill>
              </a:rPr>
              <a:t>The payload holds the claims, which are statements about the user and other data.</a:t>
            </a:r>
            <a:endParaRPr dirty="0">
              <a:solidFill>
                <a:schemeClr val="tx1"/>
              </a:solidFill>
            </a:endParaRPr>
          </a:p>
          <a:p>
            <a:pPr marL="914400" lvl="1" indent="-342900" algn="just" rtl="0">
              <a:lnSpc>
                <a:spcPct val="150000"/>
              </a:lnSpc>
              <a:spcBef>
                <a:spcPts val="500"/>
              </a:spcBef>
              <a:spcAft>
                <a:spcPts val="0"/>
              </a:spcAft>
              <a:buSzPts val="1800"/>
              <a:buChar char="•"/>
            </a:pPr>
            <a:r>
              <a:rPr lang="en-US" dirty="0">
                <a:solidFill>
                  <a:schemeClr val="tx1"/>
                </a:solidFill>
              </a:rPr>
              <a:t>The signature is formed by encrypting the encoded header, encoded payload, and a secret. This is used to verify the sender and message integrity. </a:t>
            </a:r>
            <a:endParaRPr dirty="0">
              <a:solidFill>
                <a:schemeClr val="tx1"/>
              </a:solidFill>
            </a:endParaRPr>
          </a:p>
        </p:txBody>
      </p:sp>
      <p:sp>
        <p:nvSpPr>
          <p:cNvPr id="542" name="Google Shape;542;p12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127"/>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How JWT work?</a:t>
            </a:r>
            <a:endParaRPr/>
          </a:p>
        </p:txBody>
      </p:sp>
      <p:sp>
        <p:nvSpPr>
          <p:cNvPr id="549" name="Google Shape;549;p12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41</a:t>
            </a:fld>
            <a:endParaRPr/>
          </a:p>
        </p:txBody>
      </p:sp>
      <p:pic>
        <p:nvPicPr>
          <p:cNvPr id="550" name="Google Shape;550;p127"/>
          <p:cNvPicPr preferRelativeResize="0"/>
          <p:nvPr/>
        </p:nvPicPr>
        <p:blipFill rotWithShape="1">
          <a:blip r:embed="rId3">
            <a:alphaModFix/>
          </a:blip>
          <a:srcRect/>
          <a:stretch/>
        </p:blipFill>
        <p:spPr>
          <a:xfrm>
            <a:off x="1698118" y="1463641"/>
            <a:ext cx="6987942" cy="393071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128"/>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05/03/2024</a:t>
            </a:r>
            <a:endParaRPr/>
          </a:p>
        </p:txBody>
      </p:sp>
      <p:sp>
        <p:nvSpPr>
          <p:cNvPr id="556" name="Google Shape;556;p12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42</a:t>
            </a:fld>
            <a:endParaRPr/>
          </a:p>
        </p:txBody>
      </p:sp>
      <p:sp>
        <p:nvSpPr>
          <p:cNvPr id="557" name="Google Shape;557;p128"/>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jsonwebtoken Node Module </a:t>
            </a:r>
            <a:endParaRPr/>
          </a:p>
        </p:txBody>
      </p:sp>
      <p:sp>
        <p:nvSpPr>
          <p:cNvPr id="558" name="Google Shape;558;p128"/>
          <p:cNvSpPr txBox="1">
            <a:spLocks noGrp="1"/>
          </p:cNvSpPr>
          <p:nvPr>
            <p:ph type="body" idx="1"/>
          </p:nvPr>
        </p:nvSpPr>
        <p:spPr>
          <a:xfrm>
            <a:off x="838200" y="1195642"/>
            <a:ext cx="105156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150000"/>
              </a:lnSpc>
              <a:spcBef>
                <a:spcPts val="1000"/>
              </a:spcBef>
              <a:spcAft>
                <a:spcPts val="0"/>
              </a:spcAft>
              <a:buSzPts val="1800"/>
              <a:buChar char="•"/>
            </a:pPr>
            <a:r>
              <a:rPr lang="en-US" dirty="0">
                <a:solidFill>
                  <a:schemeClr val="tx1"/>
                </a:solidFill>
              </a:rPr>
              <a:t>Implementation of JSON web tokens support</a:t>
            </a:r>
            <a:endParaRPr dirty="0">
              <a:solidFill>
                <a:schemeClr val="tx1"/>
              </a:solidFill>
            </a:endParaRPr>
          </a:p>
          <a:p>
            <a:pPr marL="0" lvl="0" indent="0" algn="l" rtl="0">
              <a:lnSpc>
                <a:spcPct val="150000"/>
              </a:lnSpc>
              <a:spcBef>
                <a:spcPts val="1000"/>
              </a:spcBef>
              <a:spcAft>
                <a:spcPts val="0"/>
              </a:spcAft>
              <a:buSzPts val="1800"/>
              <a:buNone/>
            </a:pPr>
            <a:r>
              <a:rPr lang="en-US" dirty="0">
                <a:solidFill>
                  <a:schemeClr val="tx1"/>
                </a:solidFill>
              </a:rPr>
              <a:t>	</a:t>
            </a:r>
            <a:r>
              <a:rPr lang="en-US" b="1" dirty="0" err="1">
                <a:solidFill>
                  <a:schemeClr val="tx1"/>
                </a:solidFill>
              </a:rPr>
              <a:t>npm</a:t>
            </a:r>
            <a:r>
              <a:rPr lang="en-US" b="1" dirty="0">
                <a:solidFill>
                  <a:schemeClr val="tx1"/>
                </a:solidFill>
              </a:rPr>
              <a:t> install </a:t>
            </a:r>
            <a:r>
              <a:rPr lang="en-US" b="1" dirty="0" err="1">
                <a:solidFill>
                  <a:schemeClr val="tx1"/>
                </a:solidFill>
              </a:rPr>
              <a:t>jsonwebtoken</a:t>
            </a:r>
            <a:r>
              <a:rPr lang="en-US" b="1" dirty="0">
                <a:solidFill>
                  <a:schemeClr val="tx1"/>
                </a:solidFill>
              </a:rPr>
              <a:t> --save </a:t>
            </a:r>
            <a:endParaRPr dirty="0">
              <a:solidFill>
                <a:schemeClr val="tx1"/>
              </a:solidFill>
            </a:endParaRPr>
          </a:p>
          <a:p>
            <a:pPr marL="457200" lvl="0" indent="-342900" algn="l" rtl="0">
              <a:lnSpc>
                <a:spcPct val="150000"/>
              </a:lnSpc>
              <a:spcBef>
                <a:spcPts val="1000"/>
              </a:spcBef>
              <a:spcAft>
                <a:spcPts val="0"/>
              </a:spcAft>
              <a:buSzPts val="1800"/>
              <a:buChar char="•"/>
            </a:pPr>
            <a:r>
              <a:rPr lang="en-US" dirty="0">
                <a:solidFill>
                  <a:schemeClr val="tx1"/>
                </a:solidFill>
              </a:rPr>
              <a:t>Provides several methods: </a:t>
            </a:r>
            <a:endParaRPr dirty="0">
              <a:solidFill>
                <a:schemeClr val="tx1"/>
              </a:solidFill>
            </a:endParaRPr>
          </a:p>
          <a:p>
            <a:pPr marL="914400" lvl="1" indent="-342900" algn="l" rtl="0">
              <a:lnSpc>
                <a:spcPct val="150000"/>
              </a:lnSpc>
              <a:spcBef>
                <a:spcPts val="500"/>
              </a:spcBef>
              <a:spcAft>
                <a:spcPts val="0"/>
              </a:spcAft>
              <a:buSzPts val="1800"/>
              <a:buChar char="•"/>
            </a:pPr>
            <a:r>
              <a:rPr lang="en-US" b="1" dirty="0">
                <a:solidFill>
                  <a:schemeClr val="tx1"/>
                </a:solidFill>
              </a:rPr>
              <a:t>sign() </a:t>
            </a:r>
            <a:r>
              <a:rPr lang="en-US" dirty="0">
                <a:solidFill>
                  <a:schemeClr val="tx1"/>
                </a:solidFill>
              </a:rPr>
              <a:t>for signing and issuing token </a:t>
            </a:r>
            <a:endParaRPr dirty="0">
              <a:solidFill>
                <a:schemeClr val="tx1"/>
              </a:solidFill>
            </a:endParaRPr>
          </a:p>
          <a:p>
            <a:pPr marL="914400" lvl="1" indent="-342900" algn="l" rtl="0">
              <a:lnSpc>
                <a:spcPct val="150000"/>
              </a:lnSpc>
              <a:spcBef>
                <a:spcPts val="500"/>
              </a:spcBef>
              <a:spcAft>
                <a:spcPts val="0"/>
              </a:spcAft>
              <a:buSzPts val="1800"/>
              <a:buChar char="•"/>
            </a:pPr>
            <a:r>
              <a:rPr lang="en-US" b="1" dirty="0">
                <a:solidFill>
                  <a:schemeClr val="tx1"/>
                </a:solidFill>
              </a:rPr>
              <a:t>verify() </a:t>
            </a:r>
            <a:r>
              <a:rPr lang="en-US" dirty="0">
                <a:solidFill>
                  <a:schemeClr val="tx1"/>
                </a:solidFill>
              </a:rPr>
              <a:t>for verifying and decoding token and making it available on the request property in Express</a:t>
            </a:r>
            <a:endParaRPr dirty="0">
              <a:solidFill>
                <a:schemeClr val="tx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73"/>
          <p:cNvSpPr txBox="1">
            <a:spLocks noGrp="1"/>
          </p:cNvSpPr>
          <p:nvPr>
            <p:ph type="title"/>
          </p:nvPr>
        </p:nvSpPr>
        <p:spPr>
          <a:xfrm>
            <a:off x="1008993" y="679111"/>
            <a:ext cx="9850820" cy="592642"/>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Summary</a:t>
            </a:r>
            <a:endParaRPr/>
          </a:p>
        </p:txBody>
      </p:sp>
      <p:sp>
        <p:nvSpPr>
          <p:cNvPr id="594" name="Google Shape;594;p73"/>
          <p:cNvSpPr txBox="1">
            <a:spLocks noGrp="1"/>
          </p:cNvSpPr>
          <p:nvPr>
            <p:ph type="body" idx="1"/>
          </p:nvPr>
        </p:nvSpPr>
        <p:spPr>
          <a:xfrm>
            <a:off x="752348" y="1450817"/>
            <a:ext cx="11538305" cy="5029883"/>
          </a:xfrm>
          <a:prstGeom prst="rect">
            <a:avLst/>
          </a:prstGeom>
          <a:noFill/>
          <a:ln>
            <a:noFill/>
          </a:ln>
        </p:spPr>
        <p:txBody>
          <a:bodyPr spcFirstLastPara="1" wrap="square" lIns="91425" tIns="45700" rIns="91425" bIns="45700" anchor="t" anchorCtr="0">
            <a:normAutofit/>
          </a:bodyPr>
          <a:lstStyle/>
          <a:p>
            <a:pPr marL="342900" lvl="0" indent="-342900" algn="l" rtl="0">
              <a:lnSpc>
                <a:spcPct val="120000"/>
              </a:lnSpc>
              <a:spcBef>
                <a:spcPts val="0"/>
              </a:spcBef>
              <a:spcAft>
                <a:spcPts val="0"/>
              </a:spcAft>
              <a:buClr>
                <a:srgbClr val="973735"/>
              </a:buClr>
              <a:buSzPts val="1500"/>
              <a:buFont typeface="Noto Sans Symbols"/>
              <a:buChar char="◆"/>
            </a:pPr>
            <a:r>
              <a:rPr lang="en-US" sz="3000" dirty="0">
                <a:solidFill>
                  <a:schemeClr val="tx1"/>
                </a:solidFill>
              </a:rPr>
              <a:t>Concepts were introduced:</a:t>
            </a:r>
            <a:endParaRPr dirty="0">
              <a:solidFill>
                <a:schemeClr val="tx1"/>
              </a:solidFill>
            </a:endParaRPr>
          </a:p>
          <a:p>
            <a:pPr marL="800100" lvl="1" indent="-342900" algn="l" rtl="0">
              <a:lnSpc>
                <a:spcPct val="120000"/>
              </a:lnSpc>
              <a:spcBef>
                <a:spcPts val="0"/>
              </a:spcBef>
              <a:spcAft>
                <a:spcPts val="0"/>
              </a:spcAft>
              <a:buClr>
                <a:srgbClr val="973735"/>
              </a:buClr>
              <a:buSzPts val="1400"/>
              <a:buFont typeface="Noto Sans Symbols"/>
              <a:buChar char="◆"/>
            </a:pPr>
            <a:r>
              <a:rPr lang="en-US" dirty="0">
                <a:solidFill>
                  <a:schemeClr val="tx1"/>
                </a:solidFill>
              </a:rPr>
              <a:t>Introduction Authentication</a:t>
            </a:r>
            <a:endParaRPr dirty="0">
              <a:solidFill>
                <a:schemeClr val="tx1"/>
              </a:solidFill>
            </a:endParaRPr>
          </a:p>
          <a:p>
            <a:pPr marL="800100" lvl="1" indent="-342900" algn="l" rtl="0">
              <a:lnSpc>
                <a:spcPct val="120000"/>
              </a:lnSpc>
              <a:spcBef>
                <a:spcPts val="0"/>
              </a:spcBef>
              <a:spcAft>
                <a:spcPts val="0"/>
              </a:spcAft>
              <a:buClr>
                <a:srgbClr val="973735"/>
              </a:buClr>
              <a:buSzPts val="1400"/>
              <a:buFont typeface="Noto Sans Symbols"/>
              <a:buChar char="◆"/>
            </a:pPr>
            <a:r>
              <a:rPr lang="en-US" dirty="0">
                <a:solidFill>
                  <a:schemeClr val="tx1"/>
                </a:solidFill>
              </a:rPr>
              <a:t>Introduction Database Encryption</a:t>
            </a:r>
            <a:endParaRPr dirty="0">
              <a:solidFill>
                <a:schemeClr val="tx1"/>
              </a:solidFill>
            </a:endParaRPr>
          </a:p>
          <a:p>
            <a:pPr marL="800100" lvl="1" indent="-342900" algn="l" rtl="0">
              <a:lnSpc>
                <a:spcPct val="120000"/>
              </a:lnSpc>
              <a:spcBef>
                <a:spcPts val="0"/>
              </a:spcBef>
              <a:spcAft>
                <a:spcPts val="0"/>
              </a:spcAft>
              <a:buClr>
                <a:srgbClr val="973735"/>
              </a:buClr>
              <a:buSzPts val="1400"/>
              <a:buFont typeface="Noto Sans Symbols"/>
              <a:buChar char="◆"/>
            </a:pPr>
            <a:r>
              <a:rPr lang="en-US" dirty="0">
                <a:solidFill>
                  <a:schemeClr val="tx1"/>
                </a:solidFill>
              </a:rPr>
              <a:t>Compare Cookie and Session</a:t>
            </a:r>
            <a:endParaRPr dirty="0">
              <a:solidFill>
                <a:schemeClr val="tx1"/>
              </a:solidFill>
            </a:endParaRPr>
          </a:p>
          <a:p>
            <a:pPr marL="800100" lvl="1" indent="-342900" algn="l" rtl="0">
              <a:lnSpc>
                <a:spcPct val="120000"/>
              </a:lnSpc>
              <a:spcBef>
                <a:spcPts val="0"/>
              </a:spcBef>
              <a:spcAft>
                <a:spcPts val="0"/>
              </a:spcAft>
              <a:buClr>
                <a:srgbClr val="973735"/>
              </a:buClr>
              <a:buSzPts val="1400"/>
              <a:buFont typeface="Noto Sans Symbols"/>
              <a:buChar char="◆"/>
            </a:pPr>
            <a:r>
              <a:rPr lang="en-US" dirty="0">
                <a:solidFill>
                  <a:schemeClr val="tx1"/>
                </a:solidFill>
              </a:rPr>
              <a:t>Overview Passport and JWT authentication</a:t>
            </a:r>
            <a:endParaRPr dirty="0">
              <a:solidFill>
                <a:schemeClr val="tx1"/>
              </a:solidFill>
            </a:endParaRPr>
          </a:p>
          <a:p>
            <a:pPr marL="800100" lvl="1" indent="-254000" algn="l" rtl="0">
              <a:lnSpc>
                <a:spcPct val="120000"/>
              </a:lnSpc>
              <a:spcBef>
                <a:spcPts val="0"/>
              </a:spcBef>
              <a:spcAft>
                <a:spcPts val="0"/>
              </a:spcAft>
              <a:buClr>
                <a:srgbClr val="973735"/>
              </a:buClr>
              <a:buSzPts val="1400"/>
              <a:buFont typeface="Noto Sans Symbols"/>
              <a:buNone/>
            </a:pPr>
            <a:endParaRPr dirty="0">
              <a:solidFill>
                <a:schemeClr val="tx1"/>
              </a:solidFill>
            </a:endParaRPr>
          </a:p>
          <a:p>
            <a:pPr marL="800100" lvl="1" indent="-266700" algn="l" rtl="0">
              <a:lnSpc>
                <a:spcPct val="120000"/>
              </a:lnSpc>
              <a:spcBef>
                <a:spcPts val="0"/>
              </a:spcBef>
              <a:spcAft>
                <a:spcPts val="0"/>
              </a:spcAft>
              <a:buClr>
                <a:srgbClr val="973735"/>
              </a:buClr>
              <a:buSzPts val="1200"/>
              <a:buFont typeface="Noto Sans Symbols"/>
              <a:buNone/>
            </a:pPr>
            <a:endParaRPr dirty="0">
              <a:solidFill>
                <a:schemeClr val="tx1"/>
              </a:solidFill>
            </a:endParaRPr>
          </a:p>
        </p:txBody>
      </p:sp>
      <p:sp>
        <p:nvSpPr>
          <p:cNvPr id="595" name="Google Shape;595;p73"/>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94">
                                            <p:txEl>
                                              <p:pRg st="0" end="0"/>
                                            </p:txEl>
                                          </p:spTgt>
                                        </p:tgtEl>
                                        <p:attrNameLst>
                                          <p:attrName>style.visibility</p:attrName>
                                        </p:attrNameLst>
                                      </p:cBhvr>
                                      <p:to>
                                        <p:strVal val="visible"/>
                                      </p:to>
                                    </p:set>
                                    <p:animEffect transition="in" filter="fade">
                                      <p:cBhvr>
                                        <p:cTn id="7" dur="500"/>
                                        <p:tgtEl>
                                          <p:spTgt spid="59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94">
                                            <p:txEl>
                                              <p:pRg st="1" end="1"/>
                                            </p:txEl>
                                          </p:spTgt>
                                        </p:tgtEl>
                                        <p:attrNameLst>
                                          <p:attrName>style.visibility</p:attrName>
                                        </p:attrNameLst>
                                      </p:cBhvr>
                                      <p:to>
                                        <p:strVal val="visible"/>
                                      </p:to>
                                    </p:set>
                                    <p:animEffect transition="in" filter="fade">
                                      <p:cBhvr>
                                        <p:cTn id="10" dur="500"/>
                                        <p:tgtEl>
                                          <p:spTgt spid="59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94">
                                            <p:txEl>
                                              <p:pRg st="2" end="2"/>
                                            </p:txEl>
                                          </p:spTgt>
                                        </p:tgtEl>
                                        <p:attrNameLst>
                                          <p:attrName>style.visibility</p:attrName>
                                        </p:attrNameLst>
                                      </p:cBhvr>
                                      <p:to>
                                        <p:strVal val="visible"/>
                                      </p:to>
                                    </p:set>
                                    <p:animEffect transition="in" filter="fade">
                                      <p:cBhvr>
                                        <p:cTn id="13" dur="500"/>
                                        <p:tgtEl>
                                          <p:spTgt spid="594">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94">
                                            <p:txEl>
                                              <p:pRg st="3" end="3"/>
                                            </p:txEl>
                                          </p:spTgt>
                                        </p:tgtEl>
                                        <p:attrNameLst>
                                          <p:attrName>style.visibility</p:attrName>
                                        </p:attrNameLst>
                                      </p:cBhvr>
                                      <p:to>
                                        <p:strVal val="visible"/>
                                      </p:to>
                                    </p:set>
                                    <p:animEffect transition="in" filter="fade">
                                      <p:cBhvr>
                                        <p:cTn id="16" dur="500"/>
                                        <p:tgtEl>
                                          <p:spTgt spid="594">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94">
                                            <p:txEl>
                                              <p:pRg st="4" end="4"/>
                                            </p:txEl>
                                          </p:spTgt>
                                        </p:tgtEl>
                                        <p:attrNameLst>
                                          <p:attrName>style.visibility</p:attrName>
                                        </p:attrNameLst>
                                      </p:cBhvr>
                                      <p:to>
                                        <p:strVal val="visible"/>
                                      </p:to>
                                    </p:set>
                                    <p:animEffect transition="in" filter="fade">
                                      <p:cBhvr>
                                        <p:cTn id="19" dur="500"/>
                                        <p:tgtEl>
                                          <p:spTgt spid="594">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94">
                                            <p:txEl>
                                              <p:pRg st="5" end="5"/>
                                            </p:txEl>
                                          </p:spTgt>
                                        </p:tgtEl>
                                        <p:attrNameLst>
                                          <p:attrName>style.visibility</p:attrName>
                                        </p:attrNameLst>
                                      </p:cBhvr>
                                      <p:to>
                                        <p:strVal val="visible"/>
                                      </p:to>
                                    </p:set>
                                    <p:animEffect transition="in" filter="fade">
                                      <p:cBhvr>
                                        <p:cTn id="22" dur="500"/>
                                        <p:tgtEl>
                                          <p:spTgt spid="594">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94">
                                            <p:txEl>
                                              <p:pRg st="6" end="6"/>
                                            </p:txEl>
                                          </p:spTgt>
                                        </p:tgtEl>
                                        <p:attrNameLst>
                                          <p:attrName>style.visibility</p:attrName>
                                        </p:attrNameLst>
                                      </p:cBhvr>
                                      <p:to>
                                        <p:strVal val="visible"/>
                                      </p:to>
                                    </p:set>
                                    <p:animEffect transition="in" filter="fade">
                                      <p:cBhvr>
                                        <p:cTn id="25" dur="500"/>
                                        <p:tgtEl>
                                          <p:spTgt spid="59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4328</TotalTime>
  <Words>1783</Words>
  <Application>Microsoft Macintosh PowerPoint</Application>
  <PresentationFormat>Widescreen</PresentationFormat>
  <Paragraphs>260</Paragraphs>
  <Slides>43</Slides>
  <Notes>43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Courier New</vt:lpstr>
      <vt:lpstr>Noto Sans Symbols</vt:lpstr>
      <vt:lpstr>Office Theme</vt:lpstr>
      <vt:lpstr>Authentication &amp; Security</vt:lpstr>
      <vt:lpstr>Objectives </vt:lpstr>
      <vt:lpstr>Introduction authentication</vt:lpstr>
      <vt:lpstr>Introduction authentication – cont’d</vt:lpstr>
      <vt:lpstr>List of authentication techniques</vt:lpstr>
      <vt:lpstr>HTTP Basic</vt:lpstr>
      <vt:lpstr>HTTP Basic Access Authentication </vt:lpstr>
      <vt:lpstr>Basic Access Authentication </vt:lpstr>
      <vt:lpstr>Passport</vt:lpstr>
      <vt:lpstr>What is Passport?</vt:lpstr>
      <vt:lpstr>What is Passport?</vt:lpstr>
      <vt:lpstr>Passport-Local </vt:lpstr>
      <vt:lpstr>Session</vt:lpstr>
      <vt:lpstr>Express Sessions </vt:lpstr>
      <vt:lpstr>How do Sessions work?</vt:lpstr>
      <vt:lpstr>Express Session </vt:lpstr>
      <vt:lpstr>Implementing Sessions in Node.js</vt:lpstr>
      <vt:lpstr>Securing session data</vt:lpstr>
      <vt:lpstr>Session</vt:lpstr>
      <vt:lpstr>Cookie</vt:lpstr>
      <vt:lpstr>Cookies</vt:lpstr>
      <vt:lpstr>Cookies</vt:lpstr>
      <vt:lpstr>How do Cookies work?</vt:lpstr>
      <vt:lpstr>HTTP Cookies </vt:lpstr>
      <vt:lpstr>Express and Cookies </vt:lpstr>
      <vt:lpstr>Using cookie-parser </vt:lpstr>
      <vt:lpstr>Database Encryption</vt:lpstr>
      <vt:lpstr>Why Do I Need Database Encryption?</vt:lpstr>
      <vt:lpstr>Advantages of database encryption</vt:lpstr>
      <vt:lpstr>Bcrypt</vt:lpstr>
      <vt:lpstr>Bcrypt</vt:lpstr>
      <vt:lpstr>Bcrypt</vt:lpstr>
      <vt:lpstr>Bcrypt</vt:lpstr>
      <vt:lpstr>Token-Based</vt:lpstr>
      <vt:lpstr>Why Token-Based Authentication? </vt:lpstr>
      <vt:lpstr>Token-based Authentication </vt:lpstr>
      <vt:lpstr>JWT Authentication</vt:lpstr>
      <vt:lpstr>What is JWT Authentication?</vt:lpstr>
      <vt:lpstr>JSON Web Tokens </vt:lpstr>
      <vt:lpstr>JWT Structure</vt:lpstr>
      <vt:lpstr>How JWT work?</vt:lpstr>
      <vt:lpstr>jsonwebtoken Node Module </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Eric.fe</cp:lastModifiedBy>
  <cp:revision>4</cp:revision>
  <dcterms:created xsi:type="dcterms:W3CDTF">2021-01-25T08:25:31Z</dcterms:created>
  <dcterms:modified xsi:type="dcterms:W3CDTF">2026-10-06T14:14:23Z</dcterms:modified>
</cp:coreProperties>
</file>